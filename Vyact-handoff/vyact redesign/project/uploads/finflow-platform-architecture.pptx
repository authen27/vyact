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14"/>
          </a:solidFill>
          <a:ln w="12700">
            <a:solidFill>
              <a:srgbClr val="08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502920"/>
            <a:ext cx="3611880" cy="0"/>
          </a:xfrm>
          <a:prstGeom prst="line">
            <a:avLst/>
          </a:prstGeom>
          <a:noFill/>
          <a:ln w="9525">
            <a:solidFill>
              <a:srgbClr val="0EA89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978408"/>
            <a:ext cx="3611880" cy="0"/>
          </a:xfrm>
          <a:prstGeom prst="line">
            <a:avLst/>
          </a:prstGeom>
          <a:noFill/>
          <a:ln w="9525">
            <a:solidFill>
              <a:srgbClr val="0EA89B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1453896"/>
            <a:ext cx="3611880" cy="0"/>
          </a:xfrm>
          <a:prstGeom prst="line">
            <a:avLst/>
          </a:prstGeom>
          <a:noFill/>
          <a:ln w="9525">
            <a:solidFill>
              <a:srgbClr val="0EA89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929384"/>
            <a:ext cx="3611880" cy="0"/>
          </a:xfrm>
          <a:prstGeom prst="line">
            <a:avLst/>
          </a:prstGeom>
          <a:noFill/>
          <a:ln w="9525">
            <a:solidFill>
              <a:srgbClr val="0EA89B">
                <a:alpha val="3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2404872"/>
            <a:ext cx="3611880" cy="0"/>
          </a:xfrm>
          <a:prstGeom prst="line">
            <a:avLst/>
          </a:prstGeom>
          <a:noFill/>
          <a:ln w="9525">
            <a:solidFill>
              <a:srgbClr val="0EA89B">
                <a:alpha val="3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2880360"/>
            <a:ext cx="3611880" cy="0"/>
          </a:xfrm>
          <a:prstGeom prst="line">
            <a:avLst/>
          </a:prstGeom>
          <a:noFill/>
          <a:ln w="9525">
            <a:solidFill>
              <a:srgbClr val="0EA89B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3355848"/>
            <a:ext cx="3611880" cy="0"/>
          </a:xfrm>
          <a:prstGeom prst="line">
            <a:avLst/>
          </a:prstGeom>
          <a:noFill/>
          <a:ln w="9525">
            <a:solidFill>
              <a:srgbClr val="0EA89B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3831336"/>
            <a:ext cx="3611880" cy="0"/>
          </a:xfrm>
          <a:prstGeom prst="line">
            <a:avLst/>
          </a:prstGeom>
          <a:noFill/>
          <a:ln w="9525">
            <a:solidFill>
              <a:srgbClr val="0EA89B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4306824"/>
            <a:ext cx="3611880" cy="0"/>
          </a:xfrm>
          <a:prstGeom prst="line">
            <a:avLst/>
          </a:prstGeom>
          <a:noFill/>
          <a:ln w="9525">
            <a:solidFill>
              <a:srgbClr val="0EA89B">
                <a:alpha val="5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FinFlow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9509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16916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 app to a</a:t>
            </a:r>
            <a:endParaRPr lang="en-US" sz="4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platform.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02920" y="3063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9-layer ecosystem architecture — conversational, data, analytics, security, experiments, business, engagement — and how they interlock.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977640"/>
            <a:ext cx="4937760" cy="0"/>
          </a:xfrm>
          <a:prstGeom prst="line">
            <a:avLst/>
          </a:prstGeom>
          <a:noFill/>
          <a:ln w="19050">
            <a:solidFill>
              <a:srgbClr val="0EA8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1 of 2  ·  </a:t>
            </a:r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View. Companion deck: Vision &amp; Roadmap.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v6 codebase  ·  Pre-AI-integration foundation  ·  Confidential 2025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app tracks. A platform orchestrates.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v1–v6 built a competent finance app. The next stage is not more features — it is a layered platform that other things plug into, including AI agents.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393192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3931920" cy="73152"/>
          </a:xfrm>
          <a:prstGeom prst="rect">
            <a:avLst/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385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 · THE APP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176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finance manager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57860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4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578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Single-device, manual entry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29260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4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pages the user navigates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27355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4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273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baked into the frontend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362102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4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6210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tier, one experience for all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3968496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4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9684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— nothing plugs in</a:t>
            </a:r>
            <a:endParaRPr lang="en-US" sz="10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926080"/>
            <a:ext cx="365760" cy="36576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074920" y="1783080"/>
            <a:ext cx="3931920" cy="2697480"/>
          </a:xfrm>
          <a:prstGeom prst="roundRect">
            <a:avLst>
              <a:gd name="adj" fmla="val 2034"/>
            </a:avLst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74920" y="1783080"/>
            <a:ext cx="3931920" cy="73152"/>
          </a:xfrm>
          <a:prstGeom prst="rect">
            <a:avLst/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57800" y="19385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v7+ · THE PLATFORM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257800" y="2176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financial operating layer</a:t>
            </a:r>
            <a:endParaRPr lang="en-US" sz="16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596896"/>
            <a:ext cx="182880" cy="1828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504688" y="25786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— ask, don't navigate</a:t>
            </a:r>
            <a:endParaRPr lang="en-US" sz="10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944368"/>
            <a:ext cx="182880" cy="1828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504688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services with clear contracts</a:t>
            </a:r>
            <a:endParaRPr lang="en-US" sz="10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3291840"/>
            <a:ext cx="182880" cy="1828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04688" y="32735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in the backend, testable, reusable</a:t>
            </a:r>
            <a:endParaRPr lang="en-US" sz="10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639312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504688" y="36210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skills metered to subscription</a:t>
            </a:r>
            <a:endParaRPr lang="en-US" sz="105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986784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04688" y="39684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— MCP surface for agents &amp; apps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02920" y="4572000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BEFD3"/>
          </a:solidFill>
          <a:ln w="6350">
            <a:solidFill>
              <a:srgbClr val="D98A0B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58368" y="460857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Architect's discipline:  </a:t>
            </a:r>
            <a:pPr indent="0" marL="0">
              <a:buNone/>
            </a:pPr>
            <a:r>
              <a:rPr lang="en-US" sz="950" dirty="0">
                <a:solidFill>
                  <a:srgbClr val="0E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describes the target architecture. Not all 9 layers get built at once — see the Roadmap deck for what is real in 6 months vs an 18-month bet.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layers. One platform.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top to bottom: what the user touches, down to what keeps it alive. Each layer has a clear contract with the layers above and below.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38160" cy="352044"/>
          </a:xfrm>
          <a:prstGeom prst="roundRect">
            <a:avLst>
              <a:gd name="adj" fmla="val 7792"/>
            </a:avLst>
          </a:prstGeom>
          <a:solidFill>
            <a:srgbClr val="0F1424"/>
          </a:solidFill>
          <a:ln w="6350">
            <a:solidFill>
              <a:srgbClr val="DC43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64008" cy="352044"/>
          </a:xfrm>
          <a:prstGeom prst="rect">
            <a:avLst/>
          </a:prstGeom>
          <a:solidFill>
            <a:srgbClr val="DC4356"/>
          </a:solidFill>
          <a:ln w="12700">
            <a:solidFill>
              <a:srgbClr val="DC43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17904"/>
            <a:ext cx="5029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4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552194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1499616"/>
            <a:ext cx="27432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Layer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43400" y="1499616"/>
            <a:ext cx="416052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Stickiness, multi-user, personalization, streaks, family loops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1856232"/>
            <a:ext cx="8138160" cy="352044"/>
          </a:xfrm>
          <a:prstGeom prst="roundRect">
            <a:avLst>
              <a:gd name="adj" fmla="val 7792"/>
            </a:avLst>
          </a:prstGeom>
          <a:solidFill>
            <a:srgbClr val="0F1424"/>
          </a:solidFill>
          <a:ln w="6350">
            <a:solidFill>
              <a:srgbClr val="19D3C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856232"/>
            <a:ext cx="64008" cy="352044"/>
          </a:xfrm>
          <a:prstGeom prst="rect">
            <a:avLst/>
          </a:prstGeom>
          <a:solidFill>
            <a:srgbClr val="19D3C3"/>
          </a:solidFill>
          <a:ln w="12700">
            <a:solidFill>
              <a:srgbClr val="19D3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892808"/>
            <a:ext cx="5029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D3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1927098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72768" y="1874520"/>
            <a:ext cx="27432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Layer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343400" y="1874520"/>
            <a:ext cx="416052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assistant — the new primary interface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02920" y="2231136"/>
            <a:ext cx="8138160" cy="352044"/>
          </a:xfrm>
          <a:prstGeom prst="roundRect">
            <a:avLst>
              <a:gd name="adj" fmla="val 7792"/>
            </a:avLst>
          </a:prstGeom>
          <a:solidFill>
            <a:srgbClr val="0F1424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02920" y="2231136"/>
            <a:ext cx="64008" cy="3520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8368" y="2267712"/>
            <a:ext cx="5029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302002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72768" y="2249424"/>
            <a:ext cx="27432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Layer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343400" y="2249424"/>
            <a:ext cx="416052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tests, hypothesis validation — quant, qual &amp; hybrid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02920" y="2606040"/>
            <a:ext cx="8138160" cy="352044"/>
          </a:xfrm>
          <a:prstGeom prst="roundRect">
            <a:avLst>
              <a:gd name="adj" fmla="val 7792"/>
            </a:avLst>
          </a:prstGeom>
          <a:solidFill>
            <a:srgbClr val="0F1424"/>
          </a:solidFill>
          <a:ln w="6350">
            <a:solidFill>
              <a:srgbClr val="5FA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2920" y="2606040"/>
            <a:ext cx="64008" cy="352044"/>
          </a:xfrm>
          <a:prstGeom prst="rect">
            <a:avLst/>
          </a:prstGeom>
          <a:solidFill>
            <a:srgbClr val="5FA8F0"/>
          </a:solidFill>
          <a:ln w="12700">
            <a:solidFill>
              <a:srgbClr val="5FA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58368" y="2642616"/>
            <a:ext cx="5029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A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2676906"/>
            <a:ext cx="210312" cy="2103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72768" y="2624328"/>
            <a:ext cx="27432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Layer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343400" y="2624328"/>
            <a:ext cx="416052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intelligence for users AND for the business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502920" y="2980944"/>
            <a:ext cx="8138160" cy="352044"/>
          </a:xfrm>
          <a:prstGeom prst="roundRect">
            <a:avLst>
              <a:gd name="adj" fmla="val 7792"/>
            </a:avLst>
          </a:prstGeom>
          <a:solidFill>
            <a:srgbClr val="0F1424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02920" y="2980944"/>
            <a:ext cx="64008" cy="3520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58368" y="3017520"/>
            <a:ext cx="5029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3051810"/>
            <a:ext cx="210312" cy="2103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72768" y="2999232"/>
            <a:ext cx="27432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Layer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343400" y="2999232"/>
            <a:ext cx="416052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Entitlements, subscriptions, metering, skill-gating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502920" y="3355848"/>
            <a:ext cx="8138160" cy="352044"/>
          </a:xfrm>
          <a:prstGeom prst="roundRect">
            <a:avLst>
              <a:gd name="adj" fmla="val 7792"/>
            </a:avLst>
          </a:prstGeom>
          <a:solidFill>
            <a:srgbClr val="0F1424"/>
          </a:solidFill>
          <a:ln w="6350">
            <a:solidFill>
              <a:srgbClr val="19D3C3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502920" y="3355848"/>
            <a:ext cx="64008" cy="352044"/>
          </a:xfrm>
          <a:prstGeom prst="rect">
            <a:avLst/>
          </a:prstGeom>
          <a:solidFill>
            <a:srgbClr val="19D3C3"/>
          </a:solidFill>
          <a:ln w="12700">
            <a:solidFill>
              <a:srgbClr val="19D3C3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58368" y="3392424"/>
            <a:ext cx="5029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D3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3426714"/>
            <a:ext cx="210312" cy="2103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572768" y="3374136"/>
            <a:ext cx="27432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Skill-Orchestration Layer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4343400" y="3374136"/>
            <a:ext cx="416052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router + isolated skill modules + LLM proxy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502920" y="3730752"/>
            <a:ext cx="8138160" cy="352044"/>
          </a:xfrm>
          <a:prstGeom prst="roundRect">
            <a:avLst>
              <a:gd name="adj" fmla="val 7792"/>
            </a:avLst>
          </a:prstGeom>
          <a:solidFill>
            <a:srgbClr val="0F1424"/>
          </a:solidFill>
          <a:ln w="6350">
            <a:solidFill>
              <a:srgbClr val="35D07A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502920" y="3730752"/>
            <a:ext cx="64008" cy="352044"/>
          </a:xfrm>
          <a:prstGeom prst="rect">
            <a:avLst/>
          </a:prstGeom>
          <a:solidFill>
            <a:srgbClr val="35D07A"/>
          </a:solidFill>
          <a:ln w="12700">
            <a:solidFill>
              <a:srgbClr val="35D07A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58368" y="3767328"/>
            <a:ext cx="5029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7008" y="3801618"/>
            <a:ext cx="210312" cy="21031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572768" y="3749040"/>
            <a:ext cx="27432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4343400" y="3749040"/>
            <a:ext cx="416052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banking, EdTech, OCR — hub-and-spoke, swappable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502920" y="4105656"/>
            <a:ext cx="8138160" cy="352044"/>
          </a:xfrm>
          <a:prstGeom prst="roundRect">
            <a:avLst>
              <a:gd name="adj" fmla="val 7792"/>
            </a:avLst>
          </a:prstGeom>
          <a:solidFill>
            <a:srgbClr val="0F1424"/>
          </a:solidFill>
          <a:ln w="6350">
            <a:solidFill>
              <a:srgbClr val="5FA8F0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502920" y="4105656"/>
            <a:ext cx="64008" cy="352044"/>
          </a:xfrm>
          <a:prstGeom prst="rect">
            <a:avLst/>
          </a:prstGeom>
          <a:solidFill>
            <a:srgbClr val="5FA8F0"/>
          </a:solidFill>
          <a:ln w="12700">
            <a:solidFill>
              <a:srgbClr val="5FA8F0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658368" y="4142232"/>
            <a:ext cx="5029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A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7008" y="4176522"/>
            <a:ext cx="210312" cy="21031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572768" y="4123944"/>
            <a:ext cx="27432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52" name="Text 42"/>
          <p:cNvSpPr/>
          <p:nvPr/>
        </p:nvSpPr>
        <p:spPr>
          <a:xfrm>
            <a:off x="4343400" y="4123944"/>
            <a:ext cx="416052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PostgreSQL: immutable ledger + JSONB + pgvector + RLS</a:t>
            </a:r>
            <a:endParaRPr lang="en-US" sz="950" dirty="0"/>
          </a:p>
        </p:txBody>
      </p:sp>
      <p:sp>
        <p:nvSpPr>
          <p:cNvPr id="53" name="Shape 43"/>
          <p:cNvSpPr/>
          <p:nvPr/>
        </p:nvSpPr>
        <p:spPr>
          <a:xfrm>
            <a:off x="502920" y="4480560"/>
            <a:ext cx="8138160" cy="352044"/>
          </a:xfrm>
          <a:prstGeom prst="roundRect">
            <a:avLst>
              <a:gd name="adj" fmla="val 7792"/>
            </a:avLst>
          </a:prstGeom>
          <a:solidFill>
            <a:srgbClr val="2A1620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502920" y="4480560"/>
            <a:ext cx="64008" cy="352044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658368" y="4517136"/>
            <a:ext cx="5029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7008" y="4551426"/>
            <a:ext cx="210312" cy="210312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1572768" y="4498848"/>
            <a:ext cx="27432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Resilience Layer</a:t>
            </a:r>
            <a:endParaRPr lang="en-US" sz="1200" dirty="0"/>
          </a:p>
        </p:txBody>
      </p:sp>
      <p:sp>
        <p:nvSpPr>
          <p:cNvPr id="58" name="Text 47"/>
          <p:cNvSpPr/>
          <p:nvPr/>
        </p:nvSpPr>
        <p:spPr>
          <a:xfrm>
            <a:off x="4343400" y="4498848"/>
            <a:ext cx="416052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Encryption, DR, compliance — wraps everything</a:t>
            </a:r>
            <a:endParaRPr lang="en-US" sz="950" dirty="0"/>
          </a:p>
        </p:txBody>
      </p:sp>
      <p:sp>
        <p:nvSpPr>
          <p:cNvPr id="59" name="Text 48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request, traced through the platform.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I afford a £1,200 flight next week?” — follow it down the layers and back.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578608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" y="1819656"/>
            <a:ext cx="365760" cy="365760"/>
          </a:xfrm>
          <a:prstGeom prst="oval">
            <a:avLst/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83794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06424" y="18379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E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6424" y="20025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 intent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" y="229514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NLU extracts: intent = predictive simulation, entity = £1,200, timeframe = next week.</a:t>
            </a:r>
            <a:endParaRPr lang="en-US" sz="87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9816" y="2194560"/>
            <a:ext cx="164592" cy="16459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246120" y="1691640"/>
            <a:ext cx="2578608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74136" y="1819656"/>
            <a:ext cx="365760" cy="365760"/>
          </a:xfrm>
          <a:prstGeom prst="oval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74136" y="183794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849624" y="18379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849624" y="20025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entitlement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392424" y="229514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'What-If' is a Premium skill. User is Premium — proceed. (Free user → upsell payload.)</a:t>
            </a:r>
            <a:endParaRPr lang="en-US" sz="87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2194560"/>
            <a:ext cx="164592" cy="16459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989320" y="1691640"/>
            <a:ext cx="2578608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17336" y="1819656"/>
            <a:ext cx="365760" cy="365760"/>
          </a:xfrm>
          <a:prstGeom prst="oval">
            <a:avLst/>
          </a:prstGeom>
          <a:solidFill>
            <a:srgbClr val="076B63"/>
          </a:solidFill>
          <a:ln w="12700">
            <a:solidFill>
              <a:srgbClr val="076B6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17336" y="183794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592824" y="18379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7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SKILLS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6592824" y="20025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to skill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135624" y="229514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router dispatches to the isolated Simulation skill module — not a generic LLM call.</a:t>
            </a:r>
            <a:endParaRPr lang="en-US" sz="870" dirty="0"/>
          </a:p>
        </p:txBody>
      </p:sp>
      <p:sp>
        <p:nvSpPr>
          <p:cNvPr id="26" name="Shape 22"/>
          <p:cNvSpPr/>
          <p:nvPr/>
        </p:nvSpPr>
        <p:spPr>
          <a:xfrm>
            <a:off x="502920" y="3108960"/>
            <a:ext cx="2578608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30936" y="3236976"/>
            <a:ext cx="365760" cy="365760"/>
          </a:xfrm>
          <a:prstGeom prst="oval">
            <a:avLst/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30936" y="325526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106424" y="32552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F7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1106424" y="34198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ground truth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49224" y="371246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RLS-scoped query: liquid cash, fixed burn, upcoming standing orders, emergency-fund floor.</a:t>
            </a:r>
            <a:endParaRPr lang="en-US" sz="87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16" y="3611880"/>
            <a:ext cx="164592" cy="164592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3246120" y="3108960"/>
            <a:ext cx="2578608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3374136" y="3236976"/>
            <a:ext cx="365760" cy="365760"/>
          </a:xfrm>
          <a:prstGeom prst="oval">
            <a:avLst/>
          </a:prstGeom>
          <a:solidFill>
            <a:srgbClr val="076B63"/>
          </a:solidFill>
          <a:ln w="12700">
            <a:solidFill>
              <a:srgbClr val="076B63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374136" y="325526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3849624" y="32552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7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SKILLS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3849624" y="34198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deterministically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3392424" y="371246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math runs in a microservice. The LLM phrases the answer — it never invents the numbers.</a:t>
            </a:r>
            <a:endParaRPr lang="en-US" sz="87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611880"/>
            <a:ext cx="164592" cy="164592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5989320" y="3108960"/>
            <a:ext cx="2578608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6117336" y="3236976"/>
            <a:ext cx="365760" cy="365760"/>
          </a:xfrm>
          <a:prstGeom prst="oval">
            <a:avLst/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117336" y="325526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6592824" y="32552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C5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+ EXPERIMENTS</a:t>
            </a:r>
            <a:endParaRPr lang="en-US" sz="750" dirty="0"/>
          </a:p>
        </p:txBody>
      </p:sp>
      <p:sp>
        <p:nvSpPr>
          <p:cNvPr id="44" name="Text 38"/>
          <p:cNvSpPr/>
          <p:nvPr/>
        </p:nvSpPr>
        <p:spPr>
          <a:xfrm>
            <a:off x="6592824" y="34198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&amp; learn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6135624" y="371246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captured for retention analytics; response variant tagged for the active A/B test.</a:t>
            </a:r>
            <a:endParaRPr lang="en-US" sz="870" dirty="0"/>
          </a:p>
        </p:txBody>
      </p:sp>
      <p:sp>
        <p:nvSpPr>
          <p:cNvPr id="46" name="Shape 40"/>
          <p:cNvSpPr/>
          <p:nvPr/>
        </p:nvSpPr>
        <p:spPr>
          <a:xfrm>
            <a:off x="502920" y="4572000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E7F6F4"/>
          </a:solidFill>
          <a:ln w="6350">
            <a:solidFill>
              <a:srgbClr val="0EA89B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58368" y="460857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non-negotiable:  </a:t>
            </a:r>
            <a:pPr indent="0" marL="0">
              <a:buNone/>
            </a:pPr>
            <a:r>
              <a:rPr lang="en-US" sz="950" dirty="0">
                <a:solidFill>
                  <a:srgbClr val="0E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phrases answers; deterministic services compute them. A finance assistant that hallucinates a balance is worse than no assistant.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02 · CONVERSATIONAL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Killing the budgeting chore.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don't want to maintain ledgers. They want answers about their life. The assistant is the interface — the grid becomes the fallback.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1901952" cy="1600200"/>
          </a:xfrm>
          <a:prstGeom prst="roundRect">
            <a:avLst>
              <a:gd name="adj" fmla="val 2857"/>
            </a:avLst>
          </a:prstGeom>
          <a:solidFill>
            <a:srgbClr val="0F1424"/>
          </a:solidFill>
          <a:ln w="9525">
            <a:solidFill>
              <a:srgbClr val="35D0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27632"/>
            <a:ext cx="1901952" cy="54864"/>
          </a:xfrm>
          <a:prstGeom prst="rect">
            <a:avLst/>
          </a:prstGeom>
          <a:solidFill>
            <a:srgbClr val="35D07A"/>
          </a:solidFill>
          <a:ln w="12700">
            <a:solidFill>
              <a:srgbClr val="35D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3736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35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21792" y="1901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194560"/>
            <a:ext cx="1691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much did I spend on Uber last week?”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" y="2816352"/>
            <a:ext cx="1664208" cy="0"/>
          </a:xfrm>
          <a:prstGeom prst="line">
            <a:avLst/>
          </a:prstGeom>
          <a:noFill/>
          <a:ln w="9525">
            <a:solidFill>
              <a:srgbClr val="232C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85292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5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Text-to-SQL · ~$0 compute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46604" y="1627632"/>
            <a:ext cx="1901952" cy="1600200"/>
          </a:xfrm>
          <a:prstGeom prst="roundRect">
            <a:avLst>
              <a:gd name="adj" fmla="val 2857"/>
            </a:avLst>
          </a:prstGeom>
          <a:solidFill>
            <a:srgbClr val="0F1424"/>
          </a:solidFill>
          <a:ln w="9525">
            <a:solidFill>
              <a:srgbClr val="5FA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6604" y="1627632"/>
            <a:ext cx="1901952" cy="54864"/>
          </a:xfrm>
          <a:prstGeom prst="rect">
            <a:avLst/>
          </a:prstGeom>
          <a:solidFill>
            <a:srgbClr val="5FA8F0"/>
          </a:solidFill>
          <a:ln w="12700">
            <a:solidFill>
              <a:srgbClr val="5FA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5476" y="173736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FA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B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65476" y="1901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65476" y="2194560"/>
            <a:ext cx="1691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am I low on cash? I haven't shopped.”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65476" y="2816352"/>
            <a:ext cx="1664208" cy="0"/>
          </a:xfrm>
          <a:prstGeom prst="line">
            <a:avLst/>
          </a:prstGeom>
          <a:noFill/>
          <a:ln w="9525">
            <a:solidFill>
              <a:srgbClr val="232C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5476" y="285292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A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+ anomaly engine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90288" y="1627632"/>
            <a:ext cx="1901952" cy="1600200"/>
          </a:xfrm>
          <a:prstGeom prst="roundRect">
            <a:avLst>
              <a:gd name="adj" fmla="val 2857"/>
            </a:avLst>
          </a:prstGeom>
          <a:solidFill>
            <a:srgbClr val="0F1424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0288" y="1627632"/>
            <a:ext cx="190195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73736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09160" y="1901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2194560"/>
            <a:ext cx="1691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I afford this flight without draining savings?”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2816352"/>
            <a:ext cx="1664208" cy="0"/>
          </a:xfrm>
          <a:prstGeom prst="line">
            <a:avLst/>
          </a:prstGeom>
          <a:noFill/>
          <a:ln w="9525">
            <a:solidFill>
              <a:srgbClr val="232C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85292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simulation service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633972" y="1627632"/>
            <a:ext cx="1901952" cy="1600200"/>
          </a:xfrm>
          <a:prstGeom prst="roundRect">
            <a:avLst>
              <a:gd name="adj" fmla="val 2857"/>
            </a:avLst>
          </a:prstGeom>
          <a:solidFill>
            <a:srgbClr val="0F1424"/>
          </a:solidFill>
          <a:ln w="9525">
            <a:solidFill>
              <a:srgbClr val="FF6B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33972" y="1627632"/>
            <a:ext cx="1901952" cy="54864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52844" y="173736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52844" y="1901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Prescriptive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52844" y="2194560"/>
            <a:ext cx="1691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need to save £500 — where do I cut?”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752844" y="2816352"/>
            <a:ext cx="1664208" cy="0"/>
          </a:xfrm>
          <a:prstGeom prst="line">
            <a:avLst/>
          </a:prstGeom>
          <a:noFill/>
          <a:ln w="9525">
            <a:solidFill>
              <a:srgbClr val="232C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2844" y="285292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reasoning + LLM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3401568"/>
            <a:ext cx="8138160" cy="1325880"/>
          </a:xfrm>
          <a:prstGeom prst="roundRect">
            <a:avLst>
              <a:gd name="adj" fmla="val 4138"/>
            </a:avLst>
          </a:prstGeom>
          <a:solidFill>
            <a:srgbClr val="171E33"/>
          </a:solidFill>
          <a:ln w="9525">
            <a:solidFill>
              <a:srgbClr val="0EA89B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584448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097280" y="3566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CHORE-KILLER HOOK · CONVERSATIONAL DATA ENTRY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097280" y="378561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“Just spent 45 bucks on fuel at Shell on my business card.”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1097280" y="4133088"/>
            <a:ext cx="1755648" cy="365760"/>
          </a:xfrm>
          <a:prstGeom prst="roundRect">
            <a:avLst>
              <a:gd name="adj" fmla="val 10000"/>
            </a:avLst>
          </a:prstGeom>
          <a:solidFill>
            <a:srgbClr val="080B14"/>
          </a:solidFill>
          <a:ln w="6350">
            <a:solidFill>
              <a:srgbClr val="232C4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70432" y="4151376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→ £45.00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2971800" y="4133088"/>
            <a:ext cx="1755648" cy="365760"/>
          </a:xfrm>
          <a:prstGeom prst="roundRect">
            <a:avLst>
              <a:gd name="adj" fmla="val 10000"/>
            </a:avLst>
          </a:prstGeom>
          <a:solidFill>
            <a:srgbClr val="080B14"/>
          </a:solidFill>
          <a:ln w="6350">
            <a:solidFill>
              <a:srgbClr val="232C4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044952" y="4151376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→ Shell (Oil &amp; Gas)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846320" y="4133088"/>
            <a:ext cx="1755648" cy="365760"/>
          </a:xfrm>
          <a:prstGeom prst="roundRect">
            <a:avLst>
              <a:gd name="adj" fmla="val 10000"/>
            </a:avLst>
          </a:prstGeom>
          <a:solidFill>
            <a:srgbClr val="080B14"/>
          </a:solidFill>
          <a:ln w="6350">
            <a:solidFill>
              <a:srgbClr val="232C4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919472" y="4151376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→ Business Card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720840" y="4133088"/>
            <a:ext cx="1755648" cy="365760"/>
          </a:xfrm>
          <a:prstGeom prst="roundRect">
            <a:avLst>
              <a:gd name="adj" fmla="val 10000"/>
            </a:avLst>
          </a:prstGeom>
          <a:solidFill>
            <a:srgbClr val="080B14"/>
          </a:solidFill>
          <a:ln w="6350">
            <a:solidFill>
              <a:srgbClr val="232C4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93992" y="4151376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→ SMB / Tax-deductible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06 · AI / SKILL ORCHESTRATION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one big brain. A router and skills.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orchestrator routes each query to an isolated, plug-and-play skill module. Skills toggle on by subscription tier. New skills ship without touching core.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0" y="173736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1568" y="186537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49040" y="18288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ROUTER  +  ENTITLEMENT CHECK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0" y="2304288"/>
            <a:ext cx="0" cy="25603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44752" y="2560320"/>
            <a:ext cx="0" cy="228600"/>
          </a:xfrm>
          <a:prstGeom prst="line">
            <a:avLst/>
          </a:prstGeom>
          <a:noFill/>
          <a:ln w="15875">
            <a:solidFill>
              <a:srgbClr val="1FA8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2560320"/>
            <a:ext cx="3127248" cy="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2788920"/>
            <a:ext cx="175564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1FA8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2788920"/>
            <a:ext cx="1755648" cy="64008"/>
          </a:xfrm>
          <a:prstGeom prst="rect">
            <a:avLst/>
          </a:prstGeom>
          <a:solidFill>
            <a:srgbClr val="1FA855"/>
          </a:solidFill>
          <a:ln w="12700">
            <a:solidFill>
              <a:srgbClr val="1FA85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3522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8368" y="3209544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Input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Lookup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58368" y="3666744"/>
            <a:ext cx="1572768" cy="219456"/>
          </a:xfrm>
          <a:prstGeom prst="roundRect">
            <a:avLst>
              <a:gd name="adj" fmla="val 12500"/>
            </a:avLst>
          </a:prstGeom>
          <a:solidFill>
            <a:srgbClr val="1FA855"/>
          </a:solidFill>
          <a:ln w="12700">
            <a:solidFill>
              <a:srgbClr val="1FA85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8368" y="3675888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658368" y="3904488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 · SQL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4572000" y="2304288"/>
            <a:ext cx="0" cy="25603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456432" y="2560320"/>
            <a:ext cx="0" cy="228600"/>
          </a:xfrm>
          <a:prstGeom prst="line">
            <a:avLst/>
          </a:prstGeom>
          <a:noFill/>
          <a:ln w="15875">
            <a:solidFill>
              <a:srgbClr val="2F7AD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456432" y="2560320"/>
            <a:ext cx="1115568" cy="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578608" y="2788920"/>
            <a:ext cx="175564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F7A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578608" y="2788920"/>
            <a:ext cx="1755648" cy="64008"/>
          </a:xfrm>
          <a:prstGeom prst="rect">
            <a:avLst/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2935224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670048" y="3209544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670048" y="3666744"/>
            <a:ext cx="1572768" cy="219456"/>
          </a:xfrm>
          <a:prstGeom prst="roundRect">
            <a:avLst>
              <a:gd name="adj" fmla="val 12500"/>
            </a:avLst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670048" y="3675888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2670048" y="3904488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4572000" y="2304288"/>
            <a:ext cx="0" cy="25603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68112" y="2560320"/>
            <a:ext cx="0" cy="228600"/>
          </a:xfrm>
          <a:prstGeom prst="line">
            <a:avLst/>
          </a:prstGeom>
          <a:noFill/>
          <a:ln w="15875">
            <a:solidFill>
              <a:srgbClr val="7C5CD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572000" y="2560320"/>
            <a:ext cx="896112" cy="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590288" y="2788920"/>
            <a:ext cx="175564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7C5C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590288" y="2788920"/>
            <a:ext cx="1755648" cy="64008"/>
          </a:xfrm>
          <a:prstGeom prst="rect">
            <a:avLst/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935224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681728" y="3209544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Splits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681728" y="3666744"/>
            <a:ext cx="1572768" cy="219456"/>
          </a:xfrm>
          <a:prstGeom prst="roundRect">
            <a:avLst>
              <a:gd name="adj" fmla="val 12500"/>
            </a:avLst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681728" y="3675888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/ FAMILY</a:t>
            </a:r>
            <a:endParaRPr lang="en-US" sz="750" dirty="0"/>
          </a:p>
        </p:txBody>
      </p:sp>
      <p:sp>
        <p:nvSpPr>
          <p:cNvPr id="38" name="Text 32"/>
          <p:cNvSpPr/>
          <p:nvPr/>
        </p:nvSpPr>
        <p:spPr>
          <a:xfrm>
            <a:off x="4681728" y="3904488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750" dirty="0"/>
          </a:p>
        </p:txBody>
      </p:sp>
      <p:sp>
        <p:nvSpPr>
          <p:cNvPr id="39" name="Shape 33"/>
          <p:cNvSpPr/>
          <p:nvPr/>
        </p:nvSpPr>
        <p:spPr>
          <a:xfrm>
            <a:off x="4572000" y="2304288"/>
            <a:ext cx="0" cy="25603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479792" y="2560320"/>
            <a:ext cx="0" cy="228600"/>
          </a:xfrm>
          <a:prstGeom prst="line">
            <a:avLst/>
          </a:prstGeom>
          <a:noFill/>
          <a:ln w="15875">
            <a:solidFill>
              <a:srgbClr val="D98A0B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4572000" y="2560320"/>
            <a:ext cx="2907792" cy="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6601968" y="2788920"/>
            <a:ext cx="175564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8A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6601968" y="2788920"/>
            <a:ext cx="1755648" cy="64008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2935224"/>
            <a:ext cx="237744" cy="237744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6693408" y="3209544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6693408" y="3666744"/>
            <a:ext cx="1572768" cy="219456"/>
          </a:xfrm>
          <a:prstGeom prst="roundRect">
            <a:avLst>
              <a:gd name="adj" fmla="val 12500"/>
            </a:avLst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6693408" y="3675888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750" dirty="0"/>
          </a:p>
        </p:txBody>
      </p:sp>
      <p:sp>
        <p:nvSpPr>
          <p:cNvPr id="48" name="Text 41"/>
          <p:cNvSpPr/>
          <p:nvPr/>
        </p:nvSpPr>
        <p:spPr>
          <a:xfrm>
            <a:off x="6693408" y="3904488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· $$$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502920" y="4343400"/>
            <a:ext cx="8138160" cy="621792"/>
          </a:xfrm>
          <a:prstGeom prst="roundRect">
            <a:avLst>
              <a:gd name="adj" fmla="val 7353"/>
            </a:avLst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498848"/>
            <a:ext cx="164592" cy="164592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905256" y="44256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are isolated — a bug in Forecasting can't crash Logging</a:t>
            </a:r>
            <a:endParaRPr lang="en-US" sz="83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4498848"/>
            <a:ext cx="164592" cy="164592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3621024" y="44256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proxy (LiteLLM) — swap models via config, no rewrite</a:t>
            </a:r>
            <a:endParaRPr lang="en-US" sz="830" dirty="0"/>
          </a:p>
        </p:txBody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7336" y="4498848"/>
            <a:ext cx="164592" cy="164592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6336792" y="44256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router — cheap prompts skip the expensive LLM entirely</a:t>
            </a:r>
            <a:endParaRPr lang="en-US" sz="830" dirty="0"/>
          </a:p>
        </p:txBody>
      </p:sp>
      <p:sp>
        <p:nvSpPr>
          <p:cNvPr id="56" name="Text 46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08 · 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database. Done correctly.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spin up four database technologies pre-validation. PostgreSQL delivers relational + document + vector. The discipline is in the sub-models.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0F1424"/>
          </a:solidFill>
          <a:ln w="9525">
            <a:solidFill>
              <a:srgbClr val="5FA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0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A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Ledgers, users, entitlements — strict ACID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27832" y="1627632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0F1424"/>
          </a:solidFill>
          <a:ln w="9525">
            <a:solidFill>
              <a:srgbClr val="35D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700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64992" y="197510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metadata, webhook logs — flexible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52744" y="1627632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0F14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9904" y="1700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pgvector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9904" y="197510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embeddings — powers RAG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57860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GAPS TO CLOSE BEFORE THE CONVERSATIONAL LAYER SHIPS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889504"/>
            <a:ext cx="8138160" cy="301752"/>
          </a:xfrm>
          <a:prstGeom prst="rect">
            <a:avLst/>
          </a:prstGeom>
          <a:solidFill>
            <a:srgbClr val="0F1424"/>
          </a:solidFill>
          <a:ln w="5080">
            <a:solidFill>
              <a:srgbClr val="232C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89504"/>
            <a:ext cx="54864" cy="301752"/>
          </a:xfrm>
          <a:prstGeom prst="rect">
            <a:avLst/>
          </a:prstGeom>
          <a:solidFill>
            <a:srgbClr val="19D3C3"/>
          </a:solidFill>
          <a:ln w="12700">
            <a:solidFill>
              <a:srgbClr val="19D3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90779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2907792"/>
            <a:ext cx="6446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Normalised merchant names · clean category map · transaction status flags (pending/posted)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02920" y="3218688"/>
            <a:ext cx="8138160" cy="301752"/>
          </a:xfrm>
          <a:prstGeom prst="rect">
            <a:avLst/>
          </a:prstGeom>
          <a:solidFill>
            <a:srgbClr val="171E33"/>
          </a:solidFill>
          <a:ln w="5080">
            <a:solidFill>
              <a:srgbClr val="232C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218688"/>
            <a:ext cx="54864" cy="301752"/>
          </a:xfrm>
          <a:prstGeom prst="rect">
            <a:avLst/>
          </a:prstGeom>
          <a:solidFill>
            <a:srgbClr val="5FA8F0"/>
          </a:solidFill>
          <a:ln w="12700">
            <a:solidFill>
              <a:srgbClr val="5FA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236976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A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3236976"/>
            <a:ext cx="6446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&amp; delta engine — rolling 3–12mo averages per category, anomaly flags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02920" y="3547872"/>
            <a:ext cx="8138160" cy="301752"/>
          </a:xfrm>
          <a:prstGeom prst="rect">
            <a:avLst/>
          </a:prstGeom>
          <a:solidFill>
            <a:srgbClr val="0F1424"/>
          </a:solidFill>
          <a:ln w="5080">
            <a:solidFill>
              <a:srgbClr val="232C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547872"/>
            <a:ext cx="54864" cy="301752"/>
          </a:xfrm>
          <a:prstGeom prst="rect">
            <a:avLst/>
          </a:prstGeom>
          <a:solidFill>
            <a:srgbClr val="35D07A"/>
          </a:solidFill>
          <a:ln w="12700">
            <a:solidFill>
              <a:srgbClr val="35D0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566160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5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03120" y="3566160"/>
            <a:ext cx="6446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registry — clusters identical amount/interval to predict next draft date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02920" y="3877056"/>
            <a:ext cx="8138160" cy="301752"/>
          </a:xfrm>
          <a:prstGeom prst="rect">
            <a:avLst/>
          </a:prstGeom>
          <a:solidFill>
            <a:srgbClr val="171E33"/>
          </a:solidFill>
          <a:ln w="5080">
            <a:solidFill>
              <a:srgbClr val="232C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877056"/>
            <a:ext cx="54864" cy="3017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895344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03120" y="3895344"/>
            <a:ext cx="6446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cache — (liquid + low-risk) ÷ fixed burn; goal schemas with funding sources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502920" y="4206240"/>
            <a:ext cx="8138160" cy="301752"/>
          </a:xfrm>
          <a:prstGeom prst="rect">
            <a:avLst/>
          </a:prstGeom>
          <a:solidFill>
            <a:srgbClr val="0F1424"/>
          </a:solidFill>
          <a:ln w="5080">
            <a:solidFill>
              <a:srgbClr val="232C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206240"/>
            <a:ext cx="54864" cy="3017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4224528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103120" y="4224528"/>
            <a:ext cx="6446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tags — split_ratio, assigned_to_user_id, reimbursement_status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502920" y="4535424"/>
            <a:ext cx="8138160" cy="301752"/>
          </a:xfrm>
          <a:prstGeom prst="rect">
            <a:avLst/>
          </a:prstGeom>
          <a:solidFill>
            <a:srgbClr val="171E33"/>
          </a:solidFill>
          <a:ln w="5080">
            <a:solidFill>
              <a:srgbClr val="232C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535424"/>
            <a:ext cx="54864" cy="301752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455371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03120" y="4553712"/>
            <a:ext cx="6446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immutable ledger · field-level encryption metadata · audit columns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09 · SECURITY &amp; RESILIENCE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layer that wraps everything else.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data demands strict boundaries from line one. Security is not a feature you add later — it is the container the platform runs inside.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901952" cy="214884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1901952" cy="64008"/>
          </a:xfrm>
          <a:prstGeom prst="rect">
            <a:avLst/>
          </a:prstGeom>
          <a:solidFill>
            <a:srgbClr val="DC4356"/>
          </a:solidFill>
          <a:ln w="12700">
            <a:solidFill>
              <a:srgbClr val="DC43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8288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C4356"/>
          </a:solidFill>
          <a:ln w="12700">
            <a:solidFill>
              <a:srgbClr val="DC435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964" y="1920972"/>
            <a:ext cx="199705" cy="1997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186537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Protection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1792" y="23408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4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5528" y="23042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multi-tenant isolation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621792" y="27980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4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5528" y="27614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App-layer envelope encryption (KMS)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621792" y="32552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4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5528" y="32186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stripped before LLM calls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2546604" y="1691640"/>
            <a:ext cx="1901952" cy="214884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46604" y="1691640"/>
            <a:ext cx="1901952" cy="64008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665476" y="18288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648" y="1920972"/>
            <a:ext cx="199705" cy="19970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150108" y="186537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Disaster Recovery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665476" y="23408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839212" y="23042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Point-in-time DB recovery</a:t>
            </a:r>
            <a:endParaRPr lang="en-US" sz="830" dirty="0"/>
          </a:p>
        </p:txBody>
      </p:sp>
      <p:sp>
        <p:nvSpPr>
          <p:cNvPr id="24" name="Text 20"/>
          <p:cNvSpPr/>
          <p:nvPr/>
        </p:nvSpPr>
        <p:spPr>
          <a:xfrm>
            <a:off x="2665476" y="27980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2839212" y="27614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Multi-region backup replication</a:t>
            </a:r>
            <a:endParaRPr lang="en-US" sz="830" dirty="0"/>
          </a:p>
        </p:txBody>
      </p:sp>
      <p:sp>
        <p:nvSpPr>
          <p:cNvPr id="26" name="Text 22"/>
          <p:cNvSpPr/>
          <p:nvPr/>
        </p:nvSpPr>
        <p:spPr>
          <a:xfrm>
            <a:off x="2665476" y="32552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839212" y="32186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&lt; 4h · RPO &lt; 15min targets</a:t>
            </a:r>
            <a:endParaRPr lang="en-US" sz="830" dirty="0"/>
          </a:p>
        </p:txBody>
      </p:sp>
      <p:sp>
        <p:nvSpPr>
          <p:cNvPr id="28" name="Shape 24"/>
          <p:cNvSpPr/>
          <p:nvPr/>
        </p:nvSpPr>
        <p:spPr>
          <a:xfrm>
            <a:off x="4590288" y="1691640"/>
            <a:ext cx="1901952" cy="214884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590288" y="1691640"/>
            <a:ext cx="1901952" cy="64008"/>
          </a:xfrm>
          <a:prstGeom prst="rect">
            <a:avLst/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709160" y="18288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332" y="1920972"/>
            <a:ext cx="199705" cy="19970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193792" y="186537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Risk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709160" y="23408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882896" y="23042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Plaid/LLM outage = degraded, not down</a:t>
            </a:r>
            <a:endParaRPr lang="en-US" sz="830" dirty="0"/>
          </a:p>
        </p:txBody>
      </p:sp>
      <p:sp>
        <p:nvSpPr>
          <p:cNvPr id="35" name="Text 30"/>
          <p:cNvSpPr/>
          <p:nvPr/>
        </p:nvSpPr>
        <p:spPr>
          <a:xfrm>
            <a:off x="4709160" y="27980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882896" y="27614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 workers on all webhooks</a:t>
            </a:r>
            <a:endParaRPr lang="en-US" sz="830" dirty="0"/>
          </a:p>
        </p:txBody>
      </p:sp>
      <p:sp>
        <p:nvSpPr>
          <p:cNvPr id="37" name="Text 32"/>
          <p:cNvSpPr/>
          <p:nvPr/>
        </p:nvSpPr>
        <p:spPr>
          <a:xfrm>
            <a:off x="4709160" y="32552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4882896" y="32186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breakers + cached fallback</a:t>
            </a:r>
            <a:endParaRPr lang="en-US" sz="830" dirty="0"/>
          </a:p>
        </p:txBody>
      </p:sp>
      <p:sp>
        <p:nvSpPr>
          <p:cNvPr id="39" name="Shape 34"/>
          <p:cNvSpPr/>
          <p:nvPr/>
        </p:nvSpPr>
        <p:spPr>
          <a:xfrm>
            <a:off x="6633972" y="1691640"/>
            <a:ext cx="1901952" cy="214884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6633972" y="1691640"/>
            <a:ext cx="1901952" cy="64008"/>
          </a:xfrm>
          <a:prstGeom prst="rect">
            <a:avLst/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752844" y="18288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016" y="1920972"/>
            <a:ext cx="199705" cy="199705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237476" y="186537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6752844" y="23408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6926580" y="23042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SOC2 Type II posture from day one</a:t>
            </a:r>
            <a:endParaRPr lang="en-US" sz="830" dirty="0"/>
          </a:p>
        </p:txBody>
      </p:sp>
      <p:sp>
        <p:nvSpPr>
          <p:cNvPr id="46" name="Text 40"/>
          <p:cNvSpPr/>
          <p:nvPr/>
        </p:nvSpPr>
        <p:spPr>
          <a:xfrm>
            <a:off x="6752844" y="27980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6926580" y="27614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'kill switch' tenant wipe</a:t>
            </a:r>
            <a:endParaRPr lang="en-US" sz="830" dirty="0"/>
          </a:p>
        </p:txBody>
      </p:sp>
      <p:sp>
        <p:nvSpPr>
          <p:cNvPr id="48" name="Text 42"/>
          <p:cNvSpPr/>
          <p:nvPr/>
        </p:nvSpPr>
        <p:spPr>
          <a:xfrm>
            <a:off x="6752844" y="32552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6926580" y="32186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 trail</a:t>
            </a:r>
            <a:endParaRPr lang="en-US" sz="830" dirty="0"/>
          </a:p>
        </p:txBody>
      </p:sp>
      <p:sp>
        <p:nvSpPr>
          <p:cNvPr id="50" name="Shape 44"/>
          <p:cNvSpPr/>
          <p:nvPr/>
        </p:nvSpPr>
        <p:spPr>
          <a:xfrm>
            <a:off x="502920" y="4023360"/>
            <a:ext cx="8138160" cy="914400"/>
          </a:xfrm>
          <a:prstGeom prst="roundRect">
            <a:avLst>
              <a:gd name="adj" fmla="val 5000"/>
            </a:avLst>
          </a:prstGeom>
          <a:solidFill>
            <a:srgbClr val="FBEFD3"/>
          </a:solidFill>
          <a:ln w="9525">
            <a:solidFill>
              <a:srgbClr val="D98A0B"/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187952"/>
            <a:ext cx="292608" cy="29260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1097280" y="413308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 · THE BUSINESS-CONTINUITY VIEW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1097280" y="4334256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0E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external dependency is a single point of failure until proven otherwise. Map them now: bank aggregator down → serve cached balances + flag staleness. LLM provider down → fall back to deterministic skills only. Region outage → documented failover runbook, tested quarterly. A finance app that loses a user's data once loses that user forever.</a:t>
            </a:r>
            <a:endParaRPr lang="en-US" sz="930" dirty="0"/>
          </a:p>
        </p:txBody>
      </p:sp>
      <p:sp>
        <p:nvSpPr>
          <p:cNvPr id="54" name="Text 47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04 · ANALYTICS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audiences. One layer.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serves the user (decisions about their money) and the business (decisions about the product). Same pipeline, two surfaces.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3950208" cy="2468880"/>
          </a:xfrm>
          <a:prstGeom prst="roundRect">
            <a:avLst>
              <a:gd name="adj" fmla="val 2222"/>
            </a:avLst>
          </a:prstGeom>
          <a:solidFill>
            <a:srgbClr val="0F1424"/>
          </a:solidFill>
          <a:ln w="9525">
            <a:solidFill>
              <a:srgbClr val="5FA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45920"/>
            <a:ext cx="3950208" cy="64008"/>
          </a:xfrm>
          <a:prstGeom prst="rect">
            <a:avLst/>
          </a:prstGeom>
          <a:solidFill>
            <a:srgbClr val="5FA8F0"/>
          </a:solidFill>
          <a:ln w="12700">
            <a:solidFill>
              <a:srgbClr val="5FA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922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User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66544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FA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intelligence about their money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685800" y="243230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forecast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30552" y="24323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Runway, projected month-end balance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685800" y="28529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 detection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30552" y="28529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subs, silent fee creep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685800" y="327355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pacing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30552" y="32735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On-track / off-track with corrective nudge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685800" y="369417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30552" y="36941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Anonymised peer comparison by cohort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4690872" y="1645920"/>
            <a:ext cx="3950208" cy="2468880"/>
          </a:xfrm>
          <a:prstGeom prst="roundRect">
            <a:avLst>
              <a:gd name="adj" fmla="val 2222"/>
            </a:avLst>
          </a:prstGeom>
          <a:solidFill>
            <a:srgbClr val="0F1424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90872" y="1645920"/>
            <a:ext cx="395020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17922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Business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2066544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commercial decision intelligence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4873752" y="243230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18504" y="24323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households per week (AHpW)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4873752" y="28529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KPIs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18504" y="28529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Per-skill usage, retention, conversion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4873752" y="327355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18504" y="32735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MRR, churn, LTV, tier-mix, upsell rate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4873752" y="369417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Cost-to-serve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18504" y="36941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token spend per user per tier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02920" y="4261104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171E33"/>
          </a:solidFill>
          <a:ln w="7620">
            <a:solidFill>
              <a:srgbClr val="0EA8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334256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pipeline:  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stream → warehouse → two serving layers. PostHog for product, the data warehouse for revenue &amp; cost. The Experiments layer reads from the same stream — no parallel plumbing.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03 · EXPERIMENTS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platform that learns about itself.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meaningful change is a hypothesis. The Experiments layer makes validation a built-in capability — quantitative, qualitative, and hybrid.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56032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2560320" cy="64008"/>
          </a:xfrm>
          <a:prstGeom prst="rect">
            <a:avLst/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8288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396" y="1920972"/>
            <a:ext cx="199705" cy="1997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24712" y="18653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" y="2286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i="1" dirty="0">
                <a:solidFill>
                  <a:srgbClr val="2F7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A/B &amp; multivariate. Metric-driven.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649224" y="26700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2104" y="263347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template A vs B → activation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649224" y="30906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32104" y="305409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Upsell copy variants → conversion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649224" y="351129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32104" y="347472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timing → D7 retention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3227832" y="1691640"/>
            <a:ext cx="256032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27832" y="1691640"/>
            <a:ext cx="2560320" cy="64008"/>
          </a:xfrm>
          <a:prstGeom prst="rect">
            <a:avLst/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74136" y="18288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308" y="1920972"/>
            <a:ext cx="199705" cy="19970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849624" y="18653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374136" y="2286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i="1" dirty="0">
                <a:solidFill>
                  <a:srgbClr val="7C5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signal from real human reactions.</a:t>
            </a:r>
            <a:endParaRPr lang="en-US" sz="870" dirty="0"/>
          </a:p>
        </p:txBody>
      </p:sp>
      <p:sp>
        <p:nvSpPr>
          <p:cNvPr id="24" name="Text 20"/>
          <p:cNvSpPr/>
          <p:nvPr/>
        </p:nvSpPr>
        <p:spPr>
          <a:xfrm>
            <a:off x="3374136" y="26700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557016" y="263347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micro-surveys after key flows</a:t>
            </a:r>
            <a:endParaRPr lang="en-US" sz="830" dirty="0"/>
          </a:p>
        </p:txBody>
      </p:sp>
      <p:sp>
        <p:nvSpPr>
          <p:cNvPr id="26" name="Text 22"/>
          <p:cNvSpPr/>
          <p:nvPr/>
        </p:nvSpPr>
        <p:spPr>
          <a:xfrm>
            <a:off x="3374136" y="30906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557016" y="305409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Moderated assistant-transcript reviews</a:t>
            </a:r>
            <a:endParaRPr lang="en-US" sz="830" dirty="0"/>
          </a:p>
        </p:txBody>
      </p:sp>
      <p:sp>
        <p:nvSpPr>
          <p:cNvPr id="28" name="Text 24"/>
          <p:cNvSpPr/>
          <p:nvPr/>
        </p:nvSpPr>
        <p:spPr>
          <a:xfrm>
            <a:off x="3374136" y="351129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557016" y="347472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Feature-request clustering &amp; sentiment</a:t>
            </a:r>
            <a:endParaRPr lang="en-US" sz="830" dirty="0"/>
          </a:p>
        </p:txBody>
      </p:sp>
      <p:sp>
        <p:nvSpPr>
          <p:cNvPr id="30" name="Shape 26"/>
          <p:cNvSpPr/>
          <p:nvPr/>
        </p:nvSpPr>
        <p:spPr>
          <a:xfrm>
            <a:off x="5952744" y="1691640"/>
            <a:ext cx="256032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952744" y="1691640"/>
            <a:ext cx="2560320" cy="64008"/>
          </a:xfrm>
          <a:prstGeom prst="rect">
            <a:avLst/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099048" y="18288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20" y="1920972"/>
            <a:ext cx="199705" cy="199705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574536" y="18653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099048" y="2286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i="1" dirty="0">
                <a:solidFill>
                  <a:srgbClr val="0E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 flag triggers a qual follow-up.</a:t>
            </a:r>
            <a:endParaRPr lang="en-US" sz="870" dirty="0"/>
          </a:p>
        </p:txBody>
      </p:sp>
      <p:sp>
        <p:nvSpPr>
          <p:cNvPr id="36" name="Text 31"/>
          <p:cNvSpPr/>
          <p:nvPr/>
        </p:nvSpPr>
        <p:spPr>
          <a:xfrm>
            <a:off x="6099048" y="26700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281928" y="263347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Churn-risk cohort → exit interview prompt</a:t>
            </a:r>
            <a:endParaRPr lang="en-US" sz="830" dirty="0"/>
          </a:p>
        </p:txBody>
      </p:sp>
      <p:sp>
        <p:nvSpPr>
          <p:cNvPr id="38" name="Text 33"/>
          <p:cNvSpPr/>
          <p:nvPr/>
        </p:nvSpPr>
        <p:spPr>
          <a:xfrm>
            <a:off x="6099048" y="30906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6281928" y="305409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skill-usage → 'what's missing?' probe</a:t>
            </a:r>
            <a:endParaRPr lang="en-US" sz="830" dirty="0"/>
          </a:p>
        </p:txBody>
      </p:sp>
      <p:sp>
        <p:nvSpPr>
          <p:cNvPr id="40" name="Text 35"/>
          <p:cNvSpPr/>
          <p:nvPr/>
        </p:nvSpPr>
        <p:spPr>
          <a:xfrm>
            <a:off x="6099048" y="351129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6281928" y="347472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'unhelpful' tap → reason capture</a:t>
            </a:r>
            <a:endParaRPr lang="en-US" sz="830" dirty="0"/>
          </a:p>
        </p:txBody>
      </p:sp>
      <p:sp>
        <p:nvSpPr>
          <p:cNvPr id="42" name="Shape 37"/>
          <p:cNvSpPr/>
          <p:nvPr/>
        </p:nvSpPr>
        <p:spPr>
          <a:xfrm>
            <a:off x="502920" y="4160520"/>
            <a:ext cx="8138160" cy="658368"/>
          </a:xfrm>
          <a:prstGeom prst="roundRect">
            <a:avLst>
              <a:gd name="adj" fmla="val 6944"/>
            </a:avLst>
          </a:prstGeom>
          <a:solidFill>
            <a:srgbClr val="EDE9FB"/>
          </a:solidFill>
          <a:ln w="7620">
            <a:solidFill>
              <a:srgbClr val="7C5CD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85800" y="422452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b="1" dirty="0">
                <a:solidFill>
                  <a:srgbClr val="7C5C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layer, not a tool:  </a:t>
            </a:r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0E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share the analytics event stream, the entitlement system (target by tier), and the conversational layer (the assistant can run a qual probe in-dialogue). Bolt-on A/B tools can't reach across all three.</a:t>
            </a:r>
            <a:endParaRPr lang="en-US" sz="930" dirty="0"/>
          </a:p>
        </p:txBody>
      </p:sp>
      <p:sp>
        <p:nvSpPr>
          <p:cNvPr id="44" name="Text 39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05 · BUSINESS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that pays for itself.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high-compute agentic skills sit in the free tier, unit economics collapse under token cost. The business layer meters value to price.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108960"/>
            <a:ext cx="1938528" cy="868680"/>
          </a:xfrm>
          <a:prstGeom prst="roundRect">
            <a:avLst>
              <a:gd name="adj" fmla="val 5263"/>
            </a:avLst>
          </a:prstGeom>
          <a:solidFill>
            <a:srgbClr val="0F1424"/>
          </a:solidFill>
          <a:ln w="12700">
            <a:solidFill>
              <a:srgbClr val="1FA8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108960"/>
            <a:ext cx="1938528" cy="64008"/>
          </a:xfrm>
          <a:prstGeom prst="rect">
            <a:avLst/>
          </a:prstGeom>
          <a:solidFill>
            <a:srgbClr val="1FA855"/>
          </a:solidFill>
          <a:ln w="12700">
            <a:solidFill>
              <a:srgbClr val="1FA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321868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" y="3474720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trackers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2648" y="3675888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input &amp; lookup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12648" y="3557016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8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hook — kills manual entry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514600" y="2926080"/>
            <a:ext cx="1938528" cy="1051560"/>
          </a:xfrm>
          <a:prstGeom prst="roundRect">
            <a:avLst>
              <a:gd name="adj" fmla="val 4348"/>
            </a:avLst>
          </a:prstGeom>
          <a:solidFill>
            <a:srgbClr val="0F1424"/>
          </a:solidFill>
          <a:ln w="12700">
            <a:solidFill>
              <a:srgbClr val="2F7A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2926080"/>
            <a:ext cx="1938528" cy="64008"/>
          </a:xfrm>
          <a:prstGeom prst="rect">
            <a:avLst/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303580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4328" y="3291840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budgeters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24328" y="3493008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Diagnostic analytics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24328" y="3557016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8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— finds hidden money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526280" y="2743200"/>
            <a:ext cx="1938528" cy="1234440"/>
          </a:xfrm>
          <a:prstGeom prst="roundRect">
            <a:avLst>
              <a:gd name="adj" fmla="val 3704"/>
            </a:avLst>
          </a:prstGeom>
          <a:solidFill>
            <a:srgbClr val="0F1424"/>
          </a:solidFill>
          <a:ln w="12700">
            <a:solidFill>
              <a:srgbClr val="7C5C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2743200"/>
            <a:ext cx="1938528" cy="64008"/>
          </a:xfrm>
          <a:prstGeom prst="rect">
            <a:avLst/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285292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36008" y="3108960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&amp; couples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36008" y="3310128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Collaborative splits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36008" y="3557016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8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coordination — ends money fights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537960" y="2560320"/>
            <a:ext cx="1938528" cy="1417320"/>
          </a:xfrm>
          <a:prstGeom prst="roundRect">
            <a:avLst>
              <a:gd name="adj" fmla="val 3226"/>
            </a:avLst>
          </a:prstGeom>
          <a:solidFill>
            <a:srgbClr val="0F1424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560320"/>
            <a:ext cx="1938528" cy="64008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267004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47688" y="2926080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freelancers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47688" y="3127248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Predictive &amp; prescriptive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47688" y="3557016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8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ROI — a fractional CFO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502920" y="411480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COMMERCIALIZATION LEVERS BUILT INTO THE ARCHITECTURE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4352544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0F1424"/>
          </a:solidFill>
          <a:ln w="6350">
            <a:solidFill>
              <a:srgbClr val="232C44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462272"/>
            <a:ext cx="164592" cy="16459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04672" y="437083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caps — logging is free, lookups metered</a:t>
            </a:r>
            <a:endParaRPr lang="en-US" sz="790" dirty="0"/>
          </a:p>
        </p:txBody>
      </p:sp>
      <p:sp>
        <p:nvSpPr>
          <p:cNvPr id="34" name="Shape 31"/>
          <p:cNvSpPr/>
          <p:nvPr/>
        </p:nvSpPr>
        <p:spPr>
          <a:xfrm>
            <a:off x="3218688" y="4352544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0F1424"/>
          </a:solidFill>
          <a:ln w="6350">
            <a:solidFill>
              <a:srgbClr val="232C44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4462272"/>
            <a:ext cx="164592" cy="16459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520440" y="437083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velocity — batch feeds free, real-time webhooks paid</a:t>
            </a:r>
            <a:endParaRPr lang="en-US" sz="790" dirty="0"/>
          </a:p>
        </p:txBody>
      </p:sp>
      <p:sp>
        <p:nvSpPr>
          <p:cNvPr id="37" name="Shape 33"/>
          <p:cNvSpPr/>
          <p:nvPr/>
        </p:nvSpPr>
        <p:spPr>
          <a:xfrm>
            <a:off x="5934456" y="4352544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0F1424"/>
          </a:solidFill>
          <a:ln w="6350">
            <a:solidFill>
              <a:srgbClr val="232C44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4462272"/>
            <a:ext cx="164592" cy="16459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236208" y="437083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OCR — vision-LLM cost gated to Pro/Business</a:t>
            </a:r>
            <a:endParaRPr lang="en-US" sz="790" dirty="0"/>
          </a:p>
        </p:txBody>
      </p:sp>
      <p:sp>
        <p:nvSpPr>
          <p:cNvPr id="40" name="Text 35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01 · ENGAGEMENT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Stickiness is an architectural choice.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apps churn because tracking feels like a chore. The engagement layer designs the loops that bring users back — and brings the whole household in.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3977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64008" cy="1325880"/>
          </a:xfrm>
          <a:prstGeom prst="rect">
            <a:avLst/>
          </a:prstGeom>
          <a:solidFill>
            <a:srgbClr val="DC4356"/>
          </a:solidFill>
          <a:ln w="12700">
            <a:solidFill>
              <a:srgbClr val="DC43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7452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DC4356"/>
          </a:solidFill>
          <a:ln w="12700">
            <a:solidFill>
              <a:srgbClr val="DC435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61" y="1971081"/>
            <a:ext cx="209215" cy="209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16152" y="19110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Multi-User Loops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4088" y="2331720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&amp; SMB are inherently multiplayer. Shared goals, bill-split nudges, partner visibility — each member added multiplies retention.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1691640"/>
            <a:ext cx="3977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691640"/>
            <a:ext cx="64008" cy="1325880"/>
          </a:xfrm>
          <a:prstGeom prst="rect">
            <a:avLst/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187452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2F7AD6"/>
          </a:solidFill>
          <a:ln w="12700">
            <a:solidFill>
              <a:srgbClr val="2F7AD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881" y="1971081"/>
            <a:ext cx="209215" cy="2092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76672" y="19110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64608" y="2331720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learns tone, priorities, risk comfort. Onboarding template sets the starting UX; behaviour refines it over time.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02920" y="3154680"/>
            <a:ext cx="3977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" y="3154680"/>
            <a:ext cx="64008" cy="1325880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" y="333756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61" y="3434121"/>
            <a:ext cx="209215" cy="20921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16152" y="33741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 &amp; Streaks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04088" y="3794760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pulse, weekly review ritual, milestone celebrations. The compounding visualizer turns a skipped coffee into a 5-year number.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663440" y="3154680"/>
            <a:ext cx="3977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63440" y="3154680"/>
            <a:ext cx="64008" cy="1325880"/>
          </a:xfrm>
          <a:prstGeom prst="rect">
            <a:avLst/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46320" y="333756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7C5CDB"/>
          </a:solidFill>
          <a:ln w="12700">
            <a:solidFill>
              <a:srgbClr val="7C5CD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881" y="3434121"/>
            <a:ext cx="209215" cy="20921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76672" y="33741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Next-Gen Hook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864608" y="3794760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Finflow Kids — youth financial literacy. A child sub-profile turns a 2-person account into a multi-generational, decade-long relationship.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2920" y="4617720"/>
            <a:ext cx="8138160" cy="347472"/>
          </a:xfrm>
          <a:prstGeom prst="roundRect">
            <a:avLst>
              <a:gd name="adj" fmla="val 10526"/>
            </a:avLst>
          </a:prstGeom>
          <a:solidFill>
            <a:srgbClr val="E7F6F4"/>
          </a:solidFill>
          <a:ln w="6350">
            <a:solidFill>
              <a:srgbClr val="0EA89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58368" y="46542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7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compounding insight:  </a:t>
            </a:r>
            <a:pPr indent="0" marL="0">
              <a:buNone/>
            </a:pPr>
            <a:r>
              <a:rPr lang="en-US" sz="930" dirty="0">
                <a:solidFill>
                  <a:srgbClr val="0E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single-user account has one reason to churn. A 4-member household with a child profile has four reasons to stay.</a:t>
            </a:r>
            <a:endParaRPr lang="en-US" sz="930" dirty="0"/>
          </a:p>
        </p:txBody>
      </p:sp>
      <p:sp>
        <p:nvSpPr>
          <p:cNvPr id="32" name="Text 26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07 ·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Hub-and-spoke. Never hard-wired.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couple the core to one provider. An internal ingestion interface lets banks, EdTech, and OCR providers be swapped without rewriting the transactional engine.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1880" y="251460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0E2A4D"/>
          </a:solidFill>
          <a:ln w="15875">
            <a:solidFill>
              <a:srgbClr val="0EA89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65176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0" y="2578608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2331720" cy="868680"/>
          </a:xfrm>
          <a:prstGeom prst="roundRect">
            <a:avLst>
              <a:gd name="adj" fmla="val 5263"/>
            </a:avLst>
          </a:prstGeom>
          <a:solidFill>
            <a:srgbClr val="0F1424"/>
          </a:solidFill>
          <a:ln w="9525">
            <a:solidFill>
              <a:srgbClr val="35D0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600200"/>
            <a:ext cx="2331720" cy="54864"/>
          </a:xfrm>
          <a:prstGeom prst="rect">
            <a:avLst/>
          </a:prstGeom>
          <a:solidFill>
            <a:srgbClr val="35D07A"/>
          </a:solidFill>
          <a:ln w="12700">
            <a:solidFill>
              <a:srgbClr val="35D0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" y="17099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Banking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" y="200253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Plaid · Yodlee · SaltEdge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880360" y="2034540"/>
            <a:ext cx="1691640" cy="0"/>
          </a:xfrm>
          <a:prstGeom prst="line">
            <a:avLst/>
          </a:prstGeom>
          <a:noFill/>
          <a:ln w="12700">
            <a:solidFill>
              <a:srgbClr val="35D07A">
                <a:alpha val="6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2034540"/>
            <a:ext cx="0" cy="809244"/>
          </a:xfrm>
          <a:prstGeom prst="line">
            <a:avLst/>
          </a:prstGeom>
          <a:noFill/>
          <a:ln w="12700">
            <a:solidFill>
              <a:srgbClr val="35D07A">
                <a:alpha val="6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1600200"/>
            <a:ext cx="2331720" cy="868680"/>
          </a:xfrm>
          <a:prstGeom prst="roundRect">
            <a:avLst>
              <a:gd name="adj" fmla="val 5263"/>
            </a:avLst>
          </a:prstGeom>
          <a:solidFill>
            <a:srgbClr val="0F142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1600200"/>
            <a:ext cx="233172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91656" y="17099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EdTech / NFO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91656" y="200253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Olympiad content API</a:t>
            </a:r>
            <a:endParaRPr lang="en-US" sz="830" dirty="0"/>
          </a:p>
        </p:txBody>
      </p:sp>
      <p:sp>
        <p:nvSpPr>
          <p:cNvPr id="19" name="Shape 16"/>
          <p:cNvSpPr/>
          <p:nvPr/>
        </p:nvSpPr>
        <p:spPr>
          <a:xfrm>
            <a:off x="4572000" y="2034540"/>
            <a:ext cx="1691640" cy="0"/>
          </a:xfrm>
          <a:prstGeom prst="line">
            <a:avLst/>
          </a:prstGeom>
          <a:noFill/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0" y="2034540"/>
            <a:ext cx="0" cy="809244"/>
          </a:xfrm>
          <a:prstGeom prst="line">
            <a:avLst/>
          </a:prstGeom>
          <a:noFill/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3611880"/>
            <a:ext cx="2331720" cy="868680"/>
          </a:xfrm>
          <a:prstGeom prst="roundRect">
            <a:avLst>
              <a:gd name="adj" fmla="val 5263"/>
            </a:avLst>
          </a:prstGeom>
          <a:solidFill>
            <a:srgbClr val="0F1424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3611880"/>
            <a:ext cx="23317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" y="37216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OCR / Vision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6656" y="40142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&amp; invoice extraction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2880360" y="4046220"/>
            <a:ext cx="1691640" cy="0"/>
          </a:xfrm>
          <a:prstGeom prst="line">
            <a:avLst/>
          </a:prstGeom>
          <a:noFill/>
          <a:ln w="12700">
            <a:solidFill>
              <a:srgbClr val="F5A623">
                <a:alpha val="6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0" y="2843784"/>
            <a:ext cx="0" cy="1202436"/>
          </a:xfrm>
          <a:prstGeom prst="line">
            <a:avLst/>
          </a:prstGeom>
          <a:noFill/>
          <a:ln w="12700">
            <a:solidFill>
              <a:srgbClr val="F5A623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611880"/>
            <a:ext cx="2331720" cy="868680"/>
          </a:xfrm>
          <a:prstGeom prst="roundRect">
            <a:avLst>
              <a:gd name="adj" fmla="val 5263"/>
            </a:avLst>
          </a:prstGeom>
          <a:solidFill>
            <a:srgbClr val="0F1424"/>
          </a:solidFill>
          <a:ln w="9525">
            <a:solidFill>
              <a:srgbClr val="5FA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63640" y="3611880"/>
            <a:ext cx="2331720" cy="54864"/>
          </a:xfrm>
          <a:prstGeom prst="rect">
            <a:avLst/>
          </a:prstGeom>
          <a:solidFill>
            <a:srgbClr val="5FA8F0"/>
          </a:solidFill>
          <a:ln w="12700">
            <a:solidFill>
              <a:srgbClr val="5FA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91656" y="37216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 Banking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391656" y="40142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3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Greenlight · FamPay · Step</a:t>
            </a:r>
            <a:endParaRPr lang="en-US" sz="830" dirty="0"/>
          </a:p>
        </p:txBody>
      </p:sp>
      <p:sp>
        <p:nvSpPr>
          <p:cNvPr id="31" name="Shape 28"/>
          <p:cNvSpPr/>
          <p:nvPr/>
        </p:nvSpPr>
        <p:spPr>
          <a:xfrm>
            <a:off x="4572000" y="4046220"/>
            <a:ext cx="1691640" cy="0"/>
          </a:xfrm>
          <a:prstGeom prst="line">
            <a:avLst/>
          </a:prstGeom>
          <a:noFill/>
          <a:ln w="12700">
            <a:solidFill>
              <a:srgbClr val="5FA8F0">
                <a:alpha val="65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0" y="2843784"/>
            <a:ext cx="0" cy="1202436"/>
          </a:xfrm>
          <a:prstGeom prst="line">
            <a:avLst/>
          </a:prstGeom>
          <a:noFill/>
          <a:ln w="12700">
            <a:solidFill>
              <a:srgbClr val="5FA8F0">
                <a:alpha val="6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" y="4590288"/>
            <a:ext cx="8138160" cy="365760"/>
          </a:xfrm>
          <a:prstGeom prst="roundRect">
            <a:avLst>
              <a:gd name="adj" fmla="val 10000"/>
            </a:avLst>
          </a:prstGeom>
          <a:solidFill>
            <a:srgbClr val="171E33"/>
          </a:solidFill>
          <a:ln w="6350">
            <a:solidFill>
              <a:srgbClr val="0EA89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" y="462686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resilience:  </a:t>
            </a:r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 workers stop duplicate transactions · circuit breakers isolate a failing provider · every spoke is swappable behind the same interface contract.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 SURFACE · MCP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0E2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FinFlow as a capability agents call.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Exposing FinFlow over the Model Context Protocol turns the platform into a tool that external AI agents and apps can safely invoke — with entitlements intact.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393192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3931920" cy="64008"/>
          </a:xfrm>
          <a:prstGeom prst="rect">
            <a:avLst/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2880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7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FINFLOW EXPOSES AS MCP TOOLS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139696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E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get_financial_summary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2578608" y="213969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aggregate snapshot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85800" y="252374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E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run_affordability_check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2578608" y="252374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I afford X” as a callable tool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85800" y="29077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E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log_transaction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578608" y="29077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entry from any agent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E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get_cash_runway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2578608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runway projection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E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query_spend_by_category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2578608" y="367588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Scoped, entitlement-checked lookup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690872" y="1691640"/>
            <a:ext cx="3950208" cy="2468880"/>
          </a:xfrm>
          <a:prstGeom prst="roundRect">
            <a:avLst>
              <a:gd name="adj" fmla="val 2222"/>
            </a:avLst>
          </a:prstGeom>
          <a:solidFill>
            <a:srgbClr val="0E2A4D"/>
          </a:solidFill>
          <a:ln w="12700">
            <a:solidFill>
              <a:srgbClr val="0E2A4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90872" y="1691640"/>
            <a:ext cx="395020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182880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CROSS-APP &amp; AGENT HANDSHAKE — USE CASES</a:t>
            </a:r>
            <a:endParaRPr lang="en-US" sz="9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2212848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120640" y="215798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travel agent checks affordability before it offers a trip</a:t>
            </a:r>
            <a:endParaRPr lang="en-US" sz="9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670048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20640" y="261518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assistant logs an expense the user mentioned in passing</a:t>
            </a:r>
            <a:endParaRPr lang="en-US" sz="9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3127248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20640" y="307238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tax-prep app pulls a categorised, consented year-end summary</a:t>
            </a:r>
            <a:endParaRPr lang="en-US" sz="9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584448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120640" y="352958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EdTech app reads goal progress to tailor a child's lesson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2920" y="4279392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EFD3"/>
          </a:solidFill>
          <a:ln w="7620">
            <a:solidFill>
              <a:srgbClr val="D98A0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407408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24128" y="433425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D98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caveat:  </a:t>
            </a:r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E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is the right long-term surface but a v9+ bet, not a v7 deliverable. It only becomes safe once entitlements, auth, and PII-stripping are hardened. Design the tool contracts now; expose them later.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EVOLUTIONARY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today. Scalable tomorrow. Lean now.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over-engineer a microservice mesh before retention is proven. This stack scales to zero at night and scales with revenue — not ahead of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8138160" cy="502920"/>
          </a:xfrm>
          <a:prstGeom prst="roundRect">
            <a:avLst>
              <a:gd name="adj" fmla="val 7273"/>
            </a:avLst>
          </a:prstGeom>
          <a:solidFill>
            <a:srgbClr val="0F1424"/>
          </a:solidFill>
          <a:ln w="5080">
            <a:solidFill>
              <a:srgbClr val="232C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45920"/>
            <a:ext cx="64008" cy="502920"/>
          </a:xfrm>
          <a:prstGeom prst="rect">
            <a:avLst/>
          </a:prstGeom>
          <a:solidFill>
            <a:srgbClr val="19D3C3"/>
          </a:solidFill>
          <a:ln w="12700">
            <a:solidFill>
              <a:srgbClr val="19D3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682496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/ API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14600" y="1682496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Fargate or GCP Cloud Run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49240" y="1682496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containers — pay per millisecond, scale to zero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8138160" cy="502920"/>
          </a:xfrm>
          <a:prstGeom prst="roundRect">
            <a:avLst>
              <a:gd name="adj" fmla="val 7273"/>
            </a:avLst>
          </a:prstGeom>
          <a:solidFill>
            <a:srgbClr val="171E33"/>
          </a:solidFill>
          <a:ln w="5080">
            <a:solidFill>
              <a:srgbClr val="232C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12848"/>
            <a:ext cx="64008" cy="502920"/>
          </a:xfrm>
          <a:prstGeom prst="rect">
            <a:avLst/>
          </a:prstGeom>
          <a:solidFill>
            <a:srgbClr val="5FA8F0"/>
          </a:solidFill>
          <a:ln w="12700">
            <a:solidFill>
              <a:srgbClr val="5FA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249424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A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14600" y="2249424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PostgreSQL (RDS / Supabase)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49240" y="2249424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+ JSONB + pgvector + RLS in one cluster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779776"/>
            <a:ext cx="8138160" cy="502920"/>
          </a:xfrm>
          <a:prstGeom prst="roundRect">
            <a:avLst>
              <a:gd name="adj" fmla="val 7273"/>
            </a:avLst>
          </a:prstGeom>
          <a:solidFill>
            <a:srgbClr val="0F1424"/>
          </a:solidFill>
          <a:ln w="5080">
            <a:solidFill>
              <a:srgbClr val="232C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779776"/>
            <a:ext cx="64008" cy="50292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816352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&amp; Real-time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281635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Redis / Dragonfly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49240" y="2816352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Sessions, rate-limits, entitlement cache, household sync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346704"/>
            <a:ext cx="8138160" cy="502920"/>
          </a:xfrm>
          <a:prstGeom prst="roundRect">
            <a:avLst>
              <a:gd name="adj" fmla="val 7273"/>
            </a:avLst>
          </a:prstGeom>
          <a:solidFill>
            <a:srgbClr val="171E33"/>
          </a:solidFill>
          <a:ln w="5080">
            <a:solidFill>
              <a:srgbClr val="232C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346704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383280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Orchestration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14600" y="338328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semantic router + LiteLLM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9240" y="3383280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Async, model-agnostic, cheap-prompt bypass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913632"/>
            <a:ext cx="8138160" cy="502920"/>
          </a:xfrm>
          <a:prstGeom prst="roundRect">
            <a:avLst>
              <a:gd name="adj" fmla="val 7273"/>
            </a:avLst>
          </a:prstGeom>
          <a:solidFill>
            <a:srgbClr val="0F1424"/>
          </a:solidFill>
          <a:ln w="5080">
            <a:solidFill>
              <a:srgbClr val="232C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913632"/>
            <a:ext cx="64008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3950208"/>
            <a:ext cx="1783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14600" y="3950208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PostHog + Langfuse + Sentry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9240" y="3950208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analytics, LLM tracing, error monitoring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4572000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171E33"/>
          </a:solidFill>
          <a:ln w="7620">
            <a:solidFill>
              <a:srgbClr val="0EA8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60857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principle:  </a:t>
            </a:r>
            <a:pPr indent="0" marL="0">
              <a:buNone/>
            </a:pPr>
            <a:r>
              <a:rPr lang="en-US" sz="93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cost-per-active-user scales in line with subscription revenue. You never pay for capacity a user hasn't paid you for first.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7955280" y="4828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· 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EA89B"/>
          </a:solidFill>
          <a:ln w="12700">
            <a:solidFill>
              <a:srgbClr val="0EA8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ARCHITECTURE COMMITS 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principles</a:t>
            </a:r>
            <a:endParaRPr lang="en-US" sz="3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 holds to.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8138160" cy="0"/>
          </a:xfrm>
          <a:prstGeom prst="line">
            <a:avLst/>
          </a:prstGeom>
          <a:noFill/>
          <a:ln w="12700">
            <a:solidFill>
              <a:srgbClr val="0EA89B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D3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Layers have contracts.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212140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talks to its neighbours through a defined interface — change one without breaking the rest.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4663440" y="1874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D3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6636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LLM phrases. Services compute.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66360" y="212140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microservices own every number. The model never invents a balance.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502920" y="261518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D3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6151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are isolated and metered.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286207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bug in Forecasting can't crash Logging. Each skill maps to a price.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4663440" y="261518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D3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66360" y="26151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wraps everything.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66360" y="286207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RLS, envelope encryption, DR — the container, not a feature added later.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502920" y="33558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D3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355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database until proven otherwise.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" y="360273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does relational, document, and vector. Don't add tech you can't yet justify.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4663440" y="33558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D3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66360" y="3355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Evolutionary, not over-built.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66360" y="360273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6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stack now. Scale with revenue, never ahead of it.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02920" y="40965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D3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40965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by design, exposed by readiness.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352544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9D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 contracts designed now; surfaced only when entitlements are hardened.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4681728"/>
            <a:ext cx="8138160" cy="0"/>
          </a:xfrm>
          <a:prstGeom prst="line">
            <a:avLst/>
          </a:prstGeom>
          <a:noFill/>
          <a:ln w="12700">
            <a:solidFill>
              <a:srgbClr val="0EA8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FinFlow · Platform Architecture · Companion to the Vision &amp; Roadmap deck · Confidential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FinFlow · Platform Architecture</dc:title>
  <dc:subject>PptxGenJS Presentation</dc:subject>
  <dc:creator>PptxGenJS</dc:creator>
  <cp:lastModifiedBy>PptxGenJS</cp:lastModifiedBy>
  <cp:revision>1</cp:revision>
  <dcterms:created xsi:type="dcterms:W3CDTF">2026-05-23T14:37:00Z</dcterms:created>
  <dcterms:modified xsi:type="dcterms:W3CDTF">2026-05-23T14:37:00Z</dcterms:modified>
</cp:coreProperties>
</file>