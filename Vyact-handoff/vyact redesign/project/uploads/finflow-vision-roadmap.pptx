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D98A0B"/>
          </a:solidFill>
          <a:ln w="12700">
            <a:solidFill>
              <a:srgbClr val="D98A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-1097280"/>
            <a:ext cx="4114800" cy="4114800"/>
          </a:xfrm>
          <a:prstGeom prst="oval">
            <a:avLst/>
          </a:prstGeom>
          <a:ln w="9525">
            <a:solidFill>
              <a:srgbClr val="0EA89B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80760" y="-1417320"/>
            <a:ext cx="4754880" cy="4754880"/>
          </a:xfrm>
          <a:prstGeom prst="oval">
            <a:avLst/>
          </a:prstGeom>
          <a:ln w="9525">
            <a:solidFill>
              <a:srgbClr val="0EA89B">
                <a:alpha val="1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-1737360"/>
            <a:ext cx="5394960" cy="5394960"/>
          </a:xfrm>
          <a:prstGeom prst="oval">
            <a:avLst/>
          </a:prstGeom>
          <a:ln w="9525">
            <a:solidFill>
              <a:srgbClr val="0EA89B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20840" y="-2057400"/>
            <a:ext cx="6035040" cy="6035040"/>
          </a:xfrm>
          <a:prstGeom prst="oval">
            <a:avLst/>
          </a:prstGeom>
          <a:ln w="9525">
            <a:solidFill>
              <a:srgbClr val="0EA89B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-2377440"/>
            <a:ext cx="6675120" cy="6675120"/>
          </a:xfrm>
          <a:prstGeom prst="oval">
            <a:avLst/>
          </a:prstGeom>
          <a:ln w="9525">
            <a:solidFill>
              <a:srgbClr val="0EA89B">
                <a:alpha val="2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57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FinFlow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21208" y="9509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&amp; ROADMAP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6459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conversational</a:t>
            </a:r>
            <a:endParaRPr lang="en-US" sz="4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platform.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02920" y="30632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FinFlow goes after v6 — the staged path from a finance app to a platform users talk to, and agents plug into. MVP, GTM, feedback loops, and how the team grows around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4937760" cy="0"/>
          </a:xfrm>
          <a:prstGeom prst="line">
            <a:avLst/>
          </a:prstGeom>
          <a:noFill/>
          <a:ln w="19050">
            <a:solidFill>
              <a:srgbClr val="D98A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1513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2 of 2  ·  </a:t>
            </a:r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&amp; Roadmap. Companion deck: Platform Architecture.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FinFlow team  ·  Short, medium &amp; long-term  ·  Confidential 2025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ACTUALLY ARE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people. A real app. A big vision.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roadmap only works if it's honest about the constraint. Everything that follows is sequenced for a 2-person team — with the unlocks flagged.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37360"/>
            <a:ext cx="39776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37360"/>
            <a:ext cx="64008" cy="1234440"/>
          </a:xfrm>
          <a:prstGeom prst="rect">
            <a:avLst/>
          </a:prstGeom>
          <a:solidFill>
            <a:srgbClr val="1FA855"/>
          </a:solidFill>
          <a:ln w="12700">
            <a:solidFill>
              <a:srgbClr val="1FA8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192024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1FA855"/>
          </a:solidFill>
          <a:ln w="12700">
            <a:solidFill>
              <a:srgbClr val="1FA85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684" y="2012412"/>
            <a:ext cx="199705" cy="19970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79576" y="193852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real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04088" y="2340864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 ships a working finance app — React+TS, 9 modules, multi-profile, debts, net worth.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4663440" y="1737360"/>
            <a:ext cx="39776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737360"/>
            <a:ext cx="64008" cy="1234440"/>
          </a:xfrm>
          <a:prstGeom prst="rect">
            <a:avLst/>
          </a:prstGeom>
          <a:solidFill>
            <a:srgbClr val="D98A0B"/>
          </a:solidFill>
          <a:ln w="12700">
            <a:solidFill>
              <a:srgbClr val="D98A0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28032" y="192024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D98A0B"/>
          </a:solidFill>
          <a:ln w="12700">
            <a:solidFill>
              <a:srgbClr val="D98A0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204" y="2012412"/>
            <a:ext cx="199705" cy="19970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0096" y="193852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honest gap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864608" y="2340864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single-device, manual-entry, offline. No cloud, no AI, no acquisition channel yet.</a:t>
            </a:r>
            <a:endParaRPr lang="en-US" sz="930" dirty="0"/>
          </a:p>
        </p:txBody>
      </p:sp>
      <p:sp>
        <p:nvSpPr>
          <p:cNvPr id="18" name="Shape 14"/>
          <p:cNvSpPr/>
          <p:nvPr/>
        </p:nvSpPr>
        <p:spPr>
          <a:xfrm>
            <a:off x="502920" y="3108960"/>
            <a:ext cx="39776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02920" y="3108960"/>
            <a:ext cx="64008" cy="1234440"/>
          </a:xfrm>
          <a:prstGeom prst="rect">
            <a:avLst/>
          </a:prstGeom>
          <a:solidFill>
            <a:srgbClr val="0EA89B"/>
          </a:solidFill>
          <a:ln w="12700">
            <a:solidFill>
              <a:srgbClr val="0EA89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67512" y="329184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0EA89B"/>
          </a:solidFill>
          <a:ln w="12700">
            <a:solidFill>
              <a:srgbClr val="0EA89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84" y="3384012"/>
            <a:ext cx="199705" cy="19970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79576" y="331012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vision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704088" y="3712464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conversational platform users feel assisted by — and a 9-layer ecosystem agents plug into.</a:t>
            </a:r>
            <a:endParaRPr lang="en-US" sz="930" dirty="0"/>
          </a:p>
        </p:txBody>
      </p:sp>
      <p:sp>
        <p:nvSpPr>
          <p:cNvPr id="24" name="Shape 19"/>
          <p:cNvSpPr/>
          <p:nvPr/>
        </p:nvSpPr>
        <p:spPr>
          <a:xfrm>
            <a:off x="4663440" y="3108960"/>
            <a:ext cx="39776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663440" y="3108960"/>
            <a:ext cx="64008" cy="1234440"/>
          </a:xfrm>
          <a:prstGeom prst="rect">
            <a:avLst/>
          </a:prstGeom>
          <a:solidFill>
            <a:srgbClr val="DC4356"/>
          </a:solidFill>
          <a:ln w="12700">
            <a:solidFill>
              <a:srgbClr val="DC4356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828032" y="329184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DC4356"/>
          </a:solidFill>
          <a:ln w="12700">
            <a:solidFill>
              <a:srgbClr val="DC4356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204" y="3384012"/>
            <a:ext cx="199705" cy="19970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40096" y="331012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discipline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864608" y="3712464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layers is the destination, not the next sprint. We build 3 layers deep, then widen.</a:t>
            </a:r>
            <a:endParaRPr lang="en-US" sz="930" dirty="0"/>
          </a:p>
        </p:txBody>
      </p:sp>
      <p:sp>
        <p:nvSpPr>
          <p:cNvPr id="30" name="Shape 24"/>
          <p:cNvSpPr/>
          <p:nvPr/>
        </p:nvSpPr>
        <p:spPr>
          <a:xfrm>
            <a:off x="502920" y="4572000"/>
            <a:ext cx="8138160" cy="384048"/>
          </a:xfrm>
          <a:prstGeom prst="roundRect">
            <a:avLst>
              <a:gd name="adj" fmla="val 9524"/>
            </a:avLst>
          </a:prstGeom>
          <a:solidFill>
            <a:srgbClr val="FBEFD3"/>
          </a:solidFill>
          <a:ln w="6350">
            <a:solidFill>
              <a:srgbClr val="D98A0B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58368" y="4608576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framing decision:  </a:t>
            </a:r>
            <a:pPr indent="0" marL="0">
              <a:buNone/>
            </a:pPr>
            <a:r>
              <a:rPr lang="en-US" sz="930" dirty="0">
                <a:solidFill>
                  <a:srgbClr val="0E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argues for the hybrid model — chat-first for advice &amp; planning, classic UI for data entry. Not pure chat-first. The next slide explains why.</a:t>
            </a:r>
            <a:endParaRPr lang="en-US" sz="930" dirty="0"/>
          </a:p>
        </p:txBody>
      </p:sp>
      <p:sp>
        <p:nvSpPr>
          <p:cNvPr id="32" name="Text 26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CONVERSATIONAL PIVOT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Chat-first, not chat-only.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 is a platform you talk to. But for a finance app, pure chat-only is the wrong first bet — here's the reasoning, not just the conclusion.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27632"/>
            <a:ext cx="2560320" cy="2788920"/>
          </a:xfrm>
          <a:prstGeom prst="roundRect">
            <a:avLst>
              <a:gd name="adj" fmla="val 2143"/>
            </a:avLst>
          </a:prstGeom>
          <a:solidFill>
            <a:srgbClr val="0F1424"/>
          </a:solidFill>
          <a:ln w="9525">
            <a:solidFill>
              <a:srgbClr val="DC43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27632"/>
            <a:ext cx="2560320" cy="64008"/>
          </a:xfrm>
          <a:prstGeom prst="rect">
            <a:avLst/>
          </a:prstGeom>
          <a:solidFill>
            <a:srgbClr val="DC4356"/>
          </a:solidFill>
          <a:ln w="12700">
            <a:solidFill>
              <a:srgbClr val="DC43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7373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Chat-Only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" y="2029968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i="1" dirty="0">
                <a:solidFill>
                  <a:srgbClr val="DC4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replaces all navigation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9224" y="237744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49224" y="2523744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Boldest. Maximally differentiated.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649224" y="310896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49224" y="3255264"/>
            <a:ext cx="2331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distrust a finance app with no visible ledger. Data entry by chat is slower for bulk. High build risk.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649224" y="4069080"/>
            <a:ext cx="2267712" cy="256032"/>
          </a:xfrm>
          <a:prstGeom prst="roundRect">
            <a:avLst>
              <a:gd name="adj" fmla="val 10714"/>
            </a:avLst>
          </a:prstGeom>
          <a:solidFill>
            <a:srgbClr val="DC4356"/>
          </a:solidFill>
          <a:ln w="12700">
            <a:solidFill>
              <a:srgbClr val="DC43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4078224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NOW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27832" y="1627632"/>
            <a:ext cx="2560320" cy="2788920"/>
          </a:xfrm>
          <a:prstGeom prst="roundRect">
            <a:avLst>
              <a:gd name="adj" fmla="val 2143"/>
            </a:avLst>
          </a:prstGeom>
          <a:solidFill>
            <a:srgbClr val="0F1424"/>
          </a:solidFill>
          <a:ln w="9525">
            <a:solidFill>
              <a:srgbClr val="6B7A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27832" y="1627632"/>
            <a:ext cx="2560320" cy="64008"/>
          </a:xfrm>
          <a:prstGeom prst="rect">
            <a:avLst/>
          </a:prstGeom>
          <a:solidFill>
            <a:srgbClr val="6B7A90"/>
          </a:solidFill>
          <a:ln w="12700">
            <a:solidFill>
              <a:srgbClr val="6B7A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74136" y="17373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Assist-Only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74136" y="2029968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is a side helper on the UI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74136" y="237744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374136" y="2523744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risk. Easy to ship.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3374136" y="310896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374136" y="3255264"/>
            <a:ext cx="2331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chatbot bolt-on. Doesn't change the product's feel. Won't kill the chore.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374136" y="4069080"/>
            <a:ext cx="2267712" cy="256032"/>
          </a:xfrm>
          <a:prstGeom prst="roundRect">
            <a:avLst>
              <a:gd name="adj" fmla="val 10714"/>
            </a:avLst>
          </a:prstGeom>
          <a:solidFill>
            <a:srgbClr val="6B7A90"/>
          </a:solidFill>
          <a:ln w="12700">
            <a:solidFill>
              <a:srgbClr val="6B7A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74136" y="4078224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TIMID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952744" y="1627632"/>
            <a:ext cx="2560320" cy="2788920"/>
          </a:xfrm>
          <a:prstGeom prst="roundRect">
            <a:avLst>
              <a:gd name="adj" fmla="val 2143"/>
            </a:avLst>
          </a:prstGeom>
          <a:solidFill>
            <a:srgbClr val="171E33"/>
          </a:solidFill>
          <a:ln w="19050">
            <a:solidFill>
              <a:srgbClr val="19D3C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52744" y="1627632"/>
            <a:ext cx="2560320" cy="64008"/>
          </a:xfrm>
          <a:prstGeom prst="rect">
            <a:avLst/>
          </a:prstGeom>
          <a:solidFill>
            <a:srgbClr val="19D3C3"/>
          </a:solidFill>
          <a:ln w="12700">
            <a:solidFill>
              <a:srgbClr val="19D3C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99048" y="17373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99048" y="2029968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i="1" dirty="0">
                <a:solidFill>
                  <a:srgbClr val="19D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Chat-first for advice; UI for data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99048" y="237744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099048" y="2523744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where it delights; visible ledger where it reassures.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6099048" y="310896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099048" y="3255264"/>
            <a:ext cx="2331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surfaces to design well.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099048" y="4069080"/>
            <a:ext cx="2267712" cy="256032"/>
          </a:xfrm>
          <a:prstGeom prst="roundRect">
            <a:avLst>
              <a:gd name="adj" fmla="val 10714"/>
            </a:avLst>
          </a:prstGeom>
          <a:solidFill>
            <a:srgbClr val="19D3C3"/>
          </a:solidFill>
          <a:ln w="12700">
            <a:solidFill>
              <a:srgbClr val="19D3C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99048" y="4078224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8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2920" y="4553712"/>
            <a:ext cx="8138160" cy="402336"/>
          </a:xfrm>
          <a:prstGeom prst="roundRect">
            <a:avLst>
              <a:gd name="adj" fmla="val 9091"/>
            </a:avLst>
          </a:prstGeom>
          <a:solidFill>
            <a:srgbClr val="171E33"/>
          </a:solidFill>
          <a:ln w="7620">
            <a:solidFill>
              <a:srgbClr val="0EA89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459943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D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principle:  </a:t>
            </a:r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earns its place where it removes friction — asking “can I afford this?” beats clicking five screens. The ledger stays visible because trust in finance is visual.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16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NORTH STAR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actually building toward.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80160"/>
            <a:ext cx="8138160" cy="1097280"/>
          </a:xfrm>
          <a:prstGeom prst="roundRect">
            <a:avLst>
              <a:gd name="adj" fmla="val 6667"/>
            </a:avLst>
          </a:prstGeom>
          <a:solidFill>
            <a:srgbClr val="0E2A4D"/>
          </a:solidFill>
          <a:ln w="12700">
            <a:solidFill>
              <a:srgbClr val="0E2A4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4173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“Every person, household, and small business feels </a:t>
            </a:r>
            <a:pPr indent="0" marL="0">
              <a:lnSpc>
                <a:spcPts val="2100"/>
              </a:lnSpc>
              <a:buNone/>
            </a:pPr>
            <a:r>
              <a:rPr lang="en-US" sz="16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financially assisted</a:t>
            </a:r>
            <a:pPr indent="0" marL="0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able to ask any question about their money and get a true, instant, actionable answer.”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57860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OUTCOMES THAT PROVE WE'RE WINNING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852928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852928"/>
            <a:ext cx="2560320" cy="64008"/>
          </a:xfrm>
          <a:prstGeom prst="rect">
            <a:avLst/>
          </a:prstGeom>
          <a:solidFill>
            <a:srgbClr val="0EA89B"/>
          </a:solidFill>
          <a:ln w="12700">
            <a:solidFill>
              <a:srgbClr val="0EA89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" y="299008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0EA89B"/>
          </a:solidFill>
          <a:ln w="12700">
            <a:solidFill>
              <a:srgbClr val="0EA89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785" y="3086649"/>
            <a:ext cx="209215" cy="20921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9224" y="34564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chore is dead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9224" y="373075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log and query by talking. Manual grid entry drops below 30% of all interactions.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3227832" y="2852928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27832" y="2852928"/>
            <a:ext cx="2560320" cy="64008"/>
          </a:xfrm>
          <a:prstGeom prst="rect">
            <a:avLst/>
          </a:prstGeom>
          <a:solidFill>
            <a:srgbClr val="7C5CDB"/>
          </a:solidFill>
          <a:ln w="12700">
            <a:solidFill>
              <a:srgbClr val="7C5CD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74136" y="299008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7C5CDB"/>
          </a:solidFill>
          <a:ln w="12700">
            <a:solidFill>
              <a:srgbClr val="7C5CD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697" y="3086649"/>
            <a:ext cx="209215" cy="20921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74136" y="34564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household is in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374136" y="373075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account has 2+ active members. A child profile makes it multi-generational.</a:t>
            </a:r>
            <a:endParaRPr lang="en-US" sz="880" dirty="0"/>
          </a:p>
        </p:txBody>
      </p:sp>
      <p:sp>
        <p:nvSpPr>
          <p:cNvPr id="20" name="Shape 16"/>
          <p:cNvSpPr/>
          <p:nvPr/>
        </p:nvSpPr>
        <p:spPr>
          <a:xfrm>
            <a:off x="5952744" y="2852928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952744" y="2852928"/>
            <a:ext cx="2560320" cy="64008"/>
          </a:xfrm>
          <a:prstGeom prst="rect">
            <a:avLst/>
          </a:prstGeom>
          <a:solidFill>
            <a:srgbClr val="D98A0B"/>
          </a:solidFill>
          <a:ln w="12700">
            <a:solidFill>
              <a:srgbClr val="D98A0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099048" y="299008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D98A0B"/>
          </a:solidFill>
          <a:ln w="12700">
            <a:solidFill>
              <a:srgbClr val="D98A0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609" y="3086649"/>
            <a:ext cx="209215" cy="20921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099048" y="34564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is metered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099048" y="373075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users hit a real 'aha', then upgrade. Skill usage maps cleanly to tier revenue.</a:t>
            </a:r>
            <a:endParaRPr lang="en-US" sz="880" dirty="0"/>
          </a:p>
        </p:txBody>
      </p:sp>
      <p:sp>
        <p:nvSpPr>
          <p:cNvPr id="26" name="Text 21"/>
          <p:cNvSpPr/>
          <p:nvPr/>
        </p:nvSpPr>
        <p:spPr>
          <a:xfrm>
            <a:off x="502920" y="464515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NorthStar metric: Active Households per Week (AHpW) — a household with 2+ members active in 7 days.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16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horizons. Layers built in order.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horizon adds depth before width. We do not start the next until the prior one has shipped and shown signal.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0200"/>
            <a:ext cx="1901952" cy="3063240"/>
          </a:xfrm>
          <a:prstGeom prst="roundRect">
            <a:avLst>
              <a:gd name="adj" fmla="val 2885"/>
            </a:avLst>
          </a:prstGeom>
          <a:solidFill>
            <a:srgbClr val="0F1424"/>
          </a:solidFill>
          <a:ln w="9525">
            <a:solidFill>
              <a:srgbClr val="19D3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00200"/>
            <a:ext cx="1901952" cy="457200"/>
          </a:xfrm>
          <a:prstGeom prst="rect">
            <a:avLst/>
          </a:prstGeom>
          <a:solidFill>
            <a:srgbClr val="19D3C3"/>
          </a:solidFill>
          <a:ln w="12700">
            <a:solidFill>
              <a:srgbClr val="19D3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63677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0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16642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0–4 months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213969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Conversational MVP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5968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b="1" spc="50" kern="0" dirty="0">
                <a:solidFill>
                  <a:srgbClr val="19D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+ AI/SKILLS + CONVERSATIONAL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21792" y="2944368"/>
            <a:ext cx="1664208" cy="0"/>
          </a:xfrm>
          <a:prstGeom prst="line">
            <a:avLst/>
          </a:prstGeom>
          <a:noFill/>
          <a:ln w="9525">
            <a:solidFill>
              <a:srgbClr val="232C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035808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9D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7240" y="3017520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migration (Postgres + RLS)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1792" y="3547872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9D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" y="3529584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logging + lookups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1792" y="4059936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9D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77240" y="4041648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skill (find the leaks)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46604" y="1600200"/>
            <a:ext cx="1901952" cy="3063240"/>
          </a:xfrm>
          <a:prstGeom prst="roundRect">
            <a:avLst>
              <a:gd name="adj" fmla="val 2885"/>
            </a:avLst>
          </a:prstGeom>
          <a:solidFill>
            <a:srgbClr val="0F1424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46604" y="1600200"/>
            <a:ext cx="1901952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65476" y="163677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0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095244" y="16642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4–9 months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65476" y="213969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Engine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65476" y="25968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b="1" spc="5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+ ANALYTICS + EXPERIMENTS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665476" y="2944368"/>
            <a:ext cx="1664208" cy="0"/>
          </a:xfrm>
          <a:prstGeom prst="line">
            <a:avLst/>
          </a:prstGeom>
          <a:noFill/>
          <a:ln w="9525">
            <a:solidFill>
              <a:srgbClr val="232C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65476" y="3035808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820924" y="3017520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skills &amp; entitlement gating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665476" y="3547872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820924" y="3529584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'what-if' simulation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665476" y="4059936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820924" y="4041648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+ analytics layer live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90288" y="1600200"/>
            <a:ext cx="1901952" cy="3063240"/>
          </a:xfrm>
          <a:prstGeom prst="roundRect">
            <a:avLst>
              <a:gd name="adj" fmla="val 2885"/>
            </a:avLst>
          </a:prstGeom>
          <a:solidFill>
            <a:srgbClr val="0F1424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90288" y="1600200"/>
            <a:ext cx="1901952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163677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0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138928" y="16642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9–16 months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09160" y="213969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Engagement Flywheel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09160" y="25968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b="1" spc="5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+ EDTECH EXPANSION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4709160" y="2944368"/>
            <a:ext cx="1664208" cy="0"/>
          </a:xfrm>
          <a:prstGeom prst="line">
            <a:avLst/>
          </a:prstGeom>
          <a:noFill/>
          <a:ln w="9525">
            <a:solidFill>
              <a:srgbClr val="232C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035808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64608" y="3017520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Finflow Kids / youth profiles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09160" y="3547872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64608" y="3529584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 &amp; habit loops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09160" y="4059936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64608" y="4041648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Multi-user household depth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633972" y="1600200"/>
            <a:ext cx="1901952" cy="3063240"/>
          </a:xfrm>
          <a:prstGeom prst="roundRect">
            <a:avLst>
              <a:gd name="adj" fmla="val 2885"/>
            </a:avLst>
          </a:prstGeom>
          <a:solidFill>
            <a:srgbClr val="0F1424"/>
          </a:solidFill>
          <a:ln w="9525">
            <a:solidFill>
              <a:srgbClr val="35D07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33972" y="1600200"/>
            <a:ext cx="1901952" cy="457200"/>
          </a:xfrm>
          <a:prstGeom prst="rect">
            <a:avLst/>
          </a:prstGeom>
          <a:solidFill>
            <a:srgbClr val="35D07A"/>
          </a:solidFill>
          <a:ln w="12700">
            <a:solidFill>
              <a:srgbClr val="35D0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52844" y="163677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0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182612" y="16642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months +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752844" y="213969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Open Platform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752844" y="25968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680" b="1" spc="50" kern="0" dirty="0">
                <a:solidFill>
                  <a:srgbClr val="35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SURFACE + SECURITY HARDENING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6752844" y="2944368"/>
            <a:ext cx="1664208" cy="0"/>
          </a:xfrm>
          <a:prstGeom prst="line">
            <a:avLst/>
          </a:prstGeom>
          <a:noFill/>
          <a:ln w="9525">
            <a:solidFill>
              <a:srgbClr val="232C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52844" y="3035808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5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908292" y="3017520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tools for agent handshakes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752844" y="3547872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5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908292" y="3529584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SOC2 posture · DR maturity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752844" y="4059936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5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908292" y="4041648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Cross-app financial capability</a:t>
            </a:r>
            <a:endParaRPr lang="en-US" sz="800" dirty="0"/>
          </a:p>
        </p:txBody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3017520"/>
            <a:ext cx="164592" cy="164592"/>
          </a:xfrm>
          <a:prstGeom prst="rect">
            <a:avLst/>
          </a:prstGeom>
        </p:spPr>
      </p:pic>
      <p:pic>
        <p:nvPicPr>
          <p:cNvPr id="5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3017520"/>
            <a:ext cx="164592" cy="164592"/>
          </a:xfrm>
          <a:prstGeom prst="rect">
            <a:avLst/>
          </a:prstGeom>
        </p:spPr>
      </p:pic>
      <p:pic>
        <p:nvPicPr>
          <p:cNvPr id="6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3017520"/>
            <a:ext cx="164592" cy="164592"/>
          </a:xfrm>
          <a:prstGeom prst="rect">
            <a:avLst/>
          </a:prstGeom>
        </p:spPr>
      </p:pic>
      <p:sp>
        <p:nvSpPr>
          <p:cNvPr id="61" name="Text 56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16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 · THE MVP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conversational MVP: 16 weeks.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one thing — that people will talk to FinFlow instead of filling a form, and that it answers truthfully.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EA8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 · THE MINIMUM THAT PROVES THE THESIS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39776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965960"/>
            <a:ext cx="54864" cy="731520"/>
          </a:xfrm>
          <a:prstGeom prst="rect">
            <a:avLst/>
          </a:prstGeom>
          <a:solidFill>
            <a:srgbClr val="2F7AD6"/>
          </a:solidFill>
          <a:ln w="12700">
            <a:solidFill>
              <a:srgbClr val="2F7A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3911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foundation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7512" y="2276856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+ RLS + the clean data model. Non-negotiable base.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965960"/>
            <a:ext cx="39776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965960"/>
            <a:ext cx="54864" cy="731520"/>
          </a:xfrm>
          <a:prstGeom prst="rect">
            <a:avLst/>
          </a:prstGeom>
          <a:solidFill>
            <a:srgbClr val="0EA89B"/>
          </a:solidFill>
          <a:ln w="12700">
            <a:solidFill>
              <a:srgbClr val="0EA8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203911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Conversational logging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28032" y="2276856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“Spent 45 on fuel” → parsed transaction. The chore-killer.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807208"/>
            <a:ext cx="39776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807208"/>
            <a:ext cx="54864" cy="731520"/>
          </a:xfrm>
          <a:prstGeom prst="rect">
            <a:avLst/>
          </a:prstGeom>
          <a:solidFill>
            <a:srgbClr val="0EA89B"/>
          </a:solidFill>
          <a:ln w="12700">
            <a:solidFill>
              <a:srgbClr val="0EA8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88036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A: Lookups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7512" y="311810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much on dining this month?” — deterministic Text-to-SQL.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807208"/>
            <a:ext cx="39776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807208"/>
            <a:ext cx="54864" cy="731520"/>
          </a:xfrm>
          <a:prstGeom prst="rect">
            <a:avLst/>
          </a:prstGeom>
          <a:solidFill>
            <a:srgbClr val="7C5CDB"/>
          </a:solidFill>
          <a:ln w="12700">
            <a:solidFill>
              <a:srgbClr val="7C5C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88036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B: Diagnostics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28032" y="311810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am I low?” — anomaly + subscription-leak detection.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" y="3703320"/>
            <a:ext cx="3977640" cy="1005840"/>
          </a:xfrm>
          <a:prstGeom prst="roundRect">
            <a:avLst>
              <a:gd name="adj" fmla="val 4545"/>
            </a:avLst>
          </a:prstGeom>
          <a:solidFill>
            <a:srgbClr val="FBE9EA"/>
          </a:solidFill>
          <a:ln w="9525">
            <a:solidFill>
              <a:srgbClr val="DC43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7947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4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EXPLICITLY OUT OF MVP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8368" y="3986784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0E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simulation · tiered billing · A/B engine · Finflow Kids · MCP. All real — all later. The MVP proves talk-to-log first.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4690872" y="3703320"/>
            <a:ext cx="3950208" cy="1005840"/>
          </a:xfrm>
          <a:prstGeom prst="roundRect">
            <a:avLst>
              <a:gd name="adj" fmla="val 4545"/>
            </a:avLst>
          </a:prstGeom>
          <a:solidFill>
            <a:srgbClr val="E7F6F4"/>
          </a:solidFill>
          <a:ln w="9525">
            <a:solidFill>
              <a:srgbClr val="0EA89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7947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7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SUCCESS = GO SIGNAL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46320" y="3986784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0E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40%+ of logs happen via chat · assistant answer accuracy &gt;95% · D30 retention beats the v6 baseline by 10pts.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16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first 1,000 users arrive.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2-person team cannot out-spend anyone. GTM has to be earned reach, narrow wedges, and a product that markets itself.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45920"/>
            <a:ext cx="2560320" cy="2148840"/>
          </a:xfrm>
          <a:prstGeom prst="roundRect">
            <a:avLst>
              <a:gd name="adj" fmla="val 2553"/>
            </a:avLst>
          </a:prstGeom>
          <a:solidFill>
            <a:srgbClr val="0F1424"/>
          </a:solidFill>
          <a:ln w="9525">
            <a:solidFill>
              <a:srgbClr val="19D3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45920"/>
            <a:ext cx="2560320" cy="64008"/>
          </a:xfrm>
          <a:prstGeom prst="rect">
            <a:avLst/>
          </a:prstGeom>
          <a:solidFill>
            <a:srgbClr val="19D3C3"/>
          </a:solidFill>
          <a:ln w="12700">
            <a:solidFill>
              <a:srgbClr val="19D3C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" y="1792224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19D3C3"/>
          </a:solidFill>
          <a:ln w="12700">
            <a:solidFill>
              <a:srgbClr val="19D3C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396" y="1884396"/>
            <a:ext cx="199705" cy="19970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6424" y="181051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9D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06424" y="19751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persona, one pain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9224" y="2340864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to SMB founders / freelancers — the persona that feels cash-flow pain daily and will pay for a fractional-CFO answer.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27832" y="1645920"/>
            <a:ext cx="2560320" cy="2148840"/>
          </a:xfrm>
          <a:prstGeom prst="roundRect">
            <a:avLst>
              <a:gd name="adj" fmla="val 2553"/>
            </a:avLst>
          </a:prstGeom>
          <a:solidFill>
            <a:srgbClr val="0F1424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27832" y="1645920"/>
            <a:ext cx="25603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74136" y="1792224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308" y="1884396"/>
            <a:ext cx="199705" cy="19970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31336" y="181051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831336" y="19751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demo IS the pitch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3374136" y="2340864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20-second clip: type one sentence, get a true answer. Conversational logging demos itself — ship it as the hero asset.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952744" y="1645920"/>
            <a:ext cx="2560320" cy="2148840"/>
          </a:xfrm>
          <a:prstGeom prst="roundRect">
            <a:avLst>
              <a:gd name="adj" fmla="val 2553"/>
            </a:avLst>
          </a:prstGeom>
          <a:solidFill>
            <a:srgbClr val="0F1424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952744" y="1645920"/>
            <a:ext cx="256032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099048" y="1792224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20" y="1884396"/>
            <a:ext cx="199705" cy="19970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556248" y="181051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6556248" y="19751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Household &amp; referral pull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6099048" y="2340864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account invites a partner; every SMB has a co-founder. Multi-user is the built-in referral engine — no ad spend.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502920" y="3950208"/>
            <a:ext cx="8138160" cy="841248"/>
          </a:xfrm>
          <a:prstGeom prst="roundRect">
            <a:avLst>
              <a:gd name="adj" fmla="val 5435"/>
            </a:avLst>
          </a:prstGeom>
          <a:solidFill>
            <a:srgbClr val="171E33"/>
          </a:solidFill>
          <a:ln w="9525">
            <a:solidFill>
              <a:srgbClr val="1FA855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169664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188720" y="407822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5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H3 WEDGE · EDTECH &amp; YOUTH FINANCE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88720" y="42793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Finflow Kids opens a second front: partner with finance-literacy programs (e.g. National Finance Olympiad) so schools become a distribution channel. A child who learns money on FinFlow is a 20-year customer. Powerful — but a Horizon 3 move, not a launch channel.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16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 tells us if it's working.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no analytics team, feedback has to be instrumented into the platform itself — the Experiments and Analytics layers earn their place here.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37360"/>
            <a:ext cx="190195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865376"/>
            <a:ext cx="384048" cy="384048"/>
          </a:xfrm>
          <a:prstGeom prst="oval">
            <a:avLst/>
          </a:prstGeom>
          <a:solidFill>
            <a:srgbClr val="2F7AD6"/>
          </a:solidFill>
          <a:ln w="12700">
            <a:solidFill>
              <a:srgbClr val="2F7A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88366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234086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615184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assistant turn, skill call, and upsell view is an event. Tagged by tier and cohort.</a:t>
            </a:r>
            <a:endParaRPr lang="en-US" sz="83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2468880"/>
            <a:ext cx="164592" cy="16459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546604" y="1737360"/>
            <a:ext cx="190195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65476" y="1865376"/>
            <a:ext cx="384048" cy="384048"/>
          </a:xfrm>
          <a:prstGeom prst="oval">
            <a:avLst/>
          </a:prstGeom>
          <a:solidFill>
            <a:srgbClr val="0EA89B"/>
          </a:solidFill>
          <a:ln w="12700">
            <a:solidFill>
              <a:srgbClr val="0EA89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65476" y="188366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665476" y="234086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665476" y="2615184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layer surfaces it: where users drop, which skills land, what costs too much.</a:t>
            </a:r>
            <a:endParaRPr lang="en-US" sz="83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844" y="2468880"/>
            <a:ext cx="164592" cy="16459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590288" y="1737360"/>
            <a:ext cx="190195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09160" y="1865376"/>
            <a:ext cx="384048" cy="384048"/>
          </a:xfrm>
          <a:prstGeom prst="oval">
            <a:avLst/>
          </a:prstGeom>
          <a:solidFill>
            <a:srgbClr val="7C5CDB"/>
          </a:solidFill>
          <a:ln w="12700">
            <a:solidFill>
              <a:srgbClr val="7C5CD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09160" y="188366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709160" y="234086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709160" y="2615184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experiments: a quant signal (low usage) triggers a qual prompt ('what's missing?').</a:t>
            </a:r>
            <a:endParaRPr lang="en-US" sz="83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468880"/>
            <a:ext cx="164592" cy="164592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633972" y="1737360"/>
            <a:ext cx="190195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752844" y="1865376"/>
            <a:ext cx="384048" cy="384048"/>
          </a:xfrm>
          <a:prstGeom prst="oval">
            <a:avLst/>
          </a:prstGeom>
          <a:solidFill>
            <a:srgbClr val="D98A0B"/>
          </a:solidFill>
          <a:ln w="12700">
            <a:solidFill>
              <a:srgbClr val="D98A0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752844" y="188366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752844" y="234086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 &amp; ship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752844" y="2615184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the fix. Winner ships. Loser informs the next hypothesis. Repeat weekly.</a:t>
            </a:r>
            <a:endParaRPr lang="en-US" sz="830" dirty="0"/>
          </a:p>
        </p:txBody>
      </p:sp>
      <p:sp>
        <p:nvSpPr>
          <p:cNvPr id="29" name="Shape 24"/>
          <p:cNvSpPr/>
          <p:nvPr/>
        </p:nvSpPr>
        <p:spPr>
          <a:xfrm>
            <a:off x="502920" y="3657600"/>
            <a:ext cx="8138160" cy="1051560"/>
          </a:xfrm>
          <a:prstGeom prst="roundRect">
            <a:avLst>
              <a:gd name="adj" fmla="val 4348"/>
            </a:avLst>
          </a:prstGeom>
          <a:solidFill>
            <a:srgbClr val="EDE9FB"/>
          </a:solidFill>
          <a:ln w="7620">
            <a:solidFill>
              <a:srgbClr val="7C5CDB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76656" y="3749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C5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FEEDBACK MODES — ALL RUN ON THE SAME EVENT STREAM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76656" y="398678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676656" y="41879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tests, funnels, retention curves — metric truth at scale.</a:t>
            </a:r>
            <a:endParaRPr lang="en-US" sz="830" dirty="0"/>
          </a:p>
        </p:txBody>
      </p:sp>
      <p:sp>
        <p:nvSpPr>
          <p:cNvPr id="33" name="Text 28"/>
          <p:cNvSpPr/>
          <p:nvPr/>
        </p:nvSpPr>
        <p:spPr>
          <a:xfrm>
            <a:off x="3374136" y="398678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3374136" y="41879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micro-surveys, assistant-transcript reviews — the 'why'.</a:t>
            </a:r>
            <a:endParaRPr lang="en-US" sz="830" dirty="0"/>
          </a:p>
        </p:txBody>
      </p:sp>
      <p:sp>
        <p:nvSpPr>
          <p:cNvPr id="35" name="Text 30"/>
          <p:cNvSpPr/>
          <p:nvPr/>
        </p:nvSpPr>
        <p:spPr>
          <a:xfrm>
            <a:off x="6071616" y="398678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6071616" y="41879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 flag auto-triggers a qual probe — e.g. churn-risk → exit interview.</a:t>
            </a:r>
            <a:endParaRPr lang="en-US" sz="830" dirty="0"/>
          </a:p>
        </p:txBody>
      </p:sp>
      <p:sp>
        <p:nvSpPr>
          <p:cNvPr id="37" name="Text 32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16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COMMERCIAL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tiers. Each one a clear upgrade trigger.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map to price. A user upgrades not because we ask, but because they hit a wall the next tier removes.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27632"/>
            <a:ext cx="1901952" cy="2743200"/>
          </a:xfrm>
          <a:prstGeom prst="roundRect">
            <a:avLst>
              <a:gd name="adj" fmla="val 2885"/>
            </a:avLst>
          </a:prstGeom>
          <a:solidFill>
            <a:srgbClr val="0F1424"/>
          </a:solidFill>
          <a:ln w="9525">
            <a:solidFill>
              <a:srgbClr val="1FA8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27632"/>
            <a:ext cx="1901952" cy="64008"/>
          </a:xfrm>
          <a:prstGeom prst="rect">
            <a:avLst/>
          </a:prstGeom>
          <a:solidFill>
            <a:srgbClr val="1FA855"/>
          </a:solidFill>
          <a:ln w="12700">
            <a:solidFill>
              <a:srgbClr val="1FA8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8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Freemium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0936" y="201168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0936" y="235915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 trackers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630936" y="2615184"/>
            <a:ext cx="1645920" cy="0"/>
          </a:xfrm>
          <a:prstGeom prst="line">
            <a:avLst/>
          </a:prstGeom>
          <a:noFill/>
          <a:ln w="9525">
            <a:solidFill>
              <a:srgbClr val="232C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267004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spc="100" kern="0" dirty="0">
                <a:solidFill>
                  <a:srgbClr val="1FA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UNLOCKS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630936" y="281635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logging + basic lookups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630936" y="341985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spc="100" kern="0" dirty="0">
                <a:solidFill>
                  <a:srgbClr val="1FA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TRIGGER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630936" y="3566160"/>
            <a:ext cx="1691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Hits the 30-query/month cap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546604" y="1627632"/>
            <a:ext cx="1901952" cy="2743200"/>
          </a:xfrm>
          <a:prstGeom prst="roundRect">
            <a:avLst>
              <a:gd name="adj" fmla="val 2885"/>
            </a:avLst>
          </a:prstGeom>
          <a:solidFill>
            <a:srgbClr val="0F1424"/>
          </a:solidFill>
          <a:ln w="9525">
            <a:solidFill>
              <a:srgbClr val="2F7A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46604" y="1627632"/>
            <a:ext cx="1901952" cy="64008"/>
          </a:xfrm>
          <a:prstGeom prst="rect">
            <a:avLst/>
          </a:prstGeom>
          <a:solidFill>
            <a:srgbClr val="2F7AD6"/>
          </a:solidFill>
          <a:ln w="12700">
            <a:solidFill>
              <a:srgbClr val="2F7A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74620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7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674620" y="201168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£6–9/mo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674620" y="235915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budgeters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674620" y="2615184"/>
            <a:ext cx="1645920" cy="0"/>
          </a:xfrm>
          <a:prstGeom prst="line">
            <a:avLst/>
          </a:prstGeom>
          <a:noFill/>
          <a:ln w="9525">
            <a:solidFill>
              <a:srgbClr val="232C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4620" y="267004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spc="100" kern="0" dirty="0">
                <a:solidFill>
                  <a:srgbClr val="2F7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UNLOCKS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2674620" y="281635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Diagnostics — finds hidden money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2674620" y="341985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spc="100" kern="0" dirty="0">
                <a:solidFill>
                  <a:srgbClr val="2F7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TRIGGER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2674620" y="3566160"/>
            <a:ext cx="1691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to know WHY, not just what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4590288" y="1627632"/>
            <a:ext cx="1901952" cy="2743200"/>
          </a:xfrm>
          <a:prstGeom prst="roundRect">
            <a:avLst>
              <a:gd name="adj" fmla="val 2885"/>
            </a:avLst>
          </a:prstGeom>
          <a:solidFill>
            <a:srgbClr val="0F1424"/>
          </a:solidFill>
          <a:ln w="9525">
            <a:solidFill>
              <a:srgbClr val="7C5C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90288" y="1627632"/>
            <a:ext cx="1901952" cy="64008"/>
          </a:xfrm>
          <a:prstGeom prst="rect">
            <a:avLst/>
          </a:prstGeom>
          <a:solidFill>
            <a:srgbClr val="7C5CDB"/>
          </a:solidFill>
          <a:ln w="12700">
            <a:solidFill>
              <a:srgbClr val="7C5C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18304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5C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718304" y="201168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£12–15/mo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18304" y="235915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Families &amp; couples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4718304" y="2615184"/>
            <a:ext cx="1645920" cy="0"/>
          </a:xfrm>
          <a:prstGeom prst="line">
            <a:avLst/>
          </a:prstGeom>
          <a:noFill/>
          <a:ln w="9525">
            <a:solidFill>
              <a:srgbClr val="232C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18304" y="267004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spc="100" kern="0" dirty="0">
                <a:solidFill>
                  <a:srgbClr val="7C5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UNLOCKS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4718304" y="281635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splits + kid profiles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4718304" y="341985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spc="100" kern="0" dirty="0">
                <a:solidFill>
                  <a:srgbClr val="7C5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TRIGGER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4718304" y="3566160"/>
            <a:ext cx="1691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household member joins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633972" y="1627632"/>
            <a:ext cx="1901952" cy="2743200"/>
          </a:xfrm>
          <a:prstGeom prst="roundRect">
            <a:avLst>
              <a:gd name="adj" fmla="val 2885"/>
            </a:avLst>
          </a:prstGeom>
          <a:solidFill>
            <a:srgbClr val="0F1424"/>
          </a:solidFill>
          <a:ln w="9525">
            <a:solidFill>
              <a:srgbClr val="D98A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33972" y="1627632"/>
            <a:ext cx="1901952" cy="64008"/>
          </a:xfrm>
          <a:prstGeom prst="rect">
            <a:avLst/>
          </a:prstGeom>
          <a:solidFill>
            <a:srgbClr val="D98A0B"/>
          </a:solidFill>
          <a:ln w="12700">
            <a:solidFill>
              <a:srgbClr val="D98A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1988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8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761988" y="201168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£25–40/mo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761988" y="235915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&amp; freelancers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6761988" y="2615184"/>
            <a:ext cx="1645920" cy="0"/>
          </a:xfrm>
          <a:prstGeom prst="line">
            <a:avLst/>
          </a:prstGeom>
          <a:noFill/>
          <a:ln w="9525">
            <a:solidFill>
              <a:srgbClr val="232C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1988" y="267004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spc="100" kern="0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UNLOCKS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6761988" y="281635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runway + tax reserve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6761988" y="341985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spc="100" kern="0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TRIGGER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6761988" y="3566160"/>
            <a:ext cx="1691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 'what-if' before deciding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502920" y="4517136"/>
            <a:ext cx="8138160" cy="365760"/>
          </a:xfrm>
          <a:prstGeom prst="roundRect">
            <a:avLst>
              <a:gd name="adj" fmla="val 10000"/>
            </a:avLst>
          </a:prstGeom>
          <a:solidFill>
            <a:srgbClr val="171E33"/>
          </a:solidFill>
          <a:ln w="7620">
            <a:solidFill>
              <a:srgbClr val="D98A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" y="455371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Unit-economics rule:  </a:t>
            </a:r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high-compute skills (predictive, OCR) never sit in free tiers — token cost would sink the model. Price follows compute.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16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DIMENSION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that only a platform can ship.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layers exist, these become possible — each one compounds the others. Sequenced across horizons, not all at once.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37360"/>
            <a:ext cx="256032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37360"/>
            <a:ext cx="2560320" cy="54864"/>
          </a:xfrm>
          <a:prstGeom prst="rect">
            <a:avLst/>
          </a:prstGeom>
          <a:solidFill>
            <a:srgbClr val="D98A0B"/>
          </a:solidFill>
          <a:ln w="12700">
            <a:solidFill>
              <a:srgbClr val="D98A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883664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D98A0B"/>
          </a:solidFill>
          <a:ln w="12700">
            <a:solidFill>
              <a:srgbClr val="D98A0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29" y="1967057"/>
            <a:ext cx="180685" cy="18068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587752" y="1883664"/>
            <a:ext cx="365760" cy="219456"/>
          </a:xfrm>
          <a:prstGeom prst="roundRect">
            <a:avLst>
              <a:gd name="adj" fmla="val 12500"/>
            </a:avLst>
          </a:prstGeom>
          <a:solidFill>
            <a:srgbClr val="D98A0B"/>
          </a:solidFill>
          <a:ln w="12700">
            <a:solidFill>
              <a:srgbClr val="D98A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87752" y="18928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051560" y="190195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Fractional CFO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30936" y="230428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runway, tax-reserve calc, invoice-delay simulation for SMBs.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3227832" y="1737360"/>
            <a:ext cx="256032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27832" y="1737360"/>
            <a:ext cx="2560320" cy="54864"/>
          </a:xfrm>
          <a:prstGeom prst="rect">
            <a:avLst/>
          </a:prstGeom>
          <a:solidFill>
            <a:srgbClr val="0EA89B"/>
          </a:solidFill>
          <a:ln w="12700">
            <a:solidFill>
              <a:srgbClr val="0EA89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55848" y="1883664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0EA89B"/>
          </a:solidFill>
          <a:ln w="12700">
            <a:solidFill>
              <a:srgbClr val="0EA89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241" y="1967057"/>
            <a:ext cx="180685" cy="18068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312664" y="1883664"/>
            <a:ext cx="365760" cy="219456"/>
          </a:xfrm>
          <a:prstGeom prst="roundRect">
            <a:avLst>
              <a:gd name="adj" fmla="val 12500"/>
            </a:avLst>
          </a:prstGeom>
          <a:solidFill>
            <a:srgbClr val="0EA89B"/>
          </a:solidFill>
          <a:ln w="12700">
            <a:solidFill>
              <a:srgbClr val="0EA89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312664" y="18928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3776472" y="190195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Compounding Visualizer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355848" y="230428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a £5 coffee → see the 5-year index-fund number, live.</a:t>
            </a:r>
            <a:endParaRPr lang="en-US" sz="830" dirty="0"/>
          </a:p>
        </p:txBody>
      </p:sp>
      <p:sp>
        <p:nvSpPr>
          <p:cNvPr id="22" name="Shape 18"/>
          <p:cNvSpPr/>
          <p:nvPr/>
        </p:nvSpPr>
        <p:spPr>
          <a:xfrm>
            <a:off x="5952744" y="1737360"/>
            <a:ext cx="256032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952744" y="1737360"/>
            <a:ext cx="2560320" cy="54864"/>
          </a:xfrm>
          <a:prstGeom prst="rect">
            <a:avLst/>
          </a:prstGeom>
          <a:solidFill>
            <a:srgbClr val="7C5CDB"/>
          </a:solidFill>
          <a:ln w="12700">
            <a:solidFill>
              <a:srgbClr val="7C5CD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080760" y="1883664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7C5CDB"/>
          </a:solidFill>
          <a:ln w="12700">
            <a:solidFill>
              <a:srgbClr val="7C5CDB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153" y="1967057"/>
            <a:ext cx="180685" cy="180685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8037576" y="1883664"/>
            <a:ext cx="365760" cy="219456"/>
          </a:xfrm>
          <a:prstGeom prst="roundRect">
            <a:avLst>
              <a:gd name="adj" fmla="val 12500"/>
            </a:avLst>
          </a:prstGeom>
          <a:solidFill>
            <a:srgbClr val="7C5CDB"/>
          </a:solidFill>
          <a:ln w="12700">
            <a:solidFill>
              <a:srgbClr val="7C5CD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037576" y="18928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6501384" y="190195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Finflow Kids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080760" y="230428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sub-profiles, allowance jars, goal-matched parental contributions.</a:t>
            </a:r>
            <a:endParaRPr lang="en-US" sz="830" dirty="0"/>
          </a:p>
        </p:txBody>
      </p:sp>
      <p:sp>
        <p:nvSpPr>
          <p:cNvPr id="30" name="Shape 25"/>
          <p:cNvSpPr/>
          <p:nvPr/>
        </p:nvSpPr>
        <p:spPr>
          <a:xfrm>
            <a:off x="502920" y="3154680"/>
            <a:ext cx="256032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502920" y="3154680"/>
            <a:ext cx="2560320" cy="54864"/>
          </a:xfrm>
          <a:prstGeom prst="rect">
            <a:avLst/>
          </a:prstGeom>
          <a:solidFill>
            <a:srgbClr val="2F7AD6"/>
          </a:solidFill>
          <a:ln w="12700">
            <a:solidFill>
              <a:srgbClr val="2F7AD6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30936" y="3300984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2F7AD6"/>
          </a:solidFill>
          <a:ln w="12700">
            <a:solidFill>
              <a:srgbClr val="2F7AD6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29" y="3384377"/>
            <a:ext cx="180685" cy="180685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2587752" y="3300984"/>
            <a:ext cx="365760" cy="219456"/>
          </a:xfrm>
          <a:prstGeom prst="roundRect">
            <a:avLst>
              <a:gd name="adj" fmla="val 12500"/>
            </a:avLst>
          </a:prstGeom>
          <a:solidFill>
            <a:srgbClr val="2F7AD6"/>
          </a:solidFill>
          <a:ln w="12700">
            <a:solidFill>
              <a:srgbClr val="2F7AD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2587752" y="331012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1051560" y="331927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Junior Boardroom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630936" y="372160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owners' kids see a simplified, real-data cash-flow sandbox.</a:t>
            </a:r>
            <a:endParaRPr lang="en-US" sz="830" dirty="0"/>
          </a:p>
        </p:txBody>
      </p:sp>
      <p:sp>
        <p:nvSpPr>
          <p:cNvPr id="38" name="Shape 32"/>
          <p:cNvSpPr/>
          <p:nvPr/>
        </p:nvSpPr>
        <p:spPr>
          <a:xfrm>
            <a:off x="3227832" y="3154680"/>
            <a:ext cx="256032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3227832" y="3154680"/>
            <a:ext cx="2560320" cy="54864"/>
          </a:xfrm>
          <a:prstGeom prst="rect">
            <a:avLst/>
          </a:prstGeom>
          <a:solidFill>
            <a:srgbClr val="1FA855"/>
          </a:solidFill>
          <a:ln w="12700">
            <a:solidFill>
              <a:srgbClr val="1FA855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3355848" y="3300984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1FA855"/>
          </a:solidFill>
          <a:ln w="12700">
            <a:solidFill>
              <a:srgbClr val="1FA855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9241" y="3384377"/>
            <a:ext cx="180685" cy="180685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5312664" y="3300984"/>
            <a:ext cx="365760" cy="219456"/>
          </a:xfrm>
          <a:prstGeom prst="roundRect">
            <a:avLst>
              <a:gd name="adj" fmla="val 12500"/>
            </a:avLst>
          </a:prstGeom>
          <a:solidFill>
            <a:srgbClr val="1FA855"/>
          </a:solidFill>
          <a:ln w="12700">
            <a:solidFill>
              <a:srgbClr val="1FA855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5312664" y="331012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</a:t>
            </a:r>
            <a:endParaRPr lang="en-US" sz="750" dirty="0"/>
          </a:p>
        </p:txBody>
      </p:sp>
      <p:sp>
        <p:nvSpPr>
          <p:cNvPr id="44" name="Text 37"/>
          <p:cNvSpPr/>
          <p:nvPr/>
        </p:nvSpPr>
        <p:spPr>
          <a:xfrm>
            <a:off x="3776472" y="331927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Handshakes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3355848" y="372160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tools — a travel app checks affordability before it sells.</a:t>
            </a:r>
            <a:endParaRPr lang="en-US" sz="830" dirty="0"/>
          </a:p>
        </p:txBody>
      </p:sp>
      <p:sp>
        <p:nvSpPr>
          <p:cNvPr id="46" name="Shape 39"/>
          <p:cNvSpPr/>
          <p:nvPr/>
        </p:nvSpPr>
        <p:spPr>
          <a:xfrm>
            <a:off x="5952744" y="3154680"/>
            <a:ext cx="256032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0"/>
          <p:cNvSpPr/>
          <p:nvPr/>
        </p:nvSpPr>
        <p:spPr>
          <a:xfrm>
            <a:off x="5952744" y="3154680"/>
            <a:ext cx="2560320" cy="54864"/>
          </a:xfrm>
          <a:prstGeom prst="rect">
            <a:avLst/>
          </a:prstGeom>
          <a:solidFill>
            <a:srgbClr val="DC4356"/>
          </a:solidFill>
          <a:ln w="12700">
            <a:solidFill>
              <a:srgbClr val="DC4356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6080760" y="3300984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DC4356"/>
          </a:solidFill>
          <a:ln w="12700">
            <a:solidFill>
              <a:srgbClr val="DC4356"/>
            </a:solidFill>
            <a:prstDash val="solid"/>
          </a:ln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4153" y="3384377"/>
            <a:ext cx="180685" cy="180685"/>
          </a:xfrm>
          <a:prstGeom prst="rect">
            <a:avLst/>
          </a:prstGeom>
        </p:spPr>
      </p:pic>
      <p:sp>
        <p:nvSpPr>
          <p:cNvPr id="50" name="Shape 42"/>
          <p:cNvSpPr/>
          <p:nvPr/>
        </p:nvSpPr>
        <p:spPr>
          <a:xfrm>
            <a:off x="8037576" y="3300984"/>
            <a:ext cx="365760" cy="219456"/>
          </a:xfrm>
          <a:prstGeom prst="roundRect">
            <a:avLst>
              <a:gd name="adj" fmla="val 12500"/>
            </a:avLst>
          </a:prstGeom>
          <a:solidFill>
            <a:srgbClr val="DC4356"/>
          </a:solidFill>
          <a:ln w="12700">
            <a:solidFill>
              <a:srgbClr val="DC4356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8037576" y="331012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</a:t>
            </a:r>
            <a:endParaRPr lang="en-US" sz="750" dirty="0"/>
          </a:p>
        </p:txBody>
      </p:sp>
      <p:sp>
        <p:nvSpPr>
          <p:cNvPr id="52" name="Text 44"/>
          <p:cNvSpPr/>
          <p:nvPr/>
        </p:nvSpPr>
        <p:spPr>
          <a:xfrm>
            <a:off x="6501384" y="331927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Proactive Assistant</a:t>
            </a:r>
            <a:endParaRPr lang="en-US" sz="1000" dirty="0"/>
          </a:p>
        </p:txBody>
      </p:sp>
      <p:sp>
        <p:nvSpPr>
          <p:cNvPr id="53" name="Text 45"/>
          <p:cNvSpPr/>
          <p:nvPr/>
        </p:nvSpPr>
        <p:spPr>
          <a:xfrm>
            <a:off x="6080760" y="372160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FinFlow speaks first: 'A silent renewal hits Friday — want to cancel?'</a:t>
            </a:r>
            <a:endParaRPr lang="en-US" sz="830" dirty="0"/>
          </a:p>
        </p:txBody>
      </p:sp>
      <p:sp>
        <p:nvSpPr>
          <p:cNvPr id="54" name="Text 46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ORGANIZATION EVOLVES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2 builders to a real company.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roadmap is only credible if the team behind it is mapped. Each hire is triggered by a milestone — not a calendar date.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91056"/>
            <a:ext cx="8138160" cy="621792"/>
          </a:xfrm>
          <a:prstGeom prst="roundRect">
            <a:avLst>
              <a:gd name="adj" fmla="val 5882"/>
            </a:avLst>
          </a:prstGeom>
          <a:solidFill>
            <a:srgbClr val="0F1424"/>
          </a:solidFill>
          <a:ln w="7620">
            <a:solidFill>
              <a:srgbClr val="19D3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91056"/>
            <a:ext cx="64008" cy="621792"/>
          </a:xfrm>
          <a:prstGeom prst="rect">
            <a:avLst/>
          </a:prstGeom>
          <a:solidFill>
            <a:srgbClr val="19D3C3"/>
          </a:solidFill>
          <a:ln w="12700">
            <a:solidFill>
              <a:srgbClr val="19D3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627632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9D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91640" y="162763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founders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0" y="1636776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MVP. One owns product+frontend, one owns backend+data. Wear every other hat.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6629400" y="1636776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502920" y="2304288"/>
            <a:ext cx="8138160" cy="621792"/>
          </a:xfrm>
          <a:prstGeom prst="roundRect">
            <a:avLst>
              <a:gd name="adj" fmla="val 5882"/>
            </a:avLst>
          </a:prstGeom>
          <a:solidFill>
            <a:srgbClr val="171E33"/>
          </a:solidFill>
          <a:ln w="762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304288"/>
            <a:ext cx="64008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340864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POST-MVP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91640" y="2340864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 AI/ML engineer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2350008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quality becomes the product. A specialist owns the skill modules &amp; LLM pipeline.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6629400" y="235000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by: MVP shows the chat thesis holds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502920" y="3017520"/>
            <a:ext cx="8138160" cy="621792"/>
          </a:xfrm>
          <a:prstGeom prst="roundRect">
            <a:avLst>
              <a:gd name="adj" fmla="val 5882"/>
            </a:avLst>
          </a:prstGeom>
          <a:solidFill>
            <a:srgbClr val="0F1424"/>
          </a:solidFill>
          <a:ln w="762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017520"/>
            <a:ext cx="64008" cy="6217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054096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H2–H3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91640" y="3054096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Growth + Design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306324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owns GTM &amp; feedback loops full-time; someone owns the two-surface UX so it stays coherent.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6629400" y="306324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by: paying users + a funding round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8138160" cy="621792"/>
          </a:xfrm>
          <a:prstGeom prst="roundRect">
            <a:avLst>
              <a:gd name="adj" fmla="val 5882"/>
            </a:avLst>
          </a:prstGeom>
          <a:solidFill>
            <a:srgbClr val="171E33"/>
          </a:solidFill>
          <a:ln w="7620">
            <a:solidFill>
              <a:srgbClr val="35D0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730752"/>
            <a:ext cx="64008" cy="621792"/>
          </a:xfrm>
          <a:prstGeom prst="rect">
            <a:avLst/>
          </a:prstGeom>
          <a:solidFill>
            <a:srgbClr val="35D07A"/>
          </a:solidFill>
          <a:ln w="12700">
            <a:solidFill>
              <a:srgbClr val="35D0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767328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5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691640" y="376732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 structure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0" y="3776472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pods per layer-cluster (conversational, platform, growth). Founders move to direction &amp; partnerships.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6629400" y="377647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by: revenue that sustains 8–12 people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502920" y="4572000"/>
            <a:ext cx="8138160" cy="365760"/>
          </a:xfrm>
          <a:prstGeom prst="roundRect">
            <a:avLst>
              <a:gd name="adj" fmla="val 10000"/>
            </a:avLst>
          </a:prstGeom>
          <a:solidFill>
            <a:srgbClr val="171E33"/>
          </a:solidFill>
          <a:ln w="7620">
            <a:solidFill>
              <a:srgbClr val="0EA8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460857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D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hire that matters most:  </a:t>
            </a:r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AI/ML engineer post-MVP. Conversational quality is the product — it cannot stay a side-of-desk task.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16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RISK REGISTER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could break this — and the plan if it does.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813816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71600"/>
            <a:ext cx="64008" cy="585216"/>
          </a:xfrm>
          <a:prstGeom prst="rect">
            <a:avLst/>
          </a:prstGeom>
          <a:solidFill>
            <a:srgbClr val="DC4356"/>
          </a:solidFill>
          <a:ln w="12700">
            <a:solidFill>
              <a:srgbClr val="DC435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63624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0976" y="1417320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cost per user outruns subscription revenue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069080" y="1463040"/>
            <a:ext cx="0" cy="402336"/>
          </a:xfrm>
          <a:prstGeom prst="line">
            <a:avLst/>
          </a:prstGeom>
          <a:noFill/>
          <a:ln w="12700">
            <a:solidFill>
              <a:srgbClr val="E2DE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06240" y="1417320"/>
            <a:ext cx="4343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router sends cheap queries to SQL ($0). Token caps on free tier. Compute-heavy skills gated to paid.</a:t>
            </a:r>
            <a:endParaRPr lang="en-US" sz="840" dirty="0"/>
          </a:p>
        </p:txBody>
      </p:sp>
      <p:sp>
        <p:nvSpPr>
          <p:cNvPr id="11" name="Shape 8"/>
          <p:cNvSpPr/>
          <p:nvPr/>
        </p:nvSpPr>
        <p:spPr>
          <a:xfrm>
            <a:off x="502920" y="2048256"/>
            <a:ext cx="813816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" y="2048256"/>
            <a:ext cx="64008" cy="585216"/>
          </a:xfrm>
          <a:prstGeom prst="rect">
            <a:avLst/>
          </a:prstGeom>
          <a:solidFill>
            <a:srgbClr val="D98A0B"/>
          </a:solidFill>
          <a:ln w="12700">
            <a:solidFill>
              <a:srgbClr val="D98A0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40280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50976" y="2093976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 don't trust an AI with their bank data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069080" y="2139696"/>
            <a:ext cx="0" cy="402336"/>
          </a:xfrm>
          <a:prstGeom prst="line">
            <a:avLst/>
          </a:prstGeom>
          <a:noFill/>
          <a:ln w="12700">
            <a:solidFill>
              <a:srgbClr val="E2DED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06240" y="2093976"/>
            <a:ext cx="4343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ledger stays. PII stripped before any LLM call. 'The assistant phrases, services compute' — said plainly in-product.</a:t>
            </a:r>
            <a:endParaRPr lang="en-US" sz="840" dirty="0"/>
          </a:p>
        </p:txBody>
      </p:sp>
      <p:sp>
        <p:nvSpPr>
          <p:cNvPr id="17" name="Shape 13"/>
          <p:cNvSpPr/>
          <p:nvPr/>
        </p:nvSpPr>
        <p:spPr>
          <a:xfrm>
            <a:off x="502920" y="2724912"/>
            <a:ext cx="813816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2920" y="2724912"/>
            <a:ext cx="64008" cy="585216"/>
          </a:xfrm>
          <a:prstGeom prst="rect">
            <a:avLst/>
          </a:prstGeom>
          <a:solidFill>
            <a:srgbClr val="2F7AD6"/>
          </a:solidFill>
          <a:ln w="12700">
            <a:solidFill>
              <a:srgbClr val="2F7AD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16936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50976" y="2770632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2-person team can't build 9 layers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069080" y="2816352"/>
            <a:ext cx="0" cy="402336"/>
          </a:xfrm>
          <a:prstGeom prst="line">
            <a:avLst/>
          </a:prstGeom>
          <a:noFill/>
          <a:ln w="12700">
            <a:solidFill>
              <a:srgbClr val="E2DED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206240" y="2770632"/>
            <a:ext cx="4343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don't. H1 builds 3 layers. Horizons gate the rest. Each hire is milestone-triggered, not aspirational.</a:t>
            </a:r>
            <a:endParaRPr lang="en-US" sz="840" dirty="0"/>
          </a:p>
        </p:txBody>
      </p:sp>
      <p:sp>
        <p:nvSpPr>
          <p:cNvPr id="23" name="Shape 18"/>
          <p:cNvSpPr/>
          <p:nvPr/>
        </p:nvSpPr>
        <p:spPr>
          <a:xfrm>
            <a:off x="502920" y="3401568"/>
            <a:ext cx="813816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02920" y="3401568"/>
            <a:ext cx="64008" cy="585216"/>
          </a:xfrm>
          <a:prstGeom prst="rect">
            <a:avLst/>
          </a:prstGeom>
          <a:solidFill>
            <a:srgbClr val="7C5CDB"/>
          </a:solidFill>
          <a:ln w="12700">
            <a:solidFill>
              <a:srgbClr val="7C5CDB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593592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50976" y="3447288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Conversational accuracy is wrong even once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069080" y="3493008"/>
            <a:ext cx="0" cy="402336"/>
          </a:xfrm>
          <a:prstGeom prst="line">
            <a:avLst/>
          </a:prstGeom>
          <a:noFill/>
          <a:ln w="12700">
            <a:solidFill>
              <a:srgbClr val="E2DED3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206240" y="3447288"/>
            <a:ext cx="4343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services own every number. The LLM never computes a balance. Accuracy &lt;95% blocks the H1 go-signal.</a:t>
            </a:r>
            <a:endParaRPr lang="en-US" sz="840" dirty="0"/>
          </a:p>
        </p:txBody>
      </p:sp>
      <p:sp>
        <p:nvSpPr>
          <p:cNvPr id="29" name="Shape 23"/>
          <p:cNvSpPr/>
          <p:nvPr/>
        </p:nvSpPr>
        <p:spPr>
          <a:xfrm>
            <a:off x="502920" y="4078224"/>
            <a:ext cx="813816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02920" y="4078224"/>
            <a:ext cx="64008" cy="585216"/>
          </a:xfrm>
          <a:prstGeom prst="rect">
            <a:avLst/>
          </a:prstGeom>
          <a:solidFill>
            <a:srgbClr val="1FA855"/>
          </a:solidFill>
          <a:ln w="12700">
            <a:solidFill>
              <a:srgbClr val="1FA855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270248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50976" y="4123944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acquisition channel — great product, no users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4069080" y="4169664"/>
            <a:ext cx="0" cy="402336"/>
          </a:xfrm>
          <a:prstGeom prst="line">
            <a:avLst/>
          </a:prstGeom>
          <a:noFill/>
          <a:ln w="12700">
            <a:solidFill>
              <a:srgbClr val="E2DED3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206240" y="4123944"/>
            <a:ext cx="4343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SMB wedge first. The demo markets itself. Multi-user is the built-in referral loop. EdTech as the H3 channel.</a:t>
            </a:r>
            <a:endParaRPr lang="en-US" sz="840" dirty="0"/>
          </a:p>
        </p:txBody>
      </p:sp>
      <p:sp>
        <p:nvSpPr>
          <p:cNvPr id="35" name="Text 28"/>
          <p:cNvSpPr/>
          <p:nvPr/>
        </p:nvSpPr>
        <p:spPr>
          <a:xfrm>
            <a:off x="502920" y="482803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is built into the architecture — not bolted on after. That is the point of designing the layers first.</a:t>
            </a:r>
            <a:endParaRPr lang="en-US" sz="850" dirty="0"/>
          </a:p>
        </p:txBody>
      </p:sp>
      <p:sp>
        <p:nvSpPr>
          <p:cNvPr id="36" name="Text 29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·  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90 DAYS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two of us do on Monday.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is worthless without the first concrete sprint. Here is Horizon 1, broken to the first quarter.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91056"/>
            <a:ext cx="8138160" cy="475488"/>
          </a:xfrm>
          <a:prstGeom prst="roundRect">
            <a:avLst>
              <a:gd name="adj" fmla="val 7692"/>
            </a:avLst>
          </a:prstGeom>
          <a:solidFill>
            <a:srgbClr val="0F1424"/>
          </a:solidFill>
          <a:ln w="7620">
            <a:solidFill>
              <a:srgbClr val="5FA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91056"/>
            <a:ext cx="64008" cy="475488"/>
          </a:xfrm>
          <a:prstGeom prst="rect">
            <a:avLst/>
          </a:prstGeom>
          <a:solidFill>
            <a:srgbClr val="5FA8F0"/>
          </a:solidFill>
          <a:ln w="12700">
            <a:solidFill>
              <a:srgbClr val="5FA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618488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A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0" y="161848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foundation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31920" y="1627632"/>
            <a:ext cx="4617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Postgres + RLS. Migrate the v6 data model. Clean merchant-normalisation + category map.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2157984"/>
            <a:ext cx="8138160" cy="475488"/>
          </a:xfrm>
          <a:prstGeom prst="roundRect">
            <a:avLst>
              <a:gd name="adj" fmla="val 7692"/>
            </a:avLst>
          </a:prstGeom>
          <a:solidFill>
            <a:srgbClr val="171E33"/>
          </a:solidFill>
          <a:ln w="7620">
            <a:solidFill>
              <a:srgbClr val="19D3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157984"/>
            <a:ext cx="64008" cy="475488"/>
          </a:xfrm>
          <a:prstGeom prst="rect">
            <a:avLst/>
          </a:prstGeom>
          <a:solidFill>
            <a:srgbClr val="19D3C3"/>
          </a:solidFill>
          <a:ln w="12700">
            <a:solidFill>
              <a:srgbClr val="19D3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2185416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D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4–6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0" y="218541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gaps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931920" y="2194560"/>
            <a:ext cx="4617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subscription registry &amp; baseline-delta engine. The data the assistant needs to be accurate.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724912"/>
            <a:ext cx="8138160" cy="475488"/>
          </a:xfrm>
          <a:prstGeom prst="roundRect">
            <a:avLst>
              <a:gd name="adj" fmla="val 7692"/>
            </a:avLst>
          </a:prstGeom>
          <a:solidFill>
            <a:srgbClr val="0F1424"/>
          </a:solidFill>
          <a:ln w="762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72491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752344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7–9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0" y="275234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Conversational logging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931920" y="2761488"/>
            <a:ext cx="4617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Entity-extraction pipeline. “Spent 45 on fuel” → structured transaction. The chore-killer, shipped.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291840"/>
            <a:ext cx="8138160" cy="475488"/>
          </a:xfrm>
          <a:prstGeom prst="roundRect">
            <a:avLst>
              <a:gd name="adj" fmla="val 7692"/>
            </a:avLst>
          </a:prstGeom>
          <a:solidFill>
            <a:srgbClr val="171E33"/>
          </a:solidFill>
          <a:ln w="762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291840"/>
            <a:ext cx="64008" cy="4754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331927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10–12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11680" y="331927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Lookups + diagnostics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931920" y="3328416"/>
            <a:ext cx="4617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Text-to-SQL for Type A. Anomaly detection for Type B. The first two skill modules behind the router.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3858768"/>
            <a:ext cx="8138160" cy="475488"/>
          </a:xfrm>
          <a:prstGeom prst="roundRect">
            <a:avLst>
              <a:gd name="adj" fmla="val 7692"/>
            </a:avLst>
          </a:prstGeom>
          <a:solidFill>
            <a:srgbClr val="0F1424"/>
          </a:solidFill>
          <a:ln w="7620">
            <a:solidFill>
              <a:srgbClr val="35D0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858768"/>
            <a:ext cx="64008" cy="475488"/>
          </a:xfrm>
          <a:prstGeom prst="rect">
            <a:avLst/>
          </a:prstGeom>
          <a:solidFill>
            <a:srgbClr val="35D07A"/>
          </a:solidFill>
          <a:ln w="12700">
            <a:solidFill>
              <a:srgbClr val="35D0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3886200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388620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 beta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931920" y="3895344"/>
            <a:ext cx="4617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20–30 SMB users. Instrument everything. The H1 go/no-go data starts flowing.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" y="4572000"/>
            <a:ext cx="8138160" cy="365760"/>
          </a:xfrm>
          <a:prstGeom prst="roundRect">
            <a:avLst>
              <a:gd name="adj" fmla="val 10000"/>
            </a:avLst>
          </a:prstGeom>
          <a:solidFill>
            <a:srgbClr val="171E33"/>
          </a:solidFill>
          <a:ln w="7620">
            <a:solidFill>
              <a:srgbClr val="0EA89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460857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D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90 days we know one thing:  </a:t>
            </a:r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real users talk to FinFlow instead of filling the form? That answer decides everything downstream.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·  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WE MAKE TOGETHER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calls. Before any code.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is a proposal, not a decree. These five need an explicit yes from both of us.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556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8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75564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we commit to hybrid — chat-first for advice, classic UI for data entry?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202996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Recommended. Pure chat-only is the wrong first bet for a finance app.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502920" y="23591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8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235915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we accept that cloud migration must come before any AI feature?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263347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Non-negotiable architecturally. The MVP cannot run on localStorage.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502920" y="296265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8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296265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SMB founder our launch persona — not 'everyone'?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323697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Recommended. They feel the pain daily and will pay for the answer.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502920" y="3566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8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35661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we hold the line that 9 layers ship across 4 horizons, never at once?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38404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Non-negotiable. A 2-person team building 9 layers in parallel ships nothing.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502920" y="416966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8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416966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MVP signal is positive — do we raise, to fund the AI/ML hire?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444398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question. The roadmap assumes a raise becomes the H2 unlock.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0EA89B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·  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 · SHORT TO LONG TERM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goes, in one view.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527048"/>
            <a:ext cx="219456" cy="219456"/>
          </a:xfrm>
          <a:prstGeom prst="oval">
            <a:avLst/>
          </a:prstGeom>
          <a:solidFill>
            <a:srgbClr val="19D3C3"/>
          </a:solidFill>
          <a:ln w="12700">
            <a:solidFill>
              <a:srgbClr val="19D3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746504"/>
            <a:ext cx="0" cy="512064"/>
          </a:xfrm>
          <a:prstGeom prst="line">
            <a:avLst/>
          </a:prstGeom>
          <a:noFill/>
          <a:ln w="19050">
            <a:solidFill>
              <a:srgbClr val="232C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538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9D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MONTHS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finance app you talk 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57800" y="143560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MVP live. SMB beta. The chore is measurably dying.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66928" y="2368296"/>
            <a:ext cx="219456" cy="219456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587752"/>
            <a:ext cx="0" cy="512064"/>
          </a:xfrm>
          <a:prstGeom prst="line">
            <a:avLst/>
          </a:prstGeom>
          <a:noFill/>
          <a:ln w="19050">
            <a:solidFill>
              <a:srgbClr val="232C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29514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MONTHS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2258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business with a model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57800" y="227685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skills, predictive CFO, experiments running. Paying users, clean unit economics.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66928" y="3209544"/>
            <a:ext cx="219456" cy="219456"/>
          </a:xfrm>
          <a:prstGeom prst="oval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" y="3429000"/>
            <a:ext cx="0" cy="512064"/>
          </a:xfrm>
          <a:prstGeom prst="line">
            <a:avLst/>
          </a:prstGeom>
          <a:noFill/>
          <a:ln w="19050">
            <a:solidFill>
              <a:srgbClr val="232C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1363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MONTHS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14600" y="309981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platform with a flywheel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57800" y="311810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Finflow Kids brings the household in. Engagement compounds. EdTech channel opens.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66928" y="4050792"/>
            <a:ext cx="219456" cy="219456"/>
          </a:xfrm>
          <a:prstGeom prst="oval">
            <a:avLst/>
          </a:prstGeom>
          <a:solidFill>
            <a:srgbClr val="35D07A"/>
          </a:solidFill>
          <a:ln w="12700">
            <a:solidFill>
              <a:srgbClr val="35D0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977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5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 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14600" y="394106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open financial capability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7800" y="395935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surface live. Other agents call FinFlow. The platform is infrastructure.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02920" y="4572000"/>
            <a:ext cx="8138160" cy="384048"/>
          </a:xfrm>
          <a:prstGeom prst="roundRect">
            <a:avLst>
              <a:gd name="adj" fmla="val 9524"/>
            </a:avLst>
          </a:prstGeom>
          <a:solidFill>
            <a:srgbClr val="171E33"/>
          </a:solidFill>
          <a:ln w="7620">
            <a:solidFill>
              <a:srgbClr val="D98A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608576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throughline:  </a:t>
            </a:r>
            <a:pPr indent="0" marL="0">
              <a:buNone/>
            </a:pPr>
            <a:r>
              <a:rPr lang="en-US" sz="93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horizon is shippable and valuable on its own. We are never one big bet away from nothing — each stage stands.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·  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D98A0B"/>
          </a:solidFill>
          <a:ln w="12700">
            <a:solidFill>
              <a:srgbClr val="D98A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2103120"/>
            <a:ext cx="4114800" cy="4114800"/>
          </a:xfrm>
          <a:prstGeom prst="oval">
            <a:avLst/>
          </a:prstGeom>
          <a:ln w="9525">
            <a:solidFill>
              <a:srgbClr val="0EA89B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80760" y="1783080"/>
            <a:ext cx="4754880" cy="4754880"/>
          </a:xfrm>
          <a:prstGeom prst="oval">
            <a:avLst/>
          </a:prstGeom>
          <a:ln w="9525">
            <a:solidFill>
              <a:srgbClr val="0EA89B">
                <a:alpha val="1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463040"/>
            <a:ext cx="5394960" cy="5394960"/>
          </a:xfrm>
          <a:prstGeom prst="oval">
            <a:avLst/>
          </a:prstGeom>
          <a:ln w="9525">
            <a:solidFill>
              <a:srgbClr val="0EA89B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20840" y="1143000"/>
            <a:ext cx="6035040" cy="6035040"/>
          </a:xfrm>
          <a:prstGeom prst="oval">
            <a:avLst/>
          </a:prstGeom>
          <a:ln w="9525">
            <a:solidFill>
              <a:srgbClr val="0EA89B">
                <a:alpha val="2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822960"/>
            <a:ext cx="6675120" cy="6675120"/>
          </a:xfrm>
          <a:prstGeom prst="oval">
            <a:avLst/>
          </a:prstGeom>
          <a:ln w="9525">
            <a:solidFill>
              <a:srgbClr val="0EA89B">
                <a:alpha val="2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REALLY DECIDING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feature list.</a:t>
            </a:r>
            <a:endParaRPr lang="en-US" sz="38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company's shape.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 proved we can build. The next stage decides what we are building — a better finance app, or the conversational layer that sits between people and their money. This deck argues for the second, and shows the disciplined, 2-person path to get there.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520440"/>
            <a:ext cx="5120640" cy="0"/>
          </a:xfrm>
          <a:prstGeom prst="line">
            <a:avLst/>
          </a:prstGeom>
          <a:noFill/>
          <a:ln w="19050">
            <a:solidFill>
              <a:srgbClr val="0EA89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703320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68096" y="367588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3 layers deep before going wide.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14216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8096" y="398678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phrases. Services compute. Always.</a:t>
            </a:r>
            <a:endParaRPr lang="en-US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325112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68096" y="42976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horizon ships something real and valuable.</a:t>
            </a:r>
            <a:endParaRPr lang="en-US" sz="10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636008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8096" y="46085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household is the moat. Bring it in early.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02920" y="4681728"/>
            <a:ext cx="8138160" cy="0"/>
          </a:xfrm>
          <a:prstGeom prst="line">
            <a:avLst/>
          </a:prstGeom>
          <a:noFill/>
          <a:ln w="12700">
            <a:solidFill>
              <a:srgbClr val="0EA89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02920" y="4754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FinFlow · Vision &amp; Roadmap · Companion to the Platform Architecture deck · Confidential 2025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FinFlow · Vision &amp; Roadmap</dc:title>
  <dc:subject>PptxGenJS Presentation</dc:subject>
  <dc:creator>PptxGenJS</dc:creator>
  <cp:lastModifiedBy>PptxGenJS</cp:lastModifiedBy>
  <cp:revision>1</cp:revision>
  <dcterms:created xsi:type="dcterms:W3CDTF">2026-05-23T14:38:28Z</dcterms:created>
  <dcterms:modified xsi:type="dcterms:W3CDTF">2026-05-23T14:38:28Z</dcterms:modified>
</cp:coreProperties>
</file>