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1.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5943600" cy="5143500"/>
          </a:xfrm>
          <a:prstGeom prst="rect">
            <a:avLst/>
          </a:prstGeom>
          <a:solidFill>
            <a:srgbClr val="0F1F3D"/>
          </a:solidFill>
          <a:ln w="12700">
            <a:solidFill>
              <a:srgbClr val="0F1F3D"/>
            </a:solidFill>
            <a:prstDash val="solid"/>
          </a:ln>
        </p:spPr>
      </p:sp>
      <p:sp>
        <p:nvSpPr>
          <p:cNvPr id="3" name="Shape 1"/>
          <p:cNvSpPr/>
          <p:nvPr/>
        </p:nvSpPr>
        <p:spPr>
          <a:xfrm>
            <a:off x="5943600" y="0"/>
            <a:ext cx="3200400" cy="5143500"/>
          </a:xfrm>
          <a:prstGeom prst="rect">
            <a:avLst/>
          </a:prstGeom>
          <a:solidFill>
            <a:srgbClr val="0D9488"/>
          </a:solidFill>
          <a:ln w="12700">
            <a:solidFill>
              <a:srgbClr val="0D9488"/>
            </a:solidFill>
            <a:prstDash val="solid"/>
          </a:ln>
        </p:spPr>
      </p:sp>
      <p:sp>
        <p:nvSpPr>
          <p:cNvPr id="4" name="Shape 2"/>
          <p:cNvSpPr/>
          <p:nvPr/>
        </p:nvSpPr>
        <p:spPr>
          <a:xfrm>
            <a:off x="457200" y="411480"/>
            <a:ext cx="54864" cy="822960"/>
          </a:xfrm>
          <a:prstGeom prst="rect">
            <a:avLst/>
          </a:prstGeom>
          <a:solidFill>
            <a:srgbClr val="F59E0B"/>
          </a:solidFill>
          <a:ln w="12700">
            <a:solidFill>
              <a:srgbClr val="F59E0B"/>
            </a:solidFill>
            <a:prstDash val="solid"/>
          </a:ln>
        </p:spPr>
      </p:sp>
      <p:sp>
        <p:nvSpPr>
          <p:cNvPr id="5" name="Text 3"/>
          <p:cNvSpPr/>
          <p:nvPr/>
        </p:nvSpPr>
        <p:spPr>
          <a:xfrm>
            <a:off x="640080" y="411480"/>
            <a:ext cx="2743200" cy="50292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FinFlow</a:t>
            </a:r>
            <a:endParaRPr lang="en-US" sz="3400" dirty="0"/>
          </a:p>
        </p:txBody>
      </p:sp>
      <p:sp>
        <p:nvSpPr>
          <p:cNvPr id="6" name="Text 4"/>
          <p:cNvSpPr/>
          <p:nvPr/>
        </p:nvSpPr>
        <p:spPr>
          <a:xfrm>
            <a:off x="640080" y="914400"/>
            <a:ext cx="3200400" cy="27432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Family Finance OS</a:t>
            </a:r>
            <a:endParaRPr lang="en-US" sz="1300" dirty="0"/>
          </a:p>
        </p:txBody>
      </p:sp>
      <p:sp>
        <p:nvSpPr>
          <p:cNvPr id="7" name="Text 5"/>
          <p:cNvSpPr/>
          <p:nvPr/>
        </p:nvSpPr>
        <p:spPr>
          <a:xfrm>
            <a:off x="457200" y="1645920"/>
            <a:ext cx="5303520" cy="59436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CEO Product Roadmap</a:t>
            </a:r>
            <a:endParaRPr lang="en-US" sz="2800" dirty="0"/>
          </a:p>
        </p:txBody>
      </p:sp>
      <p:sp>
        <p:nvSpPr>
          <p:cNvPr id="8" name="Text 6"/>
          <p:cNvSpPr/>
          <p:nvPr/>
        </p:nvSpPr>
        <p:spPr>
          <a:xfrm>
            <a:off x="457200" y="2331720"/>
            <a:ext cx="530352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Prototype · MVP · GTM · Tooling · New Venture</a:t>
            </a:r>
            <a:endParaRPr lang="en-US" sz="1400" dirty="0"/>
          </a:p>
        </p:txBody>
      </p:sp>
      <p:sp>
        <p:nvSpPr>
          <p:cNvPr id="9" name="Shape 7"/>
          <p:cNvSpPr/>
          <p:nvPr/>
        </p:nvSpPr>
        <p:spPr>
          <a:xfrm>
            <a:off x="457200" y="2834640"/>
            <a:ext cx="8229600" cy="0"/>
          </a:xfrm>
          <a:prstGeom prst="line">
            <a:avLst/>
          </a:prstGeom>
          <a:noFill/>
          <a:ln w="15240">
            <a:solidFill>
              <a:srgbClr val="0D9488"/>
            </a:solidFill>
            <a:prstDash val="solid"/>
          </a:ln>
        </p:spPr>
      </p:sp>
      <p:sp>
        <p:nvSpPr>
          <p:cNvPr id="10" name="Text 8"/>
          <p:cNvSpPr/>
          <p:nvPr/>
        </p:nvSpPr>
        <p:spPr>
          <a:xfrm>
            <a:off x="457200" y="2971800"/>
            <a:ext cx="5303520" cy="1371600"/>
          </a:xfrm>
          <a:prstGeom prst="rect">
            <a:avLst/>
          </a:prstGeom>
          <a:noFill/>
          <a:ln/>
        </p:spPr>
        <p:txBody>
          <a:bodyPr wrap="square" rtlCol="0" anchor="ctr"/>
          <a:lstStyle/>
          <a:p>
            <a:pPr algn="l" indent="0" marL="0">
              <a:buNone/>
            </a:pPr>
            <a:r>
              <a:rPr lang="en-US" sz="1150" b="1" dirty="0">
                <a:solidFill>
                  <a:srgbClr val="94A3B8"/>
                </a:solidFill>
                <a:latin typeface="Calibri" pitchFamily="34" charset="0"/>
                <a:ea typeface="Calibri" pitchFamily="34" charset="-122"/>
                <a:cs typeface="Calibri" pitchFamily="34" charset="-120"/>
              </a:rPr>
              <a:t>From idea to traction in 18 months.
</a:t>
            </a:r>
            <a:endParaRPr lang="en-US" sz="1150" dirty="0"/>
          </a:p>
          <a:p>
            <a:pPr algn="l" indent="0" marL="0">
              <a:buNone/>
            </a:pPr>
            <a:r>
              <a:rPr lang="en-US" sz="1150" dirty="0">
                <a:solidFill>
                  <a:srgbClr val="94A3B8"/>
                </a:solidFill>
                <a:latin typeface="Calibri" pitchFamily="34" charset="0"/>
                <a:ea typeface="Calibri" pitchFamily="34" charset="-122"/>
                <a:cs typeface="Calibri" pitchFamily="34" charset="-120"/>
              </a:rPr>
              <a:t>This deck is the operating plan — not the vision document.</a:t>
            </a:r>
            <a:endParaRPr lang="en-US" sz="1150" dirty="0"/>
          </a:p>
          <a:p>
            <a:pPr algn="l" indent="0" marL="0">
              <a:buNone/>
            </a:pPr>
            <a:r>
              <a:rPr lang="en-US" sz="1150" dirty="0">
                <a:solidFill>
                  <a:srgbClr val="94A3B8"/>
                </a:solidFill>
                <a:latin typeface="Calibri" pitchFamily="34" charset="0"/>
                <a:ea typeface="Calibri" pitchFamily="34" charset="-122"/>
                <a:cs typeface="Calibri" pitchFamily="34" charset="-120"/>
              </a:rPr>
              <a:t>Every slide answers: what, who, when, and what tool.</a:t>
            </a:r>
            <a:endParaRPr lang="en-US" sz="1150" dirty="0"/>
          </a:p>
        </p:txBody>
      </p:sp>
      <p:sp>
        <p:nvSpPr>
          <p:cNvPr id="11" name="Text 9"/>
          <p:cNvSpPr/>
          <p:nvPr/>
        </p:nvSpPr>
        <p:spPr>
          <a:xfrm>
            <a:off x="6126480" y="457200"/>
            <a:ext cx="2834640" cy="274320"/>
          </a:xfrm>
          <a:prstGeom prst="rect">
            <a:avLst/>
          </a:prstGeom>
          <a:noFill/>
          <a:ln/>
        </p:spPr>
        <p:txBody>
          <a:bodyPr wrap="square" rtlCol="0" anchor="ctr"/>
          <a:lstStyle/>
          <a:p>
            <a:pPr indent="0" marL="0">
              <a:buNone/>
            </a:pPr>
            <a:r>
              <a:rPr lang="en-US" sz="900" b="1" spc="400" kern="0" dirty="0">
                <a:solidFill>
                  <a:srgbClr val="CCF9F5"/>
                </a:solidFill>
                <a:latin typeface="Calibri" pitchFamily="34" charset="0"/>
                <a:ea typeface="Calibri" pitchFamily="34" charset="-122"/>
                <a:cs typeface="Calibri" pitchFamily="34" charset="-120"/>
              </a:rPr>
              <a:t>WHAT'S INSIDE</a:t>
            </a:r>
            <a:endParaRPr lang="en-US" sz="900" dirty="0"/>
          </a:p>
        </p:txBody>
      </p:sp>
      <p:sp>
        <p:nvSpPr>
          <p:cNvPr id="12" name="Text 10"/>
          <p:cNvSpPr/>
          <p:nvPr/>
        </p:nvSpPr>
        <p:spPr>
          <a:xfrm>
            <a:off x="6126480" y="1005840"/>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01  Prototype Plan</a:t>
            </a:r>
            <a:endParaRPr lang="en-US" sz="1100" dirty="0"/>
          </a:p>
        </p:txBody>
      </p:sp>
      <p:sp>
        <p:nvSpPr>
          <p:cNvPr id="13" name="Text 11"/>
          <p:cNvSpPr/>
          <p:nvPr/>
        </p:nvSpPr>
        <p:spPr>
          <a:xfrm>
            <a:off x="6126480" y="1426464"/>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02  MVP Specification</a:t>
            </a:r>
            <a:endParaRPr lang="en-US" sz="1100" dirty="0"/>
          </a:p>
        </p:txBody>
      </p:sp>
      <p:sp>
        <p:nvSpPr>
          <p:cNvPr id="14" name="Text 12"/>
          <p:cNvSpPr/>
          <p:nvPr/>
        </p:nvSpPr>
        <p:spPr>
          <a:xfrm>
            <a:off x="6126480" y="1847088"/>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03  GTM Launch Strategy</a:t>
            </a:r>
            <a:endParaRPr lang="en-US" sz="1100" dirty="0"/>
          </a:p>
        </p:txBody>
      </p:sp>
      <p:sp>
        <p:nvSpPr>
          <p:cNvPr id="15" name="Text 13"/>
          <p:cNvSpPr/>
          <p:nvPr/>
        </p:nvSpPr>
        <p:spPr>
          <a:xfrm>
            <a:off x="6126480" y="2267712"/>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04  Kickstart Activities</a:t>
            </a:r>
            <a:endParaRPr lang="en-US" sz="1100" dirty="0"/>
          </a:p>
        </p:txBody>
      </p:sp>
      <p:sp>
        <p:nvSpPr>
          <p:cNvPr id="16" name="Text 14"/>
          <p:cNvSpPr/>
          <p:nvPr/>
        </p:nvSpPr>
        <p:spPr>
          <a:xfrm>
            <a:off x="6126480" y="2688336"/>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05  Product Dev Tooling</a:t>
            </a:r>
            <a:endParaRPr lang="en-US" sz="1100" dirty="0"/>
          </a:p>
        </p:txBody>
      </p:sp>
      <p:sp>
        <p:nvSpPr>
          <p:cNvPr id="17" name="Text 15"/>
          <p:cNvSpPr/>
          <p:nvPr/>
        </p:nvSpPr>
        <p:spPr>
          <a:xfrm>
            <a:off x="6126480" y="3108960"/>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06  Marketing Tooling</a:t>
            </a:r>
            <a:endParaRPr lang="en-US" sz="1100" dirty="0"/>
          </a:p>
        </p:txBody>
      </p:sp>
      <p:sp>
        <p:nvSpPr>
          <p:cNvPr id="18" name="Text 16"/>
          <p:cNvSpPr/>
          <p:nvPr/>
        </p:nvSpPr>
        <p:spPr>
          <a:xfrm>
            <a:off x="6126480" y="3529584"/>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07  Community Stack</a:t>
            </a:r>
            <a:endParaRPr lang="en-US" sz="1100" dirty="0"/>
          </a:p>
        </p:txBody>
      </p:sp>
      <p:sp>
        <p:nvSpPr>
          <p:cNvPr id="19" name="Text 17"/>
          <p:cNvSpPr/>
          <p:nvPr/>
        </p:nvSpPr>
        <p:spPr>
          <a:xfrm>
            <a:off x="6126480" y="3950208"/>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08  Beyond Finance</a:t>
            </a:r>
            <a:endParaRPr lang="en-US" sz="1100" dirty="0"/>
          </a:p>
        </p:txBody>
      </p:sp>
      <p:sp>
        <p:nvSpPr>
          <p:cNvPr id="20" name="Text 18"/>
          <p:cNvSpPr/>
          <p:nvPr/>
        </p:nvSpPr>
        <p:spPr>
          <a:xfrm>
            <a:off x="6126480" y="4370832"/>
            <a:ext cx="283464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09  New Venture Blueprint</a:t>
            </a:r>
            <a:endParaRPr lang="en-US" sz="1100" dirty="0"/>
          </a:p>
        </p:txBody>
      </p:sp>
      <p:sp>
        <p:nvSpPr>
          <p:cNvPr id="21" name="Text 19"/>
          <p:cNvSpPr/>
          <p:nvPr/>
        </p:nvSpPr>
        <p:spPr>
          <a:xfrm>
            <a:off x="457200" y="4846320"/>
            <a:ext cx="502920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Version 1.0 · 2025 · 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OVERVIEW</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Master Timeline: 18 Months to Seed</a:t>
            </a:r>
            <a:endParaRPr lang="en-US" sz="3000" dirty="0"/>
          </a:p>
        </p:txBody>
      </p:sp>
      <p:sp>
        <p:nvSpPr>
          <p:cNvPr id="4" name="Shape 2"/>
          <p:cNvSpPr/>
          <p:nvPr/>
        </p:nvSpPr>
        <p:spPr>
          <a:xfrm>
            <a:off x="457200" y="1078992"/>
            <a:ext cx="8229600" cy="0"/>
          </a:xfrm>
          <a:prstGeom prst="line">
            <a:avLst/>
          </a:prstGeom>
          <a:noFill/>
          <a:ln w="15240">
            <a:solidFill>
              <a:srgbClr val="0D9488">
                <a:alpha val="80000"/>
              </a:srgbClr>
            </a:solidFill>
            <a:prstDash val="solid"/>
          </a:ln>
        </p:spPr>
      </p:sp>
      <p:sp>
        <p:nvSpPr>
          <p:cNvPr id="5" name="Shape 3"/>
          <p:cNvSpPr/>
          <p:nvPr/>
        </p:nvSpPr>
        <p:spPr>
          <a:xfrm>
            <a:off x="457200" y="1417320"/>
            <a:ext cx="8229600" cy="109728"/>
          </a:xfrm>
          <a:prstGeom prst="rect">
            <a:avLst/>
          </a:prstGeom>
          <a:solidFill>
            <a:srgbClr val="E2E8F0"/>
          </a:solidFill>
          <a:ln w="12700">
            <a:solidFill>
              <a:srgbClr val="E2E8F0"/>
            </a:solidFill>
            <a:prstDash val="solid"/>
          </a:ln>
        </p:spPr>
      </p:sp>
      <p:sp>
        <p:nvSpPr>
          <p:cNvPr id="6" name="Shape 4"/>
          <p:cNvSpPr/>
          <p:nvPr/>
        </p:nvSpPr>
        <p:spPr>
          <a:xfrm>
            <a:off x="457200" y="1417320"/>
            <a:ext cx="1828800" cy="109728"/>
          </a:xfrm>
          <a:prstGeom prst="rect">
            <a:avLst/>
          </a:prstGeom>
          <a:solidFill>
            <a:srgbClr val="7C3AED"/>
          </a:solidFill>
          <a:ln w="12700">
            <a:solidFill>
              <a:srgbClr val="7C3AED"/>
            </a:solidFill>
            <a:prstDash val="solid"/>
          </a:ln>
        </p:spPr>
      </p:sp>
      <p:sp>
        <p:nvSpPr>
          <p:cNvPr id="7" name="Shape 5"/>
          <p:cNvSpPr/>
          <p:nvPr/>
        </p:nvSpPr>
        <p:spPr>
          <a:xfrm>
            <a:off x="365760" y="1353312"/>
            <a:ext cx="228600" cy="228600"/>
          </a:xfrm>
          <a:prstGeom prst="ellipse">
            <a:avLst/>
          </a:prstGeom>
          <a:solidFill>
            <a:srgbClr val="7C3AED"/>
          </a:solidFill>
          <a:ln w="12700">
            <a:solidFill>
              <a:srgbClr val="7C3AED"/>
            </a:solidFill>
            <a:prstDash val="solid"/>
          </a:ln>
        </p:spPr>
      </p:sp>
      <p:sp>
        <p:nvSpPr>
          <p:cNvPr id="8" name="Shape 6"/>
          <p:cNvSpPr/>
          <p:nvPr/>
        </p:nvSpPr>
        <p:spPr>
          <a:xfrm>
            <a:off x="2286000" y="1417320"/>
            <a:ext cx="2286000" cy="109728"/>
          </a:xfrm>
          <a:prstGeom prst="rect">
            <a:avLst/>
          </a:prstGeom>
          <a:solidFill>
            <a:srgbClr val="0D9488"/>
          </a:solidFill>
          <a:ln w="12700">
            <a:solidFill>
              <a:srgbClr val="0D9488"/>
            </a:solidFill>
            <a:prstDash val="solid"/>
          </a:ln>
        </p:spPr>
      </p:sp>
      <p:sp>
        <p:nvSpPr>
          <p:cNvPr id="9" name="Shape 7"/>
          <p:cNvSpPr/>
          <p:nvPr/>
        </p:nvSpPr>
        <p:spPr>
          <a:xfrm>
            <a:off x="2194560" y="1353312"/>
            <a:ext cx="228600" cy="228600"/>
          </a:xfrm>
          <a:prstGeom prst="ellipse">
            <a:avLst/>
          </a:prstGeom>
          <a:solidFill>
            <a:srgbClr val="0D9488"/>
          </a:solidFill>
          <a:ln w="12700">
            <a:solidFill>
              <a:srgbClr val="0D9488"/>
            </a:solidFill>
            <a:prstDash val="solid"/>
          </a:ln>
        </p:spPr>
      </p:sp>
      <p:sp>
        <p:nvSpPr>
          <p:cNvPr id="10" name="Shape 8"/>
          <p:cNvSpPr/>
          <p:nvPr/>
        </p:nvSpPr>
        <p:spPr>
          <a:xfrm>
            <a:off x="4572000" y="1417320"/>
            <a:ext cx="2286000" cy="109728"/>
          </a:xfrm>
          <a:prstGeom prst="rect">
            <a:avLst/>
          </a:prstGeom>
          <a:solidFill>
            <a:srgbClr val="D97706"/>
          </a:solidFill>
          <a:ln w="12700">
            <a:solidFill>
              <a:srgbClr val="D97706"/>
            </a:solidFill>
            <a:prstDash val="solid"/>
          </a:ln>
        </p:spPr>
      </p:sp>
      <p:sp>
        <p:nvSpPr>
          <p:cNvPr id="11" name="Shape 9"/>
          <p:cNvSpPr/>
          <p:nvPr/>
        </p:nvSpPr>
        <p:spPr>
          <a:xfrm>
            <a:off x="4480560" y="1353312"/>
            <a:ext cx="228600" cy="228600"/>
          </a:xfrm>
          <a:prstGeom prst="ellipse">
            <a:avLst/>
          </a:prstGeom>
          <a:solidFill>
            <a:srgbClr val="D97706"/>
          </a:solidFill>
          <a:ln w="12700">
            <a:solidFill>
              <a:srgbClr val="D97706"/>
            </a:solidFill>
            <a:prstDash val="solid"/>
          </a:ln>
        </p:spPr>
      </p:sp>
      <p:sp>
        <p:nvSpPr>
          <p:cNvPr id="12" name="Shape 10"/>
          <p:cNvSpPr/>
          <p:nvPr/>
        </p:nvSpPr>
        <p:spPr>
          <a:xfrm>
            <a:off x="6858000" y="1417320"/>
            <a:ext cx="1828800" cy="109728"/>
          </a:xfrm>
          <a:prstGeom prst="rect">
            <a:avLst/>
          </a:prstGeom>
          <a:solidFill>
            <a:srgbClr val="16A34A"/>
          </a:solidFill>
          <a:ln w="12700">
            <a:solidFill>
              <a:srgbClr val="16A34A"/>
            </a:solidFill>
            <a:prstDash val="solid"/>
          </a:ln>
        </p:spPr>
      </p:sp>
      <p:sp>
        <p:nvSpPr>
          <p:cNvPr id="13" name="Shape 11"/>
          <p:cNvSpPr/>
          <p:nvPr/>
        </p:nvSpPr>
        <p:spPr>
          <a:xfrm>
            <a:off x="6766560" y="1353312"/>
            <a:ext cx="228600" cy="228600"/>
          </a:xfrm>
          <a:prstGeom prst="ellipse">
            <a:avLst/>
          </a:prstGeom>
          <a:solidFill>
            <a:srgbClr val="16A34A"/>
          </a:solidFill>
          <a:ln w="12700">
            <a:solidFill>
              <a:srgbClr val="16A34A"/>
            </a:solidFill>
            <a:prstDash val="solid"/>
          </a:ln>
        </p:spPr>
      </p:sp>
      <p:sp>
        <p:nvSpPr>
          <p:cNvPr id="14" name="Shape 12"/>
          <p:cNvSpPr/>
          <p:nvPr/>
        </p:nvSpPr>
        <p:spPr>
          <a:xfrm>
            <a:off x="457200" y="1737360"/>
            <a:ext cx="1828800" cy="22860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5" name="Shape 13"/>
          <p:cNvSpPr/>
          <p:nvPr/>
        </p:nvSpPr>
        <p:spPr>
          <a:xfrm>
            <a:off x="457200" y="1737360"/>
            <a:ext cx="1828800" cy="73152"/>
          </a:xfrm>
          <a:prstGeom prst="rect">
            <a:avLst/>
          </a:prstGeom>
          <a:solidFill>
            <a:srgbClr val="7C3AED"/>
          </a:solidFill>
          <a:ln w="12700">
            <a:solidFill>
              <a:srgbClr val="7C3AED"/>
            </a:solidFill>
            <a:prstDash val="solid"/>
          </a:ln>
        </p:spPr>
      </p:sp>
      <p:sp>
        <p:nvSpPr>
          <p:cNvPr id="16" name="Text 14"/>
          <p:cNvSpPr/>
          <p:nvPr/>
        </p:nvSpPr>
        <p:spPr>
          <a:xfrm>
            <a:off x="566928" y="1874520"/>
            <a:ext cx="457200" cy="365760"/>
          </a:xfrm>
          <a:prstGeom prst="rect">
            <a:avLst/>
          </a:prstGeom>
          <a:noFill/>
          <a:ln/>
        </p:spPr>
        <p:txBody>
          <a:bodyPr wrap="square" rtlCol="0" anchor="ctr"/>
          <a:lstStyle/>
          <a:p>
            <a:pPr indent="0" marL="0">
              <a:buNone/>
            </a:pPr>
            <a:r>
              <a:rPr lang="en-US" sz="2800" b="1" dirty="0">
                <a:solidFill>
                  <a:srgbClr val="7C3AED"/>
                </a:solidFill>
                <a:latin typeface="Georgia" pitchFamily="34" charset="0"/>
                <a:ea typeface="Georgia" pitchFamily="34" charset="-122"/>
                <a:cs typeface="Georgia" pitchFamily="34" charset="-120"/>
              </a:rPr>
              <a:t>1</a:t>
            </a:r>
            <a:endParaRPr lang="en-US" sz="2800" dirty="0"/>
          </a:p>
        </p:txBody>
      </p:sp>
      <p:sp>
        <p:nvSpPr>
          <p:cNvPr id="17" name="Text 15"/>
          <p:cNvSpPr/>
          <p:nvPr/>
        </p:nvSpPr>
        <p:spPr>
          <a:xfrm>
            <a:off x="566928" y="2240280"/>
            <a:ext cx="1645920" cy="256032"/>
          </a:xfrm>
          <a:prstGeom prst="rect">
            <a:avLst/>
          </a:prstGeom>
          <a:noFill/>
          <a:ln/>
        </p:spPr>
        <p:txBody>
          <a:bodyPr wrap="square" rtlCol="0" anchor="ctr"/>
          <a:lstStyle/>
          <a:p>
            <a:pPr indent="0" marL="0">
              <a:buNone/>
            </a:pPr>
            <a:r>
              <a:rPr lang="en-US" sz="1000" b="1" spc="200" kern="0" dirty="0">
                <a:solidFill>
                  <a:srgbClr val="0F1F3D"/>
                </a:solidFill>
                <a:latin typeface="Calibri" pitchFamily="34" charset="0"/>
                <a:ea typeface="Calibri" pitchFamily="34" charset="-122"/>
                <a:cs typeface="Calibri" pitchFamily="34" charset="-120"/>
              </a:rPr>
              <a:t>PROTOTYPE</a:t>
            </a:r>
            <a:endParaRPr lang="en-US" sz="1000" dirty="0"/>
          </a:p>
        </p:txBody>
      </p:sp>
      <p:sp>
        <p:nvSpPr>
          <p:cNvPr id="18" name="Text 16"/>
          <p:cNvSpPr/>
          <p:nvPr/>
        </p:nvSpPr>
        <p:spPr>
          <a:xfrm>
            <a:off x="566928" y="2514600"/>
            <a:ext cx="1645920" cy="228600"/>
          </a:xfrm>
          <a:prstGeom prst="rect">
            <a:avLst/>
          </a:prstGeom>
          <a:noFill/>
          <a:ln/>
        </p:spPr>
        <p:txBody>
          <a:bodyPr wrap="square"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Wk 1–6</a:t>
            </a:r>
            <a:endParaRPr lang="en-US" sz="950" dirty="0"/>
          </a:p>
        </p:txBody>
      </p:sp>
      <p:sp>
        <p:nvSpPr>
          <p:cNvPr id="19" name="Text 17"/>
          <p:cNvSpPr/>
          <p:nvPr/>
        </p:nvSpPr>
        <p:spPr>
          <a:xfrm>
            <a:off x="566928" y="2788920"/>
            <a:ext cx="1645920" cy="7315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Validate 8 assumptions.</a:t>
            </a:r>
            <a:endParaRPr lang="en-US" sz="950" dirty="0"/>
          </a:p>
          <a:p>
            <a:pPr indent="0" marL="0">
              <a:buNone/>
            </a:pPr>
            <a:r>
              <a:rPr lang="en-US" sz="950" dirty="0">
                <a:solidFill>
                  <a:srgbClr val="475569"/>
                </a:solidFill>
                <a:latin typeface="Calibri" pitchFamily="34" charset="0"/>
                <a:ea typeface="Calibri" pitchFamily="34" charset="-122"/>
                <a:cs typeface="Calibri" pitchFamily="34" charset="-120"/>
              </a:rPr>
              <a:t>No code deployed.</a:t>
            </a:r>
            <a:endParaRPr lang="en-US" sz="950" dirty="0"/>
          </a:p>
        </p:txBody>
      </p:sp>
      <p:sp>
        <p:nvSpPr>
          <p:cNvPr id="20" name="Shape 18"/>
          <p:cNvSpPr/>
          <p:nvPr/>
        </p:nvSpPr>
        <p:spPr>
          <a:xfrm>
            <a:off x="2487168" y="1737360"/>
            <a:ext cx="2011680" cy="22860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2487168" y="1737360"/>
            <a:ext cx="2011680" cy="73152"/>
          </a:xfrm>
          <a:prstGeom prst="rect">
            <a:avLst/>
          </a:prstGeom>
          <a:solidFill>
            <a:srgbClr val="0D9488"/>
          </a:solidFill>
          <a:ln w="12700">
            <a:solidFill>
              <a:srgbClr val="0D9488"/>
            </a:solidFill>
            <a:prstDash val="solid"/>
          </a:ln>
        </p:spPr>
      </p:sp>
      <p:sp>
        <p:nvSpPr>
          <p:cNvPr id="22" name="Text 20"/>
          <p:cNvSpPr/>
          <p:nvPr/>
        </p:nvSpPr>
        <p:spPr>
          <a:xfrm>
            <a:off x="2596896" y="1874520"/>
            <a:ext cx="457200" cy="365760"/>
          </a:xfrm>
          <a:prstGeom prst="rect">
            <a:avLst/>
          </a:prstGeom>
          <a:noFill/>
          <a:ln/>
        </p:spPr>
        <p:txBody>
          <a:bodyPr wrap="square" rtlCol="0" anchor="ctr"/>
          <a:lstStyle/>
          <a:p>
            <a:pPr indent="0" marL="0">
              <a:buNone/>
            </a:pPr>
            <a:r>
              <a:rPr lang="en-US" sz="2800" b="1" dirty="0">
                <a:solidFill>
                  <a:srgbClr val="0D9488"/>
                </a:solidFill>
                <a:latin typeface="Georgia" pitchFamily="34" charset="0"/>
                <a:ea typeface="Georgia" pitchFamily="34" charset="-122"/>
                <a:cs typeface="Georgia" pitchFamily="34" charset="-120"/>
              </a:rPr>
              <a:t>2</a:t>
            </a:r>
            <a:endParaRPr lang="en-US" sz="2800" dirty="0"/>
          </a:p>
        </p:txBody>
      </p:sp>
      <p:sp>
        <p:nvSpPr>
          <p:cNvPr id="23" name="Text 21"/>
          <p:cNvSpPr/>
          <p:nvPr/>
        </p:nvSpPr>
        <p:spPr>
          <a:xfrm>
            <a:off x="2596896" y="2240280"/>
            <a:ext cx="1828800" cy="256032"/>
          </a:xfrm>
          <a:prstGeom prst="rect">
            <a:avLst/>
          </a:prstGeom>
          <a:noFill/>
          <a:ln/>
        </p:spPr>
        <p:txBody>
          <a:bodyPr wrap="square" rtlCol="0" anchor="ctr"/>
          <a:lstStyle/>
          <a:p>
            <a:pPr indent="0" marL="0">
              <a:buNone/>
            </a:pPr>
            <a:r>
              <a:rPr lang="en-US" sz="1000" b="1" spc="200" kern="0" dirty="0">
                <a:solidFill>
                  <a:srgbClr val="0F1F3D"/>
                </a:solidFill>
                <a:latin typeface="Calibri" pitchFamily="34" charset="0"/>
                <a:ea typeface="Calibri" pitchFamily="34" charset="-122"/>
                <a:cs typeface="Calibri" pitchFamily="34" charset="-120"/>
              </a:rPr>
              <a:t>MVP BUILD</a:t>
            </a:r>
            <a:endParaRPr lang="en-US" sz="1000" dirty="0"/>
          </a:p>
        </p:txBody>
      </p:sp>
      <p:sp>
        <p:nvSpPr>
          <p:cNvPr id="24" name="Text 22"/>
          <p:cNvSpPr/>
          <p:nvPr/>
        </p:nvSpPr>
        <p:spPr>
          <a:xfrm>
            <a:off x="2596896" y="2514600"/>
            <a:ext cx="1828800" cy="228600"/>
          </a:xfrm>
          <a:prstGeom prst="rect">
            <a:avLst/>
          </a:prstGeom>
          <a:noFill/>
          <a:ln/>
        </p:spPr>
        <p:txBody>
          <a:bodyPr wrap="square"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Wk 7–22</a:t>
            </a:r>
            <a:endParaRPr lang="en-US" sz="950" dirty="0"/>
          </a:p>
        </p:txBody>
      </p:sp>
      <p:sp>
        <p:nvSpPr>
          <p:cNvPr id="25" name="Text 23"/>
          <p:cNvSpPr/>
          <p:nvPr/>
        </p:nvSpPr>
        <p:spPr>
          <a:xfrm>
            <a:off x="2596896" y="2788920"/>
            <a:ext cx="1828800" cy="7315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10 core features.</a:t>
            </a:r>
            <a:endParaRPr lang="en-US" sz="950" dirty="0"/>
          </a:p>
          <a:p>
            <a:pPr indent="0" marL="0">
              <a:buNone/>
            </a:pPr>
            <a:r>
              <a:rPr lang="en-US" sz="950" dirty="0">
                <a:solidFill>
                  <a:srgbClr val="475569"/>
                </a:solidFill>
                <a:latin typeface="Calibri" pitchFamily="34" charset="0"/>
                <a:ea typeface="Calibri" pitchFamily="34" charset="-122"/>
                <a:cs typeface="Calibri" pitchFamily="34" charset="-120"/>
              </a:rPr>
              <a:t>Ship in 16 weeks.</a:t>
            </a:r>
            <a:endParaRPr lang="en-US" sz="950" dirty="0"/>
          </a:p>
        </p:txBody>
      </p:sp>
      <p:sp>
        <p:nvSpPr>
          <p:cNvPr id="26" name="Shape 24"/>
          <p:cNvSpPr/>
          <p:nvPr/>
        </p:nvSpPr>
        <p:spPr>
          <a:xfrm>
            <a:off x="4663440" y="1737360"/>
            <a:ext cx="2011680" cy="22860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7" name="Shape 25"/>
          <p:cNvSpPr/>
          <p:nvPr/>
        </p:nvSpPr>
        <p:spPr>
          <a:xfrm>
            <a:off x="4663440" y="1737360"/>
            <a:ext cx="2011680" cy="73152"/>
          </a:xfrm>
          <a:prstGeom prst="rect">
            <a:avLst/>
          </a:prstGeom>
          <a:solidFill>
            <a:srgbClr val="D97706"/>
          </a:solidFill>
          <a:ln w="12700">
            <a:solidFill>
              <a:srgbClr val="D97706"/>
            </a:solidFill>
            <a:prstDash val="solid"/>
          </a:ln>
        </p:spPr>
      </p:sp>
      <p:sp>
        <p:nvSpPr>
          <p:cNvPr id="28" name="Text 26"/>
          <p:cNvSpPr/>
          <p:nvPr/>
        </p:nvSpPr>
        <p:spPr>
          <a:xfrm>
            <a:off x="4773168" y="1874520"/>
            <a:ext cx="457200" cy="365760"/>
          </a:xfrm>
          <a:prstGeom prst="rect">
            <a:avLst/>
          </a:prstGeom>
          <a:noFill/>
          <a:ln/>
        </p:spPr>
        <p:txBody>
          <a:bodyPr wrap="square" rtlCol="0" anchor="ctr"/>
          <a:lstStyle/>
          <a:p>
            <a:pPr indent="0" marL="0">
              <a:buNone/>
            </a:pPr>
            <a:r>
              <a:rPr lang="en-US" sz="2800" b="1" dirty="0">
                <a:solidFill>
                  <a:srgbClr val="D97706"/>
                </a:solidFill>
                <a:latin typeface="Georgia" pitchFamily="34" charset="0"/>
                <a:ea typeface="Georgia" pitchFamily="34" charset="-122"/>
                <a:cs typeface="Georgia" pitchFamily="34" charset="-120"/>
              </a:rPr>
              <a:t>3</a:t>
            </a:r>
            <a:endParaRPr lang="en-US" sz="2800" dirty="0"/>
          </a:p>
        </p:txBody>
      </p:sp>
      <p:sp>
        <p:nvSpPr>
          <p:cNvPr id="29" name="Text 27"/>
          <p:cNvSpPr/>
          <p:nvPr/>
        </p:nvSpPr>
        <p:spPr>
          <a:xfrm>
            <a:off x="4773168" y="2240280"/>
            <a:ext cx="1828800" cy="256032"/>
          </a:xfrm>
          <a:prstGeom prst="rect">
            <a:avLst/>
          </a:prstGeom>
          <a:noFill/>
          <a:ln/>
        </p:spPr>
        <p:txBody>
          <a:bodyPr wrap="square" rtlCol="0" anchor="ctr"/>
          <a:lstStyle/>
          <a:p>
            <a:pPr indent="0" marL="0">
              <a:buNone/>
            </a:pPr>
            <a:r>
              <a:rPr lang="en-US" sz="1000" b="1" spc="200" kern="0" dirty="0">
                <a:solidFill>
                  <a:srgbClr val="0F1F3D"/>
                </a:solidFill>
                <a:latin typeface="Calibri" pitchFamily="34" charset="0"/>
                <a:ea typeface="Calibri" pitchFamily="34" charset="-122"/>
                <a:cs typeface="Calibri" pitchFamily="34" charset="-120"/>
              </a:rPr>
              <a:t>CITY ZERO</a:t>
            </a:r>
            <a:endParaRPr lang="en-US" sz="1000" dirty="0"/>
          </a:p>
        </p:txBody>
      </p:sp>
      <p:sp>
        <p:nvSpPr>
          <p:cNvPr id="30" name="Text 28"/>
          <p:cNvSpPr/>
          <p:nvPr/>
        </p:nvSpPr>
        <p:spPr>
          <a:xfrm>
            <a:off x="4773168" y="2514600"/>
            <a:ext cx="1828800" cy="228600"/>
          </a:xfrm>
          <a:prstGeom prst="rect">
            <a:avLst/>
          </a:prstGeom>
          <a:noFill/>
          <a:ln/>
        </p:spPr>
        <p:txBody>
          <a:bodyPr wrap="square" rtlCol="0" anchor="ctr"/>
          <a:lstStyle/>
          <a:p>
            <a:pPr indent="0" marL="0">
              <a:buNone/>
            </a:pPr>
            <a:r>
              <a:rPr lang="en-US" sz="950" b="1" dirty="0">
                <a:solidFill>
                  <a:srgbClr val="D97706"/>
                </a:solidFill>
                <a:latin typeface="Calibri" pitchFamily="34" charset="0"/>
                <a:ea typeface="Calibri" pitchFamily="34" charset="-122"/>
                <a:cs typeface="Calibri" pitchFamily="34" charset="-120"/>
              </a:rPr>
              <a:t>Mo 6–12</a:t>
            </a:r>
            <a:endParaRPr lang="en-US" sz="950" dirty="0"/>
          </a:p>
        </p:txBody>
      </p:sp>
      <p:sp>
        <p:nvSpPr>
          <p:cNvPr id="31" name="Text 29"/>
          <p:cNvSpPr/>
          <p:nvPr/>
        </p:nvSpPr>
        <p:spPr>
          <a:xfrm>
            <a:off x="4773168" y="2788920"/>
            <a:ext cx="1828800" cy="7315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500 families.</a:t>
            </a:r>
            <a:endParaRPr lang="en-US" sz="950" dirty="0"/>
          </a:p>
          <a:p>
            <a:pPr indent="0" marL="0">
              <a:buNone/>
            </a:pPr>
            <a:r>
              <a:rPr lang="en-US" sz="950" dirty="0">
                <a:solidFill>
                  <a:srgbClr val="475569"/>
                </a:solidFill>
                <a:latin typeface="Calibri" pitchFamily="34" charset="0"/>
                <a:ea typeface="Calibri" pitchFamily="34" charset="-122"/>
                <a:cs typeface="Calibri" pitchFamily="34" charset="-120"/>
              </a:rPr>
              <a:t>1 city, 3 employers.</a:t>
            </a:r>
            <a:endParaRPr lang="en-US" sz="950" dirty="0"/>
          </a:p>
        </p:txBody>
      </p:sp>
      <p:sp>
        <p:nvSpPr>
          <p:cNvPr id="32" name="Shape 30"/>
          <p:cNvSpPr/>
          <p:nvPr/>
        </p:nvSpPr>
        <p:spPr>
          <a:xfrm>
            <a:off x="6858000" y="1737360"/>
            <a:ext cx="1828800" cy="22860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3" name="Shape 31"/>
          <p:cNvSpPr/>
          <p:nvPr/>
        </p:nvSpPr>
        <p:spPr>
          <a:xfrm>
            <a:off x="6858000" y="1737360"/>
            <a:ext cx="1828800" cy="73152"/>
          </a:xfrm>
          <a:prstGeom prst="rect">
            <a:avLst/>
          </a:prstGeom>
          <a:solidFill>
            <a:srgbClr val="16A34A"/>
          </a:solidFill>
          <a:ln w="12700">
            <a:solidFill>
              <a:srgbClr val="16A34A"/>
            </a:solidFill>
            <a:prstDash val="solid"/>
          </a:ln>
        </p:spPr>
      </p:sp>
      <p:sp>
        <p:nvSpPr>
          <p:cNvPr id="34" name="Text 32"/>
          <p:cNvSpPr/>
          <p:nvPr/>
        </p:nvSpPr>
        <p:spPr>
          <a:xfrm>
            <a:off x="6967728" y="1874520"/>
            <a:ext cx="457200" cy="365760"/>
          </a:xfrm>
          <a:prstGeom prst="rect">
            <a:avLst/>
          </a:prstGeom>
          <a:noFill/>
          <a:ln/>
        </p:spPr>
        <p:txBody>
          <a:bodyPr wrap="square" rtlCol="0" anchor="ctr"/>
          <a:lstStyle/>
          <a:p>
            <a:pPr indent="0" marL="0">
              <a:buNone/>
            </a:pPr>
            <a:r>
              <a:rPr lang="en-US" sz="2800" b="1" dirty="0">
                <a:solidFill>
                  <a:srgbClr val="16A34A"/>
                </a:solidFill>
                <a:latin typeface="Georgia" pitchFamily="34" charset="0"/>
                <a:ea typeface="Georgia" pitchFamily="34" charset="-122"/>
                <a:cs typeface="Georgia" pitchFamily="34" charset="-120"/>
              </a:rPr>
              <a:t>4</a:t>
            </a:r>
            <a:endParaRPr lang="en-US" sz="2800" dirty="0"/>
          </a:p>
        </p:txBody>
      </p:sp>
      <p:sp>
        <p:nvSpPr>
          <p:cNvPr id="35" name="Text 33"/>
          <p:cNvSpPr/>
          <p:nvPr/>
        </p:nvSpPr>
        <p:spPr>
          <a:xfrm>
            <a:off x="6967728" y="2240280"/>
            <a:ext cx="1645920" cy="256032"/>
          </a:xfrm>
          <a:prstGeom prst="rect">
            <a:avLst/>
          </a:prstGeom>
          <a:noFill/>
          <a:ln/>
        </p:spPr>
        <p:txBody>
          <a:bodyPr wrap="square" rtlCol="0" anchor="ctr"/>
          <a:lstStyle/>
          <a:p>
            <a:pPr indent="0" marL="0">
              <a:buNone/>
            </a:pPr>
            <a:r>
              <a:rPr lang="en-US" sz="1000" b="1" spc="200" kern="0" dirty="0">
                <a:solidFill>
                  <a:srgbClr val="0F1F3D"/>
                </a:solidFill>
                <a:latin typeface="Calibri" pitchFamily="34" charset="0"/>
                <a:ea typeface="Calibri" pitchFamily="34" charset="-122"/>
                <a:cs typeface="Calibri" pitchFamily="34" charset="-120"/>
              </a:rPr>
              <a:t>SCALE</a:t>
            </a:r>
            <a:endParaRPr lang="en-US" sz="1000" dirty="0"/>
          </a:p>
        </p:txBody>
      </p:sp>
      <p:sp>
        <p:nvSpPr>
          <p:cNvPr id="36" name="Text 34"/>
          <p:cNvSpPr/>
          <p:nvPr/>
        </p:nvSpPr>
        <p:spPr>
          <a:xfrm>
            <a:off x="6967728" y="2514600"/>
            <a:ext cx="1645920" cy="228600"/>
          </a:xfrm>
          <a:prstGeom prst="rect">
            <a:avLst/>
          </a:prstGeom>
          <a:noFill/>
          <a:ln/>
        </p:spPr>
        <p:txBody>
          <a:bodyPr wrap="square"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Mo 12–18</a:t>
            </a:r>
            <a:endParaRPr lang="en-US" sz="950" dirty="0"/>
          </a:p>
        </p:txBody>
      </p:sp>
      <p:sp>
        <p:nvSpPr>
          <p:cNvPr id="37" name="Text 35"/>
          <p:cNvSpPr/>
          <p:nvPr/>
        </p:nvSpPr>
        <p:spPr>
          <a:xfrm>
            <a:off x="6967728" y="2788920"/>
            <a:ext cx="1645920" cy="731520"/>
          </a:xfrm>
          <a:prstGeom prst="rect">
            <a:avLst/>
          </a:prstGeom>
          <a:noFill/>
          <a:ln/>
        </p:spPr>
        <p:txBody>
          <a:bodyPr wrap="square" rtlCol="0" anchor="ctr"/>
          <a:lstStyle/>
          <a:p>
            <a:pPr indent="0" marL="0">
              <a:buNone/>
            </a:pPr>
            <a:r>
              <a:rPr lang="en-US" sz="950" dirty="0">
                <a:solidFill>
                  <a:srgbClr val="475569"/>
                </a:solidFill>
                <a:latin typeface="Calibri" pitchFamily="34" charset="0"/>
                <a:ea typeface="Calibri" pitchFamily="34" charset="-122"/>
                <a:cs typeface="Calibri" pitchFamily="34" charset="-120"/>
              </a:rPr>
              <a:t>4 cities, 5K families.</a:t>
            </a:r>
            <a:endParaRPr lang="en-US" sz="950" dirty="0"/>
          </a:p>
          <a:p>
            <a:pPr indent="0" marL="0">
              <a:buNone/>
            </a:pPr>
            <a:r>
              <a:rPr lang="en-US" sz="950" dirty="0">
                <a:solidFill>
                  <a:srgbClr val="475569"/>
                </a:solidFill>
                <a:latin typeface="Calibri" pitchFamily="34" charset="0"/>
                <a:ea typeface="Calibri" pitchFamily="34" charset="-122"/>
                <a:cs typeface="Calibri" pitchFamily="34" charset="-120"/>
              </a:rPr>
              <a:t>Seed fundraise opens.</a:t>
            </a:r>
            <a:endParaRPr lang="en-US" sz="950" dirty="0"/>
          </a:p>
        </p:txBody>
      </p:sp>
      <p:sp>
        <p:nvSpPr>
          <p:cNvPr id="38" name="Shape 36"/>
          <p:cNvSpPr/>
          <p:nvPr/>
        </p:nvSpPr>
        <p:spPr>
          <a:xfrm>
            <a:off x="457200" y="4206240"/>
            <a:ext cx="8229600" cy="685800"/>
          </a:xfrm>
          <a:prstGeom prst="rect">
            <a:avLst/>
          </a:prstGeom>
          <a:solidFill>
            <a:srgbClr val="CCFBF1"/>
          </a:solidFill>
          <a:ln w="6350">
            <a:solidFill>
              <a:srgbClr val="14B8A6"/>
            </a:solidFill>
            <a:prstDash val="solid"/>
          </a:ln>
        </p:spPr>
      </p:sp>
      <p:sp>
        <p:nvSpPr>
          <p:cNvPr id="39" name="Text 37"/>
          <p:cNvSpPr/>
          <p:nvPr/>
        </p:nvSpPr>
        <p:spPr>
          <a:xfrm>
            <a:off x="640080" y="4270248"/>
            <a:ext cx="1463040" cy="201168"/>
          </a:xfrm>
          <a:prstGeom prst="rect">
            <a:avLst/>
          </a:prstGeom>
          <a:noFill/>
          <a:ln/>
        </p:spPr>
        <p:txBody>
          <a:bodyPr wrap="square"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Wk 6</a:t>
            </a:r>
            <a:endParaRPr lang="en-US" sz="800" dirty="0"/>
          </a:p>
        </p:txBody>
      </p:sp>
      <p:sp>
        <p:nvSpPr>
          <p:cNvPr id="40" name="Text 38"/>
          <p:cNvSpPr/>
          <p:nvPr/>
        </p:nvSpPr>
        <p:spPr>
          <a:xfrm>
            <a:off x="640080" y="4453128"/>
            <a:ext cx="1463040" cy="320040"/>
          </a:xfrm>
          <a:prstGeom prst="rect">
            <a:avLst/>
          </a:prstGeom>
          <a:noFill/>
          <a:ln/>
        </p:spPr>
        <p:txBody>
          <a:bodyPr wrap="square" rtlCol="0" anchor="ctr"/>
          <a:lstStyle/>
          <a:p>
            <a:pPr indent="0" marL="0">
              <a:buNone/>
            </a:pPr>
            <a:r>
              <a:rPr lang="en-US" sz="900" dirty="0">
                <a:solidFill>
                  <a:srgbClr val="0F1F3D"/>
                </a:solidFill>
                <a:latin typeface="Calibri" pitchFamily="34" charset="0"/>
                <a:ea typeface="Calibri" pitchFamily="34" charset="-122"/>
                <a:cs typeface="Calibri" pitchFamily="34" charset="-120"/>
              </a:rPr>
              <a:t>8 validation bets complete</a:t>
            </a:r>
            <a:endParaRPr lang="en-US" sz="900" dirty="0"/>
          </a:p>
        </p:txBody>
      </p:sp>
      <p:sp>
        <p:nvSpPr>
          <p:cNvPr id="41" name="Text 39"/>
          <p:cNvSpPr/>
          <p:nvPr/>
        </p:nvSpPr>
        <p:spPr>
          <a:xfrm>
            <a:off x="2286000" y="4270248"/>
            <a:ext cx="1463040" cy="201168"/>
          </a:xfrm>
          <a:prstGeom prst="rect">
            <a:avLst/>
          </a:prstGeom>
          <a:noFill/>
          <a:ln/>
        </p:spPr>
        <p:txBody>
          <a:bodyPr wrap="square"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Wk 22</a:t>
            </a:r>
            <a:endParaRPr lang="en-US" sz="800" dirty="0"/>
          </a:p>
        </p:txBody>
      </p:sp>
      <p:sp>
        <p:nvSpPr>
          <p:cNvPr id="42" name="Text 40"/>
          <p:cNvSpPr/>
          <p:nvPr/>
        </p:nvSpPr>
        <p:spPr>
          <a:xfrm>
            <a:off x="2286000" y="4453128"/>
            <a:ext cx="1463040" cy="320040"/>
          </a:xfrm>
          <a:prstGeom prst="rect">
            <a:avLst/>
          </a:prstGeom>
          <a:noFill/>
          <a:ln/>
        </p:spPr>
        <p:txBody>
          <a:bodyPr wrap="square" rtlCol="0" anchor="ctr"/>
          <a:lstStyle/>
          <a:p>
            <a:pPr indent="0" marL="0">
              <a:buNone/>
            </a:pPr>
            <a:r>
              <a:rPr lang="en-US" sz="900" dirty="0">
                <a:solidFill>
                  <a:srgbClr val="0F1F3D"/>
                </a:solidFill>
                <a:latin typeface="Calibri" pitchFamily="34" charset="0"/>
                <a:ea typeface="Calibri" pitchFamily="34" charset="-122"/>
                <a:cs typeface="Calibri" pitchFamily="34" charset="-120"/>
              </a:rPr>
              <a:t>MVP live, 50 beta families</a:t>
            </a:r>
            <a:endParaRPr lang="en-US" sz="900" dirty="0"/>
          </a:p>
        </p:txBody>
      </p:sp>
      <p:sp>
        <p:nvSpPr>
          <p:cNvPr id="43" name="Text 41"/>
          <p:cNvSpPr/>
          <p:nvPr/>
        </p:nvSpPr>
        <p:spPr>
          <a:xfrm>
            <a:off x="3931920" y="4270248"/>
            <a:ext cx="1463040" cy="201168"/>
          </a:xfrm>
          <a:prstGeom prst="rect">
            <a:avLst/>
          </a:prstGeom>
          <a:noFill/>
          <a:ln/>
        </p:spPr>
        <p:txBody>
          <a:bodyPr wrap="square"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Mo 6</a:t>
            </a:r>
            <a:endParaRPr lang="en-US" sz="800" dirty="0"/>
          </a:p>
        </p:txBody>
      </p:sp>
      <p:sp>
        <p:nvSpPr>
          <p:cNvPr id="44" name="Text 42"/>
          <p:cNvSpPr/>
          <p:nvPr/>
        </p:nvSpPr>
        <p:spPr>
          <a:xfrm>
            <a:off x="3931920" y="4453128"/>
            <a:ext cx="1463040" cy="320040"/>
          </a:xfrm>
          <a:prstGeom prst="rect">
            <a:avLst/>
          </a:prstGeom>
          <a:noFill/>
          <a:ln/>
        </p:spPr>
        <p:txBody>
          <a:bodyPr wrap="square" rtlCol="0" anchor="ctr"/>
          <a:lstStyle/>
          <a:p>
            <a:pPr indent="0" marL="0">
              <a:buNone/>
            </a:pPr>
            <a:r>
              <a:rPr lang="en-US" sz="900" dirty="0">
                <a:solidFill>
                  <a:srgbClr val="0F1F3D"/>
                </a:solidFill>
                <a:latin typeface="Calibri" pitchFamily="34" charset="0"/>
                <a:ea typeface="Calibri" pitchFamily="34" charset="-122"/>
                <a:cs typeface="Calibri" pitchFamily="34" charset="-120"/>
              </a:rPr>
              <a:t>City Zero: 500 HH</a:t>
            </a:r>
            <a:endParaRPr lang="en-US" sz="900" dirty="0"/>
          </a:p>
        </p:txBody>
      </p:sp>
      <p:sp>
        <p:nvSpPr>
          <p:cNvPr id="45" name="Text 43"/>
          <p:cNvSpPr/>
          <p:nvPr/>
        </p:nvSpPr>
        <p:spPr>
          <a:xfrm>
            <a:off x="5577840" y="4270248"/>
            <a:ext cx="1463040" cy="201168"/>
          </a:xfrm>
          <a:prstGeom prst="rect">
            <a:avLst/>
          </a:prstGeom>
          <a:noFill/>
          <a:ln/>
        </p:spPr>
        <p:txBody>
          <a:bodyPr wrap="square"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Mo 12</a:t>
            </a:r>
            <a:endParaRPr lang="en-US" sz="800" dirty="0"/>
          </a:p>
        </p:txBody>
      </p:sp>
      <p:sp>
        <p:nvSpPr>
          <p:cNvPr id="46" name="Text 44"/>
          <p:cNvSpPr/>
          <p:nvPr/>
        </p:nvSpPr>
        <p:spPr>
          <a:xfrm>
            <a:off x="5577840" y="4453128"/>
            <a:ext cx="1463040" cy="320040"/>
          </a:xfrm>
          <a:prstGeom prst="rect">
            <a:avLst/>
          </a:prstGeom>
          <a:noFill/>
          <a:ln/>
        </p:spPr>
        <p:txBody>
          <a:bodyPr wrap="square" rtlCol="0" anchor="ctr"/>
          <a:lstStyle/>
          <a:p>
            <a:pPr indent="0" marL="0">
              <a:buNone/>
            </a:pPr>
            <a:r>
              <a:rPr lang="en-US" sz="900" dirty="0">
                <a:solidFill>
                  <a:srgbClr val="0F1F3D"/>
                </a:solidFill>
                <a:latin typeface="Calibri" pitchFamily="34" charset="0"/>
                <a:ea typeface="Calibri" pitchFamily="34" charset="-122"/>
                <a:cs typeface="Calibri" pitchFamily="34" charset="-120"/>
              </a:rPr>
              <a:t>D90 retention &gt;60%</a:t>
            </a:r>
            <a:endParaRPr lang="en-US" sz="900" dirty="0"/>
          </a:p>
        </p:txBody>
      </p:sp>
      <p:sp>
        <p:nvSpPr>
          <p:cNvPr id="47" name="Text 45"/>
          <p:cNvSpPr/>
          <p:nvPr/>
        </p:nvSpPr>
        <p:spPr>
          <a:xfrm>
            <a:off x="7223760" y="4270248"/>
            <a:ext cx="1463040" cy="201168"/>
          </a:xfrm>
          <a:prstGeom prst="rect">
            <a:avLst/>
          </a:prstGeom>
          <a:noFill/>
          <a:ln/>
        </p:spPr>
        <p:txBody>
          <a:bodyPr wrap="square"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Mo 18</a:t>
            </a:r>
            <a:endParaRPr lang="en-US" sz="800" dirty="0"/>
          </a:p>
        </p:txBody>
      </p:sp>
      <p:sp>
        <p:nvSpPr>
          <p:cNvPr id="48" name="Text 46"/>
          <p:cNvSpPr/>
          <p:nvPr/>
        </p:nvSpPr>
        <p:spPr>
          <a:xfrm>
            <a:off x="7223760" y="4453128"/>
            <a:ext cx="1463040" cy="320040"/>
          </a:xfrm>
          <a:prstGeom prst="rect">
            <a:avLst/>
          </a:prstGeom>
          <a:noFill/>
          <a:ln/>
        </p:spPr>
        <p:txBody>
          <a:bodyPr wrap="square" rtlCol="0" anchor="ctr"/>
          <a:lstStyle/>
          <a:p>
            <a:pPr indent="0" marL="0">
              <a:buNone/>
            </a:pPr>
            <a:r>
              <a:rPr lang="en-US" sz="900" dirty="0">
                <a:solidFill>
                  <a:srgbClr val="0F1F3D"/>
                </a:solidFill>
                <a:latin typeface="Calibri" pitchFamily="34" charset="0"/>
                <a:ea typeface="Calibri" pitchFamily="34" charset="-122"/>
                <a:cs typeface="Calibri" pitchFamily="34" charset="-120"/>
              </a:rPr>
              <a:t>£380K ARR · Seed opens</a:t>
            </a:r>
            <a:endParaRPr lang="en-US" sz="900" dirty="0"/>
          </a:p>
        </p:txBody>
      </p:sp>
      <p:sp>
        <p:nvSpPr>
          <p:cNvPr id="49" name="Text 47"/>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§01 · PROTOTYPE</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Prototype Phase: Validate Before You Build</a:t>
            </a:r>
            <a:endParaRPr lang="en-US" sz="3000" dirty="0"/>
          </a:p>
        </p:txBody>
      </p:sp>
      <p:sp>
        <p:nvSpPr>
          <p:cNvPr id="4" name="Text 2"/>
          <p:cNvSpPr/>
          <p:nvPr/>
        </p:nvSpPr>
        <p:spPr>
          <a:xfrm>
            <a:off x="457200" y="1097280"/>
            <a:ext cx="7315200" cy="365760"/>
          </a:xfrm>
          <a:prstGeom prst="rect">
            <a:avLst/>
          </a:prstGeom>
          <a:noFill/>
          <a:ln/>
        </p:spPr>
        <p:txBody>
          <a:bodyPr wrap="square" rtlCol="0" anchor="ctr"/>
          <a:lstStyle/>
          <a:p>
            <a:pPr algn="l" indent="0" marL="0">
              <a:buNone/>
            </a:pPr>
            <a:r>
              <a:rPr lang="en-US" sz="1300" dirty="0">
                <a:solidFill>
                  <a:srgbClr val="475569"/>
                </a:solidFill>
                <a:latin typeface="Calibri" pitchFamily="34" charset="0"/>
                <a:ea typeface="Calibri" pitchFamily="34" charset="-122"/>
                <a:cs typeface="Calibri" pitchFamily="34" charset="-120"/>
              </a:rPr>
              <a:t>6 weeks. £15K budget. 8 critical assumptions tested. No product shipped.</a:t>
            </a:r>
            <a:endParaRPr lang="en-US" sz="1300" dirty="0"/>
          </a:p>
        </p:txBody>
      </p:sp>
      <p:sp>
        <p:nvSpPr>
          <p:cNvPr id="5" name="Shape 3"/>
          <p:cNvSpPr/>
          <p:nvPr/>
        </p:nvSpPr>
        <p:spPr>
          <a:xfrm>
            <a:off x="457200" y="1371600"/>
            <a:ext cx="8229600" cy="0"/>
          </a:xfrm>
          <a:prstGeom prst="line">
            <a:avLst/>
          </a:prstGeom>
          <a:noFill/>
          <a:ln w="15240">
            <a:solidFill>
              <a:srgbClr val="0D9488">
                <a:alpha val="80000"/>
              </a:srgbClr>
            </a:solidFill>
            <a:prstDash val="solid"/>
          </a:ln>
        </p:spPr>
      </p:sp>
      <p:sp>
        <p:nvSpPr>
          <p:cNvPr id="6" name="Shape 4"/>
          <p:cNvSpPr/>
          <p:nvPr/>
        </p:nvSpPr>
        <p:spPr>
          <a:xfrm>
            <a:off x="411480" y="1508760"/>
            <a:ext cx="4114800" cy="1051560"/>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7" name="Shape 5"/>
          <p:cNvSpPr/>
          <p:nvPr/>
        </p:nvSpPr>
        <p:spPr>
          <a:xfrm>
            <a:off x="411480" y="1508760"/>
            <a:ext cx="4114800" cy="54864"/>
          </a:xfrm>
          <a:prstGeom prst="rect">
            <a:avLst/>
          </a:prstGeom>
          <a:solidFill>
            <a:srgbClr val="E11D48"/>
          </a:solidFill>
          <a:ln w="12700">
            <a:solidFill>
              <a:srgbClr val="E11D48"/>
            </a:solidFill>
            <a:prstDash val="solid"/>
          </a:ln>
        </p:spPr>
      </p:sp>
      <p:sp>
        <p:nvSpPr>
          <p:cNvPr id="8" name="Text 6"/>
          <p:cNvSpPr/>
          <p:nvPr/>
        </p:nvSpPr>
        <p:spPr>
          <a:xfrm>
            <a:off x="521208" y="1600200"/>
            <a:ext cx="365760" cy="292608"/>
          </a:xfrm>
          <a:prstGeom prst="rect">
            <a:avLst/>
          </a:prstGeom>
          <a:noFill/>
          <a:ln/>
        </p:spPr>
        <p:txBody>
          <a:bodyPr wrap="square" lIns="0" tIns="0" rIns="0" bIns="0" rtlCol="0" anchor="ctr"/>
          <a:lstStyle/>
          <a:p>
            <a:pPr indent="0" marL="0">
              <a:buNone/>
            </a:pPr>
            <a:r>
              <a:rPr lang="en-US" sz="1400" b="1" dirty="0">
                <a:solidFill>
                  <a:srgbClr val="E11D48"/>
                </a:solidFill>
                <a:latin typeface="Georgia" pitchFamily="34" charset="0"/>
                <a:ea typeface="Georgia" pitchFamily="34" charset="-122"/>
                <a:cs typeface="Georgia" pitchFamily="34" charset="-120"/>
              </a:rPr>
              <a:t>01</a:t>
            </a:r>
            <a:endParaRPr lang="en-US" sz="1400" dirty="0"/>
          </a:p>
        </p:txBody>
      </p:sp>
      <p:sp>
        <p:nvSpPr>
          <p:cNvPr id="9" name="Text 7"/>
          <p:cNvSpPr/>
          <p:nvPr/>
        </p:nvSpPr>
        <p:spPr>
          <a:xfrm>
            <a:off x="914400" y="1600200"/>
            <a:ext cx="3200400" cy="256032"/>
          </a:xfrm>
          <a:prstGeom prst="rect">
            <a:avLst/>
          </a:prstGeom>
          <a:noFill/>
          <a:ln/>
        </p:spPr>
        <p:txBody>
          <a:bodyPr wrap="square" lIns="0" tIns="0" rIns="0" bIns="0"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Couple Consent Test</a:t>
            </a:r>
            <a:endParaRPr lang="en-US" sz="1050" dirty="0"/>
          </a:p>
        </p:txBody>
      </p:sp>
      <p:sp>
        <p:nvSpPr>
          <p:cNvPr id="10" name="Text 8"/>
          <p:cNvSpPr/>
          <p:nvPr/>
        </p:nvSpPr>
        <p:spPr>
          <a:xfrm>
            <a:off x="521208" y="1892808"/>
            <a:ext cx="3840480" cy="22860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Method: 20 in-home interviews + spreadsheet exercise</a:t>
            </a:r>
            <a:endParaRPr lang="en-US" sz="850" dirty="0"/>
          </a:p>
        </p:txBody>
      </p:sp>
      <p:sp>
        <p:nvSpPr>
          <p:cNvPr id="11" name="Text 9"/>
          <p:cNvSpPr/>
          <p:nvPr/>
        </p:nvSpPr>
        <p:spPr>
          <a:xfrm>
            <a:off x="521208" y="2121408"/>
            <a:ext cx="3383280" cy="228600"/>
          </a:xfrm>
          <a:prstGeom prst="rect">
            <a:avLst/>
          </a:prstGeom>
          <a:noFill/>
          <a:ln/>
        </p:spPr>
        <p:txBody>
          <a:bodyPr wrap="square" lIns="0" tIns="0" rIns="0" bIns="0" rtlCol="0" anchor="ctr"/>
          <a:lstStyle/>
          <a:p>
            <a:pPr indent="0" marL="0">
              <a:buNone/>
            </a:pPr>
            <a:r>
              <a:rPr lang="en-US" sz="850" dirty="0">
                <a:solidFill>
                  <a:srgbClr val="E11D48"/>
                </a:solidFill>
                <a:latin typeface="Calibri" pitchFamily="34" charset="0"/>
                <a:ea typeface="Calibri" pitchFamily="34" charset="-122"/>
                <a:cs typeface="Calibri" pitchFamily="34" charset="-120"/>
              </a:rPr>
              <a:t>Kill: &gt;25% hard refusal → privacy-first redesign</a:t>
            </a:r>
            <a:endParaRPr lang="en-US" sz="850" dirty="0"/>
          </a:p>
        </p:txBody>
      </p:sp>
      <p:sp>
        <p:nvSpPr>
          <p:cNvPr id="12" name="Shape 10"/>
          <p:cNvSpPr/>
          <p:nvPr/>
        </p:nvSpPr>
        <p:spPr>
          <a:xfrm>
            <a:off x="4023360" y="2011680"/>
            <a:ext cx="411480" cy="384048"/>
          </a:xfrm>
          <a:prstGeom prst="rect">
            <a:avLst/>
          </a:prstGeom>
          <a:solidFill>
            <a:srgbClr val="E11D48"/>
          </a:solidFill>
          <a:ln w="12700">
            <a:solidFill>
              <a:srgbClr val="E11D48"/>
            </a:solidFill>
            <a:prstDash val="solid"/>
          </a:ln>
        </p:spPr>
      </p:sp>
      <p:sp>
        <p:nvSpPr>
          <p:cNvPr id="13" name="Text 11"/>
          <p:cNvSpPr/>
          <p:nvPr/>
        </p:nvSpPr>
        <p:spPr>
          <a:xfrm>
            <a:off x="3959352" y="2075688"/>
            <a:ext cx="512064"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£1,600</a:t>
            </a:r>
            <a:endParaRPr lang="en-US" sz="750" dirty="0"/>
          </a:p>
        </p:txBody>
      </p:sp>
      <p:sp>
        <p:nvSpPr>
          <p:cNvPr id="14" name="Shape 12"/>
          <p:cNvSpPr/>
          <p:nvPr/>
        </p:nvSpPr>
        <p:spPr>
          <a:xfrm>
            <a:off x="411480" y="2679192"/>
            <a:ext cx="4114800" cy="1051560"/>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15" name="Shape 13"/>
          <p:cNvSpPr/>
          <p:nvPr/>
        </p:nvSpPr>
        <p:spPr>
          <a:xfrm>
            <a:off x="411480" y="2679192"/>
            <a:ext cx="4114800" cy="54864"/>
          </a:xfrm>
          <a:prstGeom prst="rect">
            <a:avLst/>
          </a:prstGeom>
          <a:solidFill>
            <a:srgbClr val="0D9488"/>
          </a:solidFill>
          <a:ln w="12700">
            <a:solidFill>
              <a:srgbClr val="0D9488"/>
            </a:solidFill>
            <a:prstDash val="solid"/>
          </a:ln>
        </p:spPr>
      </p:sp>
      <p:sp>
        <p:nvSpPr>
          <p:cNvPr id="16" name="Text 14"/>
          <p:cNvSpPr/>
          <p:nvPr/>
        </p:nvSpPr>
        <p:spPr>
          <a:xfrm>
            <a:off x="521208" y="2770632"/>
            <a:ext cx="365760" cy="292608"/>
          </a:xfrm>
          <a:prstGeom prst="rect">
            <a:avLst/>
          </a:prstGeom>
          <a:noFill/>
          <a:ln/>
        </p:spPr>
        <p:txBody>
          <a:bodyPr wrap="square" lIns="0" tIns="0" rIns="0" bIns="0" rtlCol="0" anchor="ctr"/>
          <a:lstStyle/>
          <a:p>
            <a:pPr indent="0" marL="0">
              <a:buNone/>
            </a:pPr>
            <a:r>
              <a:rPr lang="en-US" sz="1400" b="1" dirty="0">
                <a:solidFill>
                  <a:srgbClr val="0D9488"/>
                </a:solidFill>
                <a:latin typeface="Georgia" pitchFamily="34" charset="0"/>
                <a:ea typeface="Georgia" pitchFamily="34" charset="-122"/>
                <a:cs typeface="Georgia" pitchFamily="34" charset="-120"/>
              </a:rPr>
              <a:t>03</a:t>
            </a:r>
            <a:endParaRPr lang="en-US" sz="1400" dirty="0"/>
          </a:p>
        </p:txBody>
      </p:sp>
      <p:sp>
        <p:nvSpPr>
          <p:cNvPr id="17" name="Text 15"/>
          <p:cNvSpPr/>
          <p:nvPr/>
        </p:nvSpPr>
        <p:spPr>
          <a:xfrm>
            <a:off x="914400" y="2770632"/>
            <a:ext cx="3200400" cy="256032"/>
          </a:xfrm>
          <a:prstGeom prst="rect">
            <a:avLst/>
          </a:prstGeom>
          <a:noFill/>
          <a:ln/>
        </p:spPr>
        <p:txBody>
          <a:bodyPr wrap="square" lIns="0" tIns="0" rIns="0" bIns="0"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Employer B2B Signal</a:t>
            </a:r>
            <a:endParaRPr lang="en-US" sz="1050" dirty="0"/>
          </a:p>
        </p:txBody>
      </p:sp>
      <p:sp>
        <p:nvSpPr>
          <p:cNvPr id="18" name="Text 16"/>
          <p:cNvSpPr/>
          <p:nvPr/>
        </p:nvSpPr>
        <p:spPr>
          <a:xfrm>
            <a:off x="521208" y="3063240"/>
            <a:ext cx="3840480" cy="22860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Method: 30 HR director pitches → LOI ask at £2–5K/yr</a:t>
            </a:r>
            <a:endParaRPr lang="en-US" sz="850" dirty="0"/>
          </a:p>
        </p:txBody>
      </p:sp>
      <p:sp>
        <p:nvSpPr>
          <p:cNvPr id="19" name="Text 17"/>
          <p:cNvSpPr/>
          <p:nvPr/>
        </p:nvSpPr>
        <p:spPr>
          <a:xfrm>
            <a:off x="521208" y="3291840"/>
            <a:ext cx="3383280" cy="228600"/>
          </a:xfrm>
          <a:prstGeom prst="rect">
            <a:avLst/>
          </a:prstGeom>
          <a:noFill/>
          <a:ln/>
        </p:spPr>
        <p:txBody>
          <a:bodyPr wrap="square" lIns="0" tIns="0" rIns="0" bIns="0" rtlCol="0" anchor="ctr"/>
          <a:lstStyle/>
          <a:p>
            <a:pPr indent="0" marL="0">
              <a:buNone/>
            </a:pPr>
            <a:r>
              <a:rPr lang="en-US" sz="850" dirty="0">
                <a:solidFill>
                  <a:srgbClr val="E11D48"/>
                </a:solidFill>
                <a:latin typeface="Calibri" pitchFamily="34" charset="0"/>
                <a:ea typeface="Calibri" pitchFamily="34" charset="-122"/>
                <a:cs typeface="Calibri" pitchFamily="34" charset="-120"/>
              </a:rPr>
              <a:t>Kill: 0 LOIs from 30 → pivot ICP</a:t>
            </a:r>
            <a:endParaRPr lang="en-US" sz="850" dirty="0"/>
          </a:p>
        </p:txBody>
      </p:sp>
      <p:sp>
        <p:nvSpPr>
          <p:cNvPr id="20" name="Shape 18"/>
          <p:cNvSpPr/>
          <p:nvPr/>
        </p:nvSpPr>
        <p:spPr>
          <a:xfrm>
            <a:off x="4023360" y="3182112"/>
            <a:ext cx="411480" cy="384048"/>
          </a:xfrm>
          <a:prstGeom prst="rect">
            <a:avLst/>
          </a:prstGeom>
          <a:solidFill>
            <a:srgbClr val="0D9488"/>
          </a:solidFill>
          <a:ln w="12700">
            <a:solidFill>
              <a:srgbClr val="0D9488"/>
            </a:solidFill>
            <a:prstDash val="solid"/>
          </a:ln>
        </p:spPr>
      </p:sp>
      <p:sp>
        <p:nvSpPr>
          <p:cNvPr id="21" name="Text 19"/>
          <p:cNvSpPr/>
          <p:nvPr/>
        </p:nvSpPr>
        <p:spPr>
          <a:xfrm>
            <a:off x="3959352" y="3246120"/>
            <a:ext cx="512064"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£800</a:t>
            </a:r>
            <a:endParaRPr lang="en-US" sz="750" dirty="0"/>
          </a:p>
        </p:txBody>
      </p:sp>
      <p:sp>
        <p:nvSpPr>
          <p:cNvPr id="22" name="Shape 20"/>
          <p:cNvSpPr/>
          <p:nvPr/>
        </p:nvSpPr>
        <p:spPr>
          <a:xfrm>
            <a:off x="411480" y="3849624"/>
            <a:ext cx="4114800" cy="1051560"/>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411480" y="3849624"/>
            <a:ext cx="4114800" cy="54864"/>
          </a:xfrm>
          <a:prstGeom prst="rect">
            <a:avLst/>
          </a:prstGeom>
          <a:solidFill>
            <a:srgbClr val="16A34A"/>
          </a:solidFill>
          <a:ln w="12700">
            <a:solidFill>
              <a:srgbClr val="16A34A"/>
            </a:solidFill>
            <a:prstDash val="solid"/>
          </a:ln>
        </p:spPr>
      </p:sp>
      <p:sp>
        <p:nvSpPr>
          <p:cNvPr id="24" name="Text 22"/>
          <p:cNvSpPr/>
          <p:nvPr/>
        </p:nvSpPr>
        <p:spPr>
          <a:xfrm>
            <a:off x="521208" y="3941064"/>
            <a:ext cx="365760" cy="292608"/>
          </a:xfrm>
          <a:prstGeom prst="rect">
            <a:avLst/>
          </a:prstGeom>
          <a:noFill/>
          <a:ln/>
        </p:spPr>
        <p:txBody>
          <a:bodyPr wrap="square" lIns="0" tIns="0" rIns="0" bIns="0" rtlCol="0" anchor="ctr"/>
          <a:lstStyle/>
          <a:p>
            <a:pPr indent="0" marL="0">
              <a:buNone/>
            </a:pPr>
            <a:r>
              <a:rPr lang="en-US" sz="1400" b="1" dirty="0">
                <a:solidFill>
                  <a:srgbClr val="16A34A"/>
                </a:solidFill>
                <a:latin typeface="Georgia" pitchFamily="34" charset="0"/>
                <a:ea typeface="Georgia" pitchFamily="34" charset="-122"/>
                <a:cs typeface="Georgia" pitchFamily="34" charset="-120"/>
              </a:rPr>
              <a:t>05</a:t>
            </a:r>
            <a:endParaRPr lang="en-US" sz="1400" dirty="0"/>
          </a:p>
        </p:txBody>
      </p:sp>
      <p:sp>
        <p:nvSpPr>
          <p:cNvPr id="25" name="Text 23"/>
          <p:cNvSpPr/>
          <p:nvPr/>
        </p:nvSpPr>
        <p:spPr>
          <a:xfrm>
            <a:off x="914400" y="3941064"/>
            <a:ext cx="3200400" cy="256032"/>
          </a:xfrm>
          <a:prstGeom prst="rect">
            <a:avLst/>
          </a:prstGeom>
          <a:noFill/>
          <a:ln/>
        </p:spPr>
        <p:txBody>
          <a:bodyPr wrap="square" lIns="0" tIns="0" rIns="0" bIns="0"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School Channel Pull</a:t>
            </a:r>
            <a:endParaRPr lang="en-US" sz="1050" dirty="0"/>
          </a:p>
        </p:txBody>
      </p:sp>
      <p:sp>
        <p:nvSpPr>
          <p:cNvPr id="26" name="Text 24"/>
          <p:cNvSpPr/>
          <p:nvPr/>
        </p:nvSpPr>
        <p:spPr>
          <a:xfrm>
            <a:off x="521208" y="4233672"/>
            <a:ext cx="3840480" cy="22860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Method: 10 principal outreach + 2-session curriculum pilot</a:t>
            </a:r>
            <a:endParaRPr lang="en-US" sz="850" dirty="0"/>
          </a:p>
        </p:txBody>
      </p:sp>
      <p:sp>
        <p:nvSpPr>
          <p:cNvPr id="27" name="Text 25"/>
          <p:cNvSpPr/>
          <p:nvPr/>
        </p:nvSpPr>
        <p:spPr>
          <a:xfrm>
            <a:off x="521208" y="4462272"/>
            <a:ext cx="3383280" cy="228600"/>
          </a:xfrm>
          <a:prstGeom prst="rect">
            <a:avLst/>
          </a:prstGeom>
          <a:noFill/>
          <a:ln/>
        </p:spPr>
        <p:txBody>
          <a:bodyPr wrap="square" lIns="0" tIns="0" rIns="0" bIns="0" rtlCol="0" anchor="ctr"/>
          <a:lstStyle/>
          <a:p>
            <a:pPr indent="0" marL="0">
              <a:buNone/>
            </a:pPr>
            <a:r>
              <a:rPr lang="en-US" sz="850" dirty="0">
                <a:solidFill>
                  <a:srgbClr val="E11D48"/>
                </a:solidFill>
                <a:latin typeface="Calibri" pitchFamily="34" charset="0"/>
                <a:ea typeface="Calibri" pitchFamily="34" charset="-122"/>
                <a:cs typeface="Calibri" pitchFamily="34" charset="-120"/>
              </a:rPr>
              <a:t>Kill: 0 pilots from 10 → rethink value exchange</a:t>
            </a:r>
            <a:endParaRPr lang="en-US" sz="850" dirty="0"/>
          </a:p>
        </p:txBody>
      </p:sp>
      <p:sp>
        <p:nvSpPr>
          <p:cNvPr id="28" name="Shape 26"/>
          <p:cNvSpPr/>
          <p:nvPr/>
        </p:nvSpPr>
        <p:spPr>
          <a:xfrm>
            <a:off x="4023360" y="4352544"/>
            <a:ext cx="411480" cy="384048"/>
          </a:xfrm>
          <a:prstGeom prst="rect">
            <a:avLst/>
          </a:prstGeom>
          <a:solidFill>
            <a:srgbClr val="16A34A"/>
          </a:solidFill>
          <a:ln w="12700">
            <a:solidFill>
              <a:srgbClr val="16A34A"/>
            </a:solidFill>
            <a:prstDash val="solid"/>
          </a:ln>
        </p:spPr>
      </p:sp>
      <p:sp>
        <p:nvSpPr>
          <p:cNvPr id="29" name="Text 27"/>
          <p:cNvSpPr/>
          <p:nvPr/>
        </p:nvSpPr>
        <p:spPr>
          <a:xfrm>
            <a:off x="3959352" y="4416552"/>
            <a:ext cx="512064"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£1,600</a:t>
            </a:r>
            <a:endParaRPr lang="en-US" sz="750" dirty="0"/>
          </a:p>
        </p:txBody>
      </p:sp>
      <p:sp>
        <p:nvSpPr>
          <p:cNvPr id="30" name="Shape 28"/>
          <p:cNvSpPr/>
          <p:nvPr/>
        </p:nvSpPr>
        <p:spPr>
          <a:xfrm>
            <a:off x="4800600" y="1508760"/>
            <a:ext cx="4114800" cy="1051560"/>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31" name="Shape 29"/>
          <p:cNvSpPr/>
          <p:nvPr/>
        </p:nvSpPr>
        <p:spPr>
          <a:xfrm>
            <a:off x="4800600" y="1508760"/>
            <a:ext cx="4114800" cy="54864"/>
          </a:xfrm>
          <a:prstGeom prst="rect">
            <a:avLst/>
          </a:prstGeom>
          <a:solidFill>
            <a:srgbClr val="D97706"/>
          </a:solidFill>
          <a:ln w="12700">
            <a:solidFill>
              <a:srgbClr val="D97706"/>
            </a:solidFill>
            <a:prstDash val="solid"/>
          </a:ln>
        </p:spPr>
      </p:sp>
      <p:sp>
        <p:nvSpPr>
          <p:cNvPr id="32" name="Text 30"/>
          <p:cNvSpPr/>
          <p:nvPr/>
        </p:nvSpPr>
        <p:spPr>
          <a:xfrm>
            <a:off x="4910328" y="1600200"/>
            <a:ext cx="365760" cy="292608"/>
          </a:xfrm>
          <a:prstGeom prst="rect">
            <a:avLst/>
          </a:prstGeom>
          <a:noFill/>
          <a:ln/>
        </p:spPr>
        <p:txBody>
          <a:bodyPr wrap="square" lIns="0" tIns="0" rIns="0" bIns="0" rtlCol="0" anchor="ctr"/>
          <a:lstStyle/>
          <a:p>
            <a:pPr indent="0" marL="0">
              <a:buNone/>
            </a:pPr>
            <a:r>
              <a:rPr lang="en-US" sz="1400" b="1" dirty="0">
                <a:solidFill>
                  <a:srgbClr val="D97706"/>
                </a:solidFill>
                <a:latin typeface="Georgia" pitchFamily="34" charset="0"/>
                <a:ea typeface="Georgia" pitchFamily="34" charset="-122"/>
                <a:cs typeface="Georgia" pitchFamily="34" charset="-120"/>
              </a:rPr>
              <a:t>02</a:t>
            </a:r>
            <a:endParaRPr lang="en-US" sz="1400" dirty="0"/>
          </a:p>
        </p:txBody>
      </p:sp>
      <p:sp>
        <p:nvSpPr>
          <p:cNvPr id="33" name="Text 31"/>
          <p:cNvSpPr/>
          <p:nvPr/>
        </p:nvSpPr>
        <p:spPr>
          <a:xfrm>
            <a:off x="5303520" y="1600200"/>
            <a:ext cx="3200400" cy="256032"/>
          </a:xfrm>
          <a:prstGeom prst="rect">
            <a:avLst/>
          </a:prstGeom>
          <a:noFill/>
          <a:ln/>
        </p:spPr>
        <p:txBody>
          <a:bodyPr wrap="square" lIns="0" tIns="0" rIns="0" bIns="0"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Willingness to Pay</a:t>
            </a:r>
            <a:endParaRPr lang="en-US" sz="1050" dirty="0"/>
          </a:p>
        </p:txBody>
      </p:sp>
      <p:sp>
        <p:nvSpPr>
          <p:cNvPr id="34" name="Text 32"/>
          <p:cNvSpPr/>
          <p:nvPr/>
        </p:nvSpPr>
        <p:spPr>
          <a:xfrm>
            <a:off x="4910328" y="1892808"/>
            <a:ext cx="3840480" cy="22860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Method: Landing page A/B + Van Westendorp price interviews</a:t>
            </a:r>
            <a:endParaRPr lang="en-US" sz="850" dirty="0"/>
          </a:p>
        </p:txBody>
      </p:sp>
      <p:sp>
        <p:nvSpPr>
          <p:cNvPr id="35" name="Text 33"/>
          <p:cNvSpPr/>
          <p:nvPr/>
        </p:nvSpPr>
        <p:spPr>
          <a:xfrm>
            <a:off x="4910328" y="2121408"/>
            <a:ext cx="3383280" cy="228600"/>
          </a:xfrm>
          <a:prstGeom prst="rect">
            <a:avLst/>
          </a:prstGeom>
          <a:noFill/>
          <a:ln/>
        </p:spPr>
        <p:txBody>
          <a:bodyPr wrap="square" lIns="0" tIns="0" rIns="0" bIns="0" rtlCol="0" anchor="ctr"/>
          <a:lstStyle/>
          <a:p>
            <a:pPr indent="0" marL="0">
              <a:buNone/>
            </a:pPr>
            <a:r>
              <a:rPr lang="en-US" sz="850" dirty="0">
                <a:solidFill>
                  <a:srgbClr val="E11D48"/>
                </a:solidFill>
                <a:latin typeface="Calibri" pitchFamily="34" charset="0"/>
                <a:ea typeface="Calibri" pitchFamily="34" charset="-122"/>
                <a:cs typeface="Calibri" pitchFamily="34" charset="-120"/>
              </a:rPr>
              <a:t>Kill: &lt;12% pay-now click → reprice</a:t>
            </a:r>
            <a:endParaRPr lang="en-US" sz="850" dirty="0"/>
          </a:p>
        </p:txBody>
      </p:sp>
      <p:sp>
        <p:nvSpPr>
          <p:cNvPr id="36" name="Shape 34"/>
          <p:cNvSpPr/>
          <p:nvPr/>
        </p:nvSpPr>
        <p:spPr>
          <a:xfrm>
            <a:off x="8412480" y="2011680"/>
            <a:ext cx="411480" cy="384048"/>
          </a:xfrm>
          <a:prstGeom prst="rect">
            <a:avLst/>
          </a:prstGeom>
          <a:solidFill>
            <a:srgbClr val="D97706"/>
          </a:solidFill>
          <a:ln w="12700">
            <a:solidFill>
              <a:srgbClr val="D97706"/>
            </a:solidFill>
            <a:prstDash val="solid"/>
          </a:ln>
        </p:spPr>
      </p:sp>
      <p:sp>
        <p:nvSpPr>
          <p:cNvPr id="37" name="Text 35"/>
          <p:cNvSpPr/>
          <p:nvPr/>
        </p:nvSpPr>
        <p:spPr>
          <a:xfrm>
            <a:off x="8348472" y="2075688"/>
            <a:ext cx="512064"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£4,000</a:t>
            </a:r>
            <a:endParaRPr lang="en-US" sz="750" dirty="0"/>
          </a:p>
        </p:txBody>
      </p:sp>
      <p:sp>
        <p:nvSpPr>
          <p:cNvPr id="38" name="Shape 36"/>
          <p:cNvSpPr/>
          <p:nvPr/>
        </p:nvSpPr>
        <p:spPr>
          <a:xfrm>
            <a:off x="4800600" y="2679192"/>
            <a:ext cx="4114800" cy="1051560"/>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39" name="Shape 37"/>
          <p:cNvSpPr/>
          <p:nvPr/>
        </p:nvSpPr>
        <p:spPr>
          <a:xfrm>
            <a:off x="4800600" y="2679192"/>
            <a:ext cx="4114800" cy="54864"/>
          </a:xfrm>
          <a:prstGeom prst="rect">
            <a:avLst/>
          </a:prstGeom>
          <a:solidFill>
            <a:srgbClr val="7C3AED"/>
          </a:solidFill>
          <a:ln w="12700">
            <a:solidFill>
              <a:srgbClr val="7C3AED"/>
            </a:solidFill>
            <a:prstDash val="solid"/>
          </a:ln>
        </p:spPr>
      </p:sp>
      <p:sp>
        <p:nvSpPr>
          <p:cNvPr id="40" name="Text 38"/>
          <p:cNvSpPr/>
          <p:nvPr/>
        </p:nvSpPr>
        <p:spPr>
          <a:xfrm>
            <a:off x="4910328" y="2770632"/>
            <a:ext cx="365760" cy="292608"/>
          </a:xfrm>
          <a:prstGeom prst="rect">
            <a:avLst/>
          </a:prstGeom>
          <a:noFill/>
          <a:ln/>
        </p:spPr>
        <p:txBody>
          <a:bodyPr wrap="square" lIns="0" tIns="0" rIns="0" bIns="0" rtlCol="0" anchor="ctr"/>
          <a:lstStyle/>
          <a:p>
            <a:pPr indent="0" marL="0">
              <a:buNone/>
            </a:pPr>
            <a:r>
              <a:rPr lang="en-US" sz="1400" b="1" dirty="0">
                <a:solidFill>
                  <a:srgbClr val="7C3AED"/>
                </a:solidFill>
                <a:latin typeface="Georgia" pitchFamily="34" charset="0"/>
                <a:ea typeface="Georgia" pitchFamily="34" charset="-122"/>
                <a:cs typeface="Georgia" pitchFamily="34" charset="-120"/>
              </a:rPr>
              <a:t>04</a:t>
            </a:r>
            <a:endParaRPr lang="en-US" sz="1400" dirty="0"/>
          </a:p>
        </p:txBody>
      </p:sp>
      <p:sp>
        <p:nvSpPr>
          <p:cNvPr id="41" name="Text 39"/>
          <p:cNvSpPr/>
          <p:nvPr/>
        </p:nvSpPr>
        <p:spPr>
          <a:xfrm>
            <a:off x="5303520" y="2770632"/>
            <a:ext cx="3200400" cy="256032"/>
          </a:xfrm>
          <a:prstGeom prst="rect">
            <a:avLst/>
          </a:prstGeom>
          <a:noFill/>
          <a:ln/>
        </p:spPr>
        <p:txBody>
          <a:bodyPr wrap="square" lIns="0" tIns="0" rIns="0" bIns="0"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Digital Circle Retention</a:t>
            </a:r>
            <a:endParaRPr lang="en-US" sz="1050" dirty="0"/>
          </a:p>
        </p:txBody>
      </p:sp>
      <p:sp>
        <p:nvSpPr>
          <p:cNvPr id="42" name="Text 40"/>
          <p:cNvSpPr/>
          <p:nvPr/>
        </p:nvSpPr>
        <p:spPr>
          <a:xfrm>
            <a:off x="4910328" y="3063240"/>
            <a:ext cx="3840480" cy="22860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Method: 5 pilot circles, 8 wks, NPS + attendance tracked</a:t>
            </a:r>
            <a:endParaRPr lang="en-US" sz="850" dirty="0"/>
          </a:p>
        </p:txBody>
      </p:sp>
      <p:sp>
        <p:nvSpPr>
          <p:cNvPr id="43" name="Text 41"/>
          <p:cNvSpPr/>
          <p:nvPr/>
        </p:nvSpPr>
        <p:spPr>
          <a:xfrm>
            <a:off x="4910328" y="3291840"/>
            <a:ext cx="3383280" cy="228600"/>
          </a:xfrm>
          <a:prstGeom prst="rect">
            <a:avLst/>
          </a:prstGeom>
          <a:noFill/>
          <a:ln/>
        </p:spPr>
        <p:txBody>
          <a:bodyPr wrap="square" lIns="0" tIns="0" rIns="0" bIns="0" rtlCol="0" anchor="ctr"/>
          <a:lstStyle/>
          <a:p>
            <a:pPr indent="0" marL="0">
              <a:buNone/>
            </a:pPr>
            <a:r>
              <a:rPr lang="en-US" sz="850" dirty="0">
                <a:solidFill>
                  <a:srgbClr val="E11D48"/>
                </a:solidFill>
                <a:latin typeface="Calibri" pitchFamily="34" charset="0"/>
                <a:ea typeface="Calibri" pitchFamily="34" charset="-122"/>
                <a:cs typeface="Calibri" pitchFamily="34" charset="-120"/>
              </a:rPr>
              <a:t>Kill: NPS &lt;30 or attendance &lt;40% → simplify</a:t>
            </a:r>
            <a:endParaRPr lang="en-US" sz="850" dirty="0"/>
          </a:p>
        </p:txBody>
      </p:sp>
      <p:sp>
        <p:nvSpPr>
          <p:cNvPr id="44" name="Shape 42"/>
          <p:cNvSpPr/>
          <p:nvPr/>
        </p:nvSpPr>
        <p:spPr>
          <a:xfrm>
            <a:off x="8412480" y="3182112"/>
            <a:ext cx="411480" cy="384048"/>
          </a:xfrm>
          <a:prstGeom prst="rect">
            <a:avLst/>
          </a:prstGeom>
          <a:solidFill>
            <a:srgbClr val="7C3AED"/>
          </a:solidFill>
          <a:ln w="12700">
            <a:solidFill>
              <a:srgbClr val="7C3AED"/>
            </a:solidFill>
            <a:prstDash val="solid"/>
          </a:ln>
        </p:spPr>
      </p:sp>
      <p:sp>
        <p:nvSpPr>
          <p:cNvPr id="45" name="Text 43"/>
          <p:cNvSpPr/>
          <p:nvPr/>
        </p:nvSpPr>
        <p:spPr>
          <a:xfrm>
            <a:off x="8348472" y="3246120"/>
            <a:ext cx="512064"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£3,200</a:t>
            </a:r>
            <a:endParaRPr lang="en-US" sz="750" dirty="0"/>
          </a:p>
        </p:txBody>
      </p:sp>
      <p:sp>
        <p:nvSpPr>
          <p:cNvPr id="46" name="Shape 44"/>
          <p:cNvSpPr/>
          <p:nvPr/>
        </p:nvSpPr>
        <p:spPr>
          <a:xfrm>
            <a:off x="4800600" y="3849624"/>
            <a:ext cx="4114800" cy="1051560"/>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47" name="Shape 45"/>
          <p:cNvSpPr/>
          <p:nvPr/>
        </p:nvSpPr>
        <p:spPr>
          <a:xfrm>
            <a:off x="4800600" y="3849624"/>
            <a:ext cx="4114800" cy="54864"/>
          </a:xfrm>
          <a:prstGeom prst="rect">
            <a:avLst/>
          </a:prstGeom>
          <a:solidFill>
            <a:srgbClr val="0D9488"/>
          </a:solidFill>
          <a:ln w="12700">
            <a:solidFill>
              <a:srgbClr val="0D9488"/>
            </a:solidFill>
            <a:prstDash val="solid"/>
          </a:ln>
        </p:spPr>
      </p:sp>
      <p:sp>
        <p:nvSpPr>
          <p:cNvPr id="48" name="Text 46"/>
          <p:cNvSpPr/>
          <p:nvPr/>
        </p:nvSpPr>
        <p:spPr>
          <a:xfrm>
            <a:off x="4910328" y="3941064"/>
            <a:ext cx="365760" cy="292608"/>
          </a:xfrm>
          <a:prstGeom prst="rect">
            <a:avLst/>
          </a:prstGeom>
          <a:noFill/>
          <a:ln/>
        </p:spPr>
        <p:txBody>
          <a:bodyPr wrap="square" lIns="0" tIns="0" rIns="0" bIns="0" rtlCol="0" anchor="ctr"/>
          <a:lstStyle/>
          <a:p>
            <a:pPr indent="0" marL="0">
              <a:buNone/>
            </a:pPr>
            <a:r>
              <a:rPr lang="en-US" sz="1400" b="1" dirty="0">
                <a:solidFill>
                  <a:srgbClr val="0D9488"/>
                </a:solidFill>
                <a:latin typeface="Georgia" pitchFamily="34" charset="0"/>
                <a:ea typeface="Georgia" pitchFamily="34" charset="-122"/>
                <a:cs typeface="Georgia" pitchFamily="34" charset="-120"/>
              </a:rPr>
              <a:t>06</a:t>
            </a:r>
            <a:endParaRPr lang="en-US" sz="1400" dirty="0"/>
          </a:p>
        </p:txBody>
      </p:sp>
      <p:sp>
        <p:nvSpPr>
          <p:cNvPr id="49" name="Text 47"/>
          <p:cNvSpPr/>
          <p:nvPr/>
        </p:nvSpPr>
        <p:spPr>
          <a:xfrm>
            <a:off x="5303520" y="3941064"/>
            <a:ext cx="3200400" cy="256032"/>
          </a:xfrm>
          <a:prstGeom prst="rect">
            <a:avLst/>
          </a:prstGeom>
          <a:noFill/>
          <a:ln/>
        </p:spPr>
        <p:txBody>
          <a:bodyPr wrap="square" lIns="0" tIns="0" rIns="0" bIns="0"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SMB Bridge Value</a:t>
            </a:r>
            <a:endParaRPr lang="en-US" sz="1050" dirty="0"/>
          </a:p>
        </p:txBody>
      </p:sp>
      <p:sp>
        <p:nvSpPr>
          <p:cNvPr id="50" name="Text 48"/>
          <p:cNvSpPr/>
          <p:nvPr/>
        </p:nvSpPr>
        <p:spPr>
          <a:xfrm>
            <a:off x="4910328" y="4233672"/>
            <a:ext cx="3840480" cy="22860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Method: 20 owner interviews + 300 Typeform responses</a:t>
            </a:r>
            <a:endParaRPr lang="en-US" sz="850" dirty="0"/>
          </a:p>
        </p:txBody>
      </p:sp>
      <p:sp>
        <p:nvSpPr>
          <p:cNvPr id="51" name="Text 49"/>
          <p:cNvSpPr/>
          <p:nvPr/>
        </p:nvSpPr>
        <p:spPr>
          <a:xfrm>
            <a:off x="4910328" y="4462272"/>
            <a:ext cx="3383280" cy="228600"/>
          </a:xfrm>
          <a:prstGeom prst="rect">
            <a:avLst/>
          </a:prstGeom>
          <a:noFill/>
          <a:ln/>
        </p:spPr>
        <p:txBody>
          <a:bodyPr wrap="square" lIns="0" tIns="0" rIns="0" bIns="0" rtlCol="0" anchor="ctr"/>
          <a:lstStyle/>
          <a:p>
            <a:pPr indent="0" marL="0">
              <a:buNone/>
            </a:pPr>
            <a:r>
              <a:rPr lang="en-US" sz="850" dirty="0">
                <a:solidFill>
                  <a:srgbClr val="E11D48"/>
                </a:solidFill>
                <a:latin typeface="Calibri" pitchFamily="34" charset="0"/>
                <a:ea typeface="Calibri" pitchFamily="34" charset="-122"/>
                <a:cs typeface="Calibri" pitchFamily="34" charset="-120"/>
              </a:rPr>
              <a:t>Kill: &lt;60% rate cash flow as top-3 pain → deprioritise</a:t>
            </a:r>
            <a:endParaRPr lang="en-US" sz="850" dirty="0"/>
          </a:p>
        </p:txBody>
      </p:sp>
      <p:sp>
        <p:nvSpPr>
          <p:cNvPr id="52" name="Shape 50"/>
          <p:cNvSpPr/>
          <p:nvPr/>
        </p:nvSpPr>
        <p:spPr>
          <a:xfrm>
            <a:off x="8412480" y="4352544"/>
            <a:ext cx="411480" cy="384048"/>
          </a:xfrm>
          <a:prstGeom prst="rect">
            <a:avLst/>
          </a:prstGeom>
          <a:solidFill>
            <a:srgbClr val="0D9488"/>
          </a:solidFill>
          <a:ln w="12700">
            <a:solidFill>
              <a:srgbClr val="0D9488"/>
            </a:solidFill>
            <a:prstDash val="solid"/>
          </a:ln>
        </p:spPr>
      </p:sp>
      <p:sp>
        <p:nvSpPr>
          <p:cNvPr id="53" name="Text 51"/>
          <p:cNvSpPr/>
          <p:nvPr/>
        </p:nvSpPr>
        <p:spPr>
          <a:xfrm>
            <a:off x="8348472" y="4416552"/>
            <a:ext cx="512064"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£2,400</a:t>
            </a:r>
            <a:endParaRPr lang="en-US" sz="750" dirty="0"/>
          </a:p>
        </p:txBody>
      </p:sp>
      <p:sp>
        <p:nvSpPr>
          <p:cNvPr id="54" name="Shape 52"/>
          <p:cNvSpPr/>
          <p:nvPr/>
        </p:nvSpPr>
        <p:spPr>
          <a:xfrm>
            <a:off x="457200" y="4727448"/>
            <a:ext cx="8229600" cy="274320"/>
          </a:xfrm>
          <a:prstGeom prst="rect">
            <a:avLst/>
          </a:prstGeom>
          <a:solidFill>
            <a:srgbClr val="FEF3C7"/>
          </a:solidFill>
          <a:ln w="6350">
            <a:solidFill>
              <a:srgbClr val="F59E0B"/>
            </a:solidFill>
            <a:prstDash val="solid"/>
          </a:ln>
        </p:spPr>
      </p:sp>
      <p:sp>
        <p:nvSpPr>
          <p:cNvPr id="55" name="Text 53"/>
          <p:cNvSpPr/>
          <p:nvPr/>
        </p:nvSpPr>
        <p:spPr>
          <a:xfrm>
            <a:off x="594360" y="4754880"/>
            <a:ext cx="7955280" cy="228600"/>
          </a:xfrm>
          <a:prstGeom prst="rect">
            <a:avLst/>
          </a:prstGeom>
          <a:noFill/>
          <a:ln/>
        </p:spPr>
        <p:txBody>
          <a:bodyPr wrap="square" lIns="0" tIns="0" rIns="0" bIns="0" rtlCol="0" anchor="ctr"/>
          <a:lstStyle/>
          <a:p>
            <a:pPr indent="0" marL="0">
              <a:buNone/>
            </a:pPr>
            <a:r>
              <a:rPr lang="en-US" sz="900" dirty="0">
                <a:solidFill>
                  <a:srgbClr val="0F1F3D"/>
                </a:solidFill>
                <a:latin typeface="Calibri" pitchFamily="34" charset="0"/>
                <a:ea typeface="Calibri" pitchFamily="34" charset="-122"/>
                <a:cs typeface="Calibri" pitchFamily="34" charset="-120"/>
              </a:rPr>
              <a:t>Prototype rule:  If 2 or more kill signals fire → pause engineering. Reframe the product. This is the cheapest decision you will ever make.</a:t>
            </a:r>
            <a:endParaRPr lang="en-US" sz="900" dirty="0"/>
          </a:p>
        </p:txBody>
      </p:sp>
      <p:sp>
        <p:nvSpPr>
          <p:cNvPr id="56" name="Text 54"/>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§02 · MVP SPECIFICATION</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MVP: 10 Features · 16 Weeks · 4-Person Team</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411480" y="1188720"/>
            <a:ext cx="2011680" cy="32918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411480" y="1188720"/>
            <a:ext cx="2011680" cy="502920"/>
          </a:xfrm>
          <a:prstGeom prst="rect">
            <a:avLst/>
          </a:prstGeom>
          <a:solidFill>
            <a:srgbClr val="7C3AED"/>
          </a:solidFill>
          <a:ln w="12700">
            <a:solidFill>
              <a:srgbClr val="7C3AED"/>
            </a:solidFill>
            <a:prstDash val="solid"/>
          </a:ln>
        </p:spPr>
      </p:sp>
      <p:sp>
        <p:nvSpPr>
          <p:cNvPr id="7" name="Text 5"/>
          <p:cNvSpPr/>
          <p:nvPr/>
        </p:nvSpPr>
        <p:spPr>
          <a:xfrm>
            <a:off x="502920" y="1207008"/>
            <a:ext cx="1005840" cy="45720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S1–2</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Wk 1–4</a:t>
            </a:r>
            <a:endParaRPr lang="en-US" sz="850" dirty="0"/>
          </a:p>
        </p:txBody>
      </p:sp>
      <p:sp>
        <p:nvSpPr>
          <p:cNvPr id="8" name="Text 6"/>
          <p:cNvSpPr/>
          <p:nvPr/>
        </p:nvSpPr>
        <p:spPr>
          <a:xfrm>
            <a:off x="1417320" y="1252728"/>
            <a:ext cx="914400" cy="384048"/>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Foundation</a:t>
            </a:r>
            <a:endParaRPr lang="en-US" sz="1000" dirty="0"/>
          </a:p>
        </p:txBody>
      </p:sp>
      <p:pic>
        <p:nvPicPr>
          <p:cNvPr id="9" name="Image 0" descr="preencoded.png">    </p:cNvPr>
          <p:cNvPicPr>
            <a:picLocks noChangeAspect="1"/>
          </p:cNvPicPr>
          <p:nvPr/>
        </p:nvPicPr>
        <p:blipFill>
          <a:blip r:embed="rId1"/>
          <a:stretch>
            <a:fillRect/>
          </a:stretch>
        </p:blipFill>
        <p:spPr>
          <a:xfrm>
            <a:off x="521208" y="1819656"/>
            <a:ext cx="201168" cy="201168"/>
          </a:xfrm>
          <a:prstGeom prst="rect">
            <a:avLst/>
          </a:prstGeom>
        </p:spPr>
      </p:pic>
      <p:sp>
        <p:nvSpPr>
          <p:cNvPr id="10" name="Text 7"/>
          <p:cNvSpPr/>
          <p:nvPr/>
        </p:nvSpPr>
        <p:spPr>
          <a:xfrm>
            <a:off x="777240" y="1801368"/>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Auth + household creation</a:t>
            </a:r>
            <a:endParaRPr lang="en-US" sz="900" dirty="0"/>
          </a:p>
        </p:txBody>
      </p:sp>
      <p:pic>
        <p:nvPicPr>
          <p:cNvPr id="11" name="Image 1" descr="preencoded.png">    </p:cNvPr>
          <p:cNvPicPr>
            <a:picLocks noChangeAspect="1"/>
          </p:cNvPicPr>
          <p:nvPr/>
        </p:nvPicPr>
        <p:blipFill>
          <a:blip r:embed="rId2"/>
          <a:stretch>
            <a:fillRect/>
          </a:stretch>
        </p:blipFill>
        <p:spPr>
          <a:xfrm>
            <a:off x="521208" y="2386584"/>
            <a:ext cx="201168" cy="201168"/>
          </a:xfrm>
          <a:prstGeom prst="rect">
            <a:avLst/>
          </a:prstGeom>
        </p:spPr>
      </p:pic>
      <p:sp>
        <p:nvSpPr>
          <p:cNvPr id="12" name="Text 8"/>
          <p:cNvSpPr/>
          <p:nvPr/>
        </p:nvSpPr>
        <p:spPr>
          <a:xfrm>
            <a:off x="777240" y="2368296"/>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TrueLayer Open Banking</a:t>
            </a:r>
            <a:endParaRPr lang="en-US" sz="900" dirty="0"/>
          </a:p>
        </p:txBody>
      </p:sp>
      <p:pic>
        <p:nvPicPr>
          <p:cNvPr id="13" name="Image 2" descr="preencoded.png">    </p:cNvPr>
          <p:cNvPicPr>
            <a:picLocks noChangeAspect="1"/>
          </p:cNvPicPr>
          <p:nvPr/>
        </p:nvPicPr>
        <p:blipFill>
          <a:blip r:embed="rId3"/>
          <a:stretch>
            <a:fillRect/>
          </a:stretch>
        </p:blipFill>
        <p:spPr>
          <a:xfrm>
            <a:off x="521208" y="2953512"/>
            <a:ext cx="201168" cy="201168"/>
          </a:xfrm>
          <a:prstGeom prst="rect">
            <a:avLst/>
          </a:prstGeom>
        </p:spPr>
      </p:pic>
      <p:sp>
        <p:nvSpPr>
          <p:cNvPr id="14" name="Text 9"/>
          <p:cNvSpPr/>
          <p:nvPr/>
        </p:nvSpPr>
        <p:spPr>
          <a:xfrm>
            <a:off x="777240" y="2935224"/>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Transaction ingestion</a:t>
            </a:r>
            <a:endParaRPr lang="en-US" sz="900" dirty="0"/>
          </a:p>
        </p:txBody>
      </p:sp>
      <p:pic>
        <p:nvPicPr>
          <p:cNvPr id="15" name="Image 3" descr="preencoded.png">    </p:cNvPr>
          <p:cNvPicPr>
            <a:picLocks noChangeAspect="1"/>
          </p:cNvPicPr>
          <p:nvPr/>
        </p:nvPicPr>
        <p:blipFill>
          <a:blip r:embed="rId4"/>
          <a:stretch>
            <a:fillRect/>
          </a:stretch>
        </p:blipFill>
        <p:spPr>
          <a:xfrm>
            <a:off x="521208" y="3520440"/>
            <a:ext cx="201168" cy="201168"/>
          </a:xfrm>
          <a:prstGeom prst="rect">
            <a:avLst/>
          </a:prstGeom>
        </p:spPr>
      </p:pic>
      <p:sp>
        <p:nvSpPr>
          <p:cNvPr id="16" name="Text 10"/>
          <p:cNvSpPr/>
          <p:nvPr/>
        </p:nvSpPr>
        <p:spPr>
          <a:xfrm>
            <a:off x="777240" y="3502152"/>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CI/CD + staging env</a:t>
            </a:r>
            <a:endParaRPr lang="en-US" sz="900" dirty="0"/>
          </a:p>
        </p:txBody>
      </p:sp>
      <p:sp>
        <p:nvSpPr>
          <p:cNvPr id="17" name="Shape 11"/>
          <p:cNvSpPr/>
          <p:nvPr/>
        </p:nvSpPr>
        <p:spPr>
          <a:xfrm>
            <a:off x="2587752" y="1188720"/>
            <a:ext cx="2011680" cy="32918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8" name="Shape 12"/>
          <p:cNvSpPr/>
          <p:nvPr/>
        </p:nvSpPr>
        <p:spPr>
          <a:xfrm>
            <a:off x="2587752" y="1188720"/>
            <a:ext cx="2011680" cy="502920"/>
          </a:xfrm>
          <a:prstGeom prst="rect">
            <a:avLst/>
          </a:prstGeom>
          <a:solidFill>
            <a:srgbClr val="0D9488"/>
          </a:solidFill>
          <a:ln w="12700">
            <a:solidFill>
              <a:srgbClr val="0D9488"/>
            </a:solidFill>
            <a:prstDash val="solid"/>
          </a:ln>
        </p:spPr>
      </p:sp>
      <p:sp>
        <p:nvSpPr>
          <p:cNvPr id="19" name="Text 13"/>
          <p:cNvSpPr/>
          <p:nvPr/>
        </p:nvSpPr>
        <p:spPr>
          <a:xfrm>
            <a:off x="2679192" y="1207008"/>
            <a:ext cx="1005840" cy="45720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S3–4</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Wk 5–8</a:t>
            </a:r>
            <a:endParaRPr lang="en-US" sz="850" dirty="0"/>
          </a:p>
        </p:txBody>
      </p:sp>
      <p:sp>
        <p:nvSpPr>
          <p:cNvPr id="20" name="Text 14"/>
          <p:cNvSpPr/>
          <p:nvPr/>
        </p:nvSpPr>
        <p:spPr>
          <a:xfrm>
            <a:off x="3593592" y="1252728"/>
            <a:ext cx="914400" cy="384048"/>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Core UX</a:t>
            </a:r>
            <a:endParaRPr lang="en-US" sz="1000" dirty="0"/>
          </a:p>
        </p:txBody>
      </p:sp>
      <p:pic>
        <p:nvPicPr>
          <p:cNvPr id="21" name="Image 4" descr="preencoded.png">    </p:cNvPr>
          <p:cNvPicPr>
            <a:picLocks noChangeAspect="1"/>
          </p:cNvPicPr>
          <p:nvPr/>
        </p:nvPicPr>
        <p:blipFill>
          <a:blip r:embed="rId5"/>
          <a:stretch>
            <a:fillRect/>
          </a:stretch>
        </p:blipFill>
        <p:spPr>
          <a:xfrm>
            <a:off x="2697480" y="1819656"/>
            <a:ext cx="201168" cy="201168"/>
          </a:xfrm>
          <a:prstGeom prst="rect">
            <a:avLst/>
          </a:prstGeom>
        </p:spPr>
      </p:pic>
      <p:sp>
        <p:nvSpPr>
          <p:cNvPr id="22" name="Text 15"/>
          <p:cNvSpPr/>
          <p:nvPr/>
        </p:nvSpPr>
        <p:spPr>
          <a:xfrm>
            <a:off x="2953512" y="1801368"/>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Household dashboard</a:t>
            </a:r>
            <a:endParaRPr lang="en-US" sz="900" dirty="0"/>
          </a:p>
        </p:txBody>
      </p:sp>
      <p:pic>
        <p:nvPicPr>
          <p:cNvPr id="23" name="Image 5" descr="preencoded.png">    </p:cNvPr>
          <p:cNvPicPr>
            <a:picLocks noChangeAspect="1"/>
          </p:cNvPicPr>
          <p:nvPr/>
        </p:nvPicPr>
        <p:blipFill>
          <a:blip r:embed="rId6"/>
          <a:stretch>
            <a:fillRect/>
          </a:stretch>
        </p:blipFill>
        <p:spPr>
          <a:xfrm>
            <a:off x="2697480" y="2386584"/>
            <a:ext cx="201168" cy="201168"/>
          </a:xfrm>
          <a:prstGeom prst="rect">
            <a:avLst/>
          </a:prstGeom>
        </p:spPr>
      </p:pic>
      <p:sp>
        <p:nvSpPr>
          <p:cNvPr id="24" name="Text 16"/>
          <p:cNvSpPr/>
          <p:nvPr/>
        </p:nvSpPr>
        <p:spPr>
          <a:xfrm>
            <a:off x="2953512" y="2368296"/>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Partner sync (&lt; 3s)</a:t>
            </a:r>
            <a:endParaRPr lang="en-US" sz="900" dirty="0"/>
          </a:p>
        </p:txBody>
      </p:sp>
      <p:pic>
        <p:nvPicPr>
          <p:cNvPr id="25" name="Image 6" descr="preencoded.png">    </p:cNvPr>
          <p:cNvPicPr>
            <a:picLocks noChangeAspect="1"/>
          </p:cNvPicPr>
          <p:nvPr/>
        </p:nvPicPr>
        <p:blipFill>
          <a:blip r:embed="rId7"/>
          <a:stretch>
            <a:fillRect/>
          </a:stretch>
        </p:blipFill>
        <p:spPr>
          <a:xfrm>
            <a:off x="2697480" y="2953512"/>
            <a:ext cx="201168" cy="201168"/>
          </a:xfrm>
          <a:prstGeom prst="rect">
            <a:avLst/>
          </a:prstGeom>
        </p:spPr>
      </p:pic>
      <p:sp>
        <p:nvSpPr>
          <p:cNvPr id="26" name="Text 17"/>
          <p:cNvSpPr/>
          <p:nvPr/>
        </p:nvSpPr>
        <p:spPr>
          <a:xfrm>
            <a:off x="2953512" y="2935224"/>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Subscription detector</a:t>
            </a:r>
            <a:endParaRPr lang="en-US" sz="900" dirty="0"/>
          </a:p>
        </p:txBody>
      </p:sp>
      <p:pic>
        <p:nvPicPr>
          <p:cNvPr id="27" name="Image 7" descr="preencoded.png">    </p:cNvPr>
          <p:cNvPicPr>
            <a:picLocks noChangeAspect="1"/>
          </p:cNvPicPr>
          <p:nvPr/>
        </p:nvPicPr>
        <p:blipFill>
          <a:blip r:embed="rId8"/>
          <a:stretch>
            <a:fillRect/>
          </a:stretch>
        </p:blipFill>
        <p:spPr>
          <a:xfrm>
            <a:off x="2697480" y="3520440"/>
            <a:ext cx="201168" cy="201168"/>
          </a:xfrm>
          <a:prstGeom prst="rect">
            <a:avLst/>
          </a:prstGeom>
        </p:spPr>
      </p:pic>
      <p:sp>
        <p:nvSpPr>
          <p:cNvPr id="28" name="Text 18"/>
          <p:cNvSpPr/>
          <p:nvPr/>
        </p:nvSpPr>
        <p:spPr>
          <a:xfrm>
            <a:off x="2953512" y="3502152"/>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Bill calendar</a:t>
            </a:r>
            <a:endParaRPr lang="en-US" sz="900" dirty="0"/>
          </a:p>
        </p:txBody>
      </p:sp>
      <p:sp>
        <p:nvSpPr>
          <p:cNvPr id="29" name="Shape 19"/>
          <p:cNvSpPr/>
          <p:nvPr/>
        </p:nvSpPr>
        <p:spPr>
          <a:xfrm>
            <a:off x="4764024" y="1188720"/>
            <a:ext cx="2011680" cy="32918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0" name="Shape 20"/>
          <p:cNvSpPr/>
          <p:nvPr/>
        </p:nvSpPr>
        <p:spPr>
          <a:xfrm>
            <a:off x="4764024" y="1188720"/>
            <a:ext cx="2011680" cy="502920"/>
          </a:xfrm>
          <a:prstGeom prst="rect">
            <a:avLst/>
          </a:prstGeom>
          <a:solidFill>
            <a:srgbClr val="D97706"/>
          </a:solidFill>
          <a:ln w="12700">
            <a:solidFill>
              <a:srgbClr val="D97706"/>
            </a:solidFill>
            <a:prstDash val="solid"/>
          </a:ln>
        </p:spPr>
      </p:sp>
      <p:sp>
        <p:nvSpPr>
          <p:cNvPr id="31" name="Text 21"/>
          <p:cNvSpPr/>
          <p:nvPr/>
        </p:nvSpPr>
        <p:spPr>
          <a:xfrm>
            <a:off x="4855464" y="1207008"/>
            <a:ext cx="1005840" cy="45720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S5–6</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Wk 9–12</a:t>
            </a:r>
            <a:endParaRPr lang="en-US" sz="850" dirty="0"/>
          </a:p>
        </p:txBody>
      </p:sp>
      <p:sp>
        <p:nvSpPr>
          <p:cNvPr id="32" name="Text 22"/>
          <p:cNvSpPr/>
          <p:nvPr/>
        </p:nvSpPr>
        <p:spPr>
          <a:xfrm>
            <a:off x="5769864" y="1252728"/>
            <a:ext cx="914400" cy="384048"/>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Habit Layer</a:t>
            </a:r>
            <a:endParaRPr lang="en-US" sz="1000" dirty="0"/>
          </a:p>
        </p:txBody>
      </p:sp>
      <p:pic>
        <p:nvPicPr>
          <p:cNvPr id="33" name="Image 8" descr="preencoded.png">    </p:cNvPr>
          <p:cNvPicPr>
            <a:picLocks noChangeAspect="1"/>
          </p:cNvPicPr>
          <p:nvPr/>
        </p:nvPicPr>
        <p:blipFill>
          <a:blip r:embed="rId9"/>
          <a:stretch>
            <a:fillRect/>
          </a:stretch>
        </p:blipFill>
        <p:spPr>
          <a:xfrm>
            <a:off x="4873752" y="1819656"/>
            <a:ext cx="201168" cy="201168"/>
          </a:xfrm>
          <a:prstGeom prst="rect">
            <a:avLst/>
          </a:prstGeom>
        </p:spPr>
      </p:pic>
      <p:sp>
        <p:nvSpPr>
          <p:cNvPr id="34" name="Text 23"/>
          <p:cNvSpPr/>
          <p:nvPr/>
        </p:nvSpPr>
        <p:spPr>
          <a:xfrm>
            <a:off x="5129784" y="1801368"/>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Morning Pulse notify</a:t>
            </a:r>
            <a:endParaRPr lang="en-US" sz="900" dirty="0"/>
          </a:p>
        </p:txBody>
      </p:sp>
      <p:pic>
        <p:nvPicPr>
          <p:cNvPr id="35" name="Image 9" descr="preencoded.png">    </p:cNvPr>
          <p:cNvPicPr>
            <a:picLocks noChangeAspect="1"/>
          </p:cNvPicPr>
          <p:nvPr/>
        </p:nvPicPr>
        <p:blipFill>
          <a:blip r:embed="rId10"/>
          <a:stretch>
            <a:fillRect/>
          </a:stretch>
        </p:blipFill>
        <p:spPr>
          <a:xfrm>
            <a:off x="4873752" y="2386584"/>
            <a:ext cx="201168" cy="201168"/>
          </a:xfrm>
          <a:prstGeom prst="rect">
            <a:avLst/>
          </a:prstGeom>
        </p:spPr>
      </p:pic>
      <p:sp>
        <p:nvSpPr>
          <p:cNvPr id="36" name="Text 24"/>
          <p:cNvSpPr/>
          <p:nvPr/>
        </p:nvSpPr>
        <p:spPr>
          <a:xfrm>
            <a:off x="5129784" y="2368296"/>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Sunday Weekly Review</a:t>
            </a:r>
            <a:endParaRPr lang="en-US" sz="900" dirty="0"/>
          </a:p>
        </p:txBody>
      </p:sp>
      <p:pic>
        <p:nvPicPr>
          <p:cNvPr id="37" name="Image 10" descr="preencoded.png">    </p:cNvPr>
          <p:cNvPicPr>
            <a:picLocks noChangeAspect="1"/>
          </p:cNvPicPr>
          <p:nvPr/>
        </p:nvPicPr>
        <p:blipFill>
          <a:blip r:embed="rId11"/>
          <a:stretch>
            <a:fillRect/>
          </a:stretch>
        </p:blipFill>
        <p:spPr>
          <a:xfrm>
            <a:off x="4873752" y="2953512"/>
            <a:ext cx="201168" cy="201168"/>
          </a:xfrm>
          <a:prstGeom prst="rect">
            <a:avLst/>
          </a:prstGeom>
        </p:spPr>
      </p:pic>
      <p:sp>
        <p:nvSpPr>
          <p:cNvPr id="38" name="Text 25"/>
          <p:cNvSpPr/>
          <p:nvPr/>
        </p:nvSpPr>
        <p:spPr>
          <a:xfrm>
            <a:off x="5129784" y="2935224"/>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Goal setting + tracker</a:t>
            </a:r>
            <a:endParaRPr lang="en-US" sz="900" dirty="0"/>
          </a:p>
        </p:txBody>
      </p:sp>
      <p:pic>
        <p:nvPicPr>
          <p:cNvPr id="39" name="Image 11" descr="preencoded.png">    </p:cNvPr>
          <p:cNvPicPr>
            <a:picLocks noChangeAspect="1"/>
          </p:cNvPicPr>
          <p:nvPr/>
        </p:nvPicPr>
        <p:blipFill>
          <a:blip r:embed="rId12"/>
          <a:stretch>
            <a:fillRect/>
          </a:stretch>
        </p:blipFill>
        <p:spPr>
          <a:xfrm>
            <a:off x="4873752" y="3520440"/>
            <a:ext cx="201168" cy="201168"/>
          </a:xfrm>
          <a:prstGeom prst="rect">
            <a:avLst/>
          </a:prstGeom>
        </p:spPr>
      </p:pic>
      <p:sp>
        <p:nvSpPr>
          <p:cNvPr id="40" name="Text 26"/>
          <p:cNvSpPr/>
          <p:nvPr/>
        </p:nvSpPr>
        <p:spPr>
          <a:xfrm>
            <a:off x="5129784" y="3502152"/>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Pulse Score v1</a:t>
            </a:r>
            <a:endParaRPr lang="en-US" sz="900" dirty="0"/>
          </a:p>
        </p:txBody>
      </p:sp>
      <p:sp>
        <p:nvSpPr>
          <p:cNvPr id="41" name="Shape 27"/>
          <p:cNvSpPr/>
          <p:nvPr/>
        </p:nvSpPr>
        <p:spPr>
          <a:xfrm>
            <a:off x="6940296" y="1188720"/>
            <a:ext cx="2011680" cy="329184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42" name="Shape 28"/>
          <p:cNvSpPr/>
          <p:nvPr/>
        </p:nvSpPr>
        <p:spPr>
          <a:xfrm>
            <a:off x="6940296" y="1188720"/>
            <a:ext cx="2011680" cy="502920"/>
          </a:xfrm>
          <a:prstGeom prst="rect">
            <a:avLst/>
          </a:prstGeom>
          <a:solidFill>
            <a:srgbClr val="16A34A"/>
          </a:solidFill>
          <a:ln w="12700">
            <a:solidFill>
              <a:srgbClr val="16A34A"/>
            </a:solidFill>
            <a:prstDash val="solid"/>
          </a:ln>
        </p:spPr>
      </p:sp>
      <p:sp>
        <p:nvSpPr>
          <p:cNvPr id="43" name="Text 29"/>
          <p:cNvSpPr/>
          <p:nvPr/>
        </p:nvSpPr>
        <p:spPr>
          <a:xfrm>
            <a:off x="7031736" y="1207008"/>
            <a:ext cx="1005840" cy="45720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S7–8</a:t>
            </a:r>
            <a:endParaRPr lang="en-US" sz="850" dirty="0"/>
          </a:p>
          <a:p>
            <a:pPr indent="0" marL="0">
              <a:buNone/>
            </a:pPr>
            <a:r>
              <a:rPr lang="en-US" sz="850" b="1" dirty="0">
                <a:solidFill>
                  <a:srgbClr val="FFFFFF"/>
                </a:solidFill>
                <a:latin typeface="Calibri" pitchFamily="34" charset="0"/>
                <a:ea typeface="Calibri" pitchFamily="34" charset="-122"/>
                <a:cs typeface="Calibri" pitchFamily="34" charset="-120"/>
              </a:rPr>
              <a:t>Wk 13–16</a:t>
            </a:r>
            <a:endParaRPr lang="en-US" sz="850" dirty="0"/>
          </a:p>
        </p:txBody>
      </p:sp>
      <p:sp>
        <p:nvSpPr>
          <p:cNvPr id="44" name="Text 30"/>
          <p:cNvSpPr/>
          <p:nvPr/>
        </p:nvSpPr>
        <p:spPr>
          <a:xfrm>
            <a:off x="7946136" y="1252728"/>
            <a:ext cx="914400" cy="384048"/>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Community</a:t>
            </a:r>
            <a:endParaRPr lang="en-US" sz="1000" dirty="0"/>
          </a:p>
        </p:txBody>
      </p:sp>
      <p:pic>
        <p:nvPicPr>
          <p:cNvPr id="45" name="Image 12" descr="preencoded.png">    </p:cNvPr>
          <p:cNvPicPr>
            <a:picLocks noChangeAspect="1"/>
          </p:cNvPicPr>
          <p:nvPr/>
        </p:nvPicPr>
        <p:blipFill>
          <a:blip r:embed="rId13"/>
          <a:stretch>
            <a:fillRect/>
          </a:stretch>
        </p:blipFill>
        <p:spPr>
          <a:xfrm>
            <a:off x="7050024" y="1819656"/>
            <a:ext cx="201168" cy="201168"/>
          </a:xfrm>
          <a:prstGeom prst="rect">
            <a:avLst/>
          </a:prstGeom>
        </p:spPr>
      </p:pic>
      <p:sp>
        <p:nvSpPr>
          <p:cNvPr id="46" name="Text 31"/>
          <p:cNvSpPr/>
          <p:nvPr/>
        </p:nvSpPr>
        <p:spPr>
          <a:xfrm>
            <a:off x="7306056" y="1801368"/>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Digital circles (8 fam)</a:t>
            </a:r>
            <a:endParaRPr lang="en-US" sz="900" dirty="0"/>
          </a:p>
        </p:txBody>
      </p:sp>
      <p:pic>
        <p:nvPicPr>
          <p:cNvPr id="47" name="Image 13" descr="preencoded.png">    </p:cNvPr>
          <p:cNvPicPr>
            <a:picLocks noChangeAspect="1"/>
          </p:cNvPicPr>
          <p:nvPr/>
        </p:nvPicPr>
        <p:blipFill>
          <a:blip r:embed="rId14"/>
          <a:stretch>
            <a:fillRect/>
          </a:stretch>
        </p:blipFill>
        <p:spPr>
          <a:xfrm>
            <a:off x="7050024" y="2386584"/>
            <a:ext cx="201168" cy="201168"/>
          </a:xfrm>
          <a:prstGeom prst="rect">
            <a:avLst/>
          </a:prstGeom>
        </p:spPr>
      </p:pic>
      <p:sp>
        <p:nvSpPr>
          <p:cNvPr id="48" name="Text 32"/>
          <p:cNvSpPr/>
          <p:nvPr/>
        </p:nvSpPr>
        <p:spPr>
          <a:xfrm>
            <a:off x="7306056" y="2368296"/>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Benefits checker</a:t>
            </a:r>
            <a:endParaRPr lang="en-US" sz="900" dirty="0"/>
          </a:p>
        </p:txBody>
      </p:sp>
      <p:pic>
        <p:nvPicPr>
          <p:cNvPr id="49" name="Image 14" descr="preencoded.png">    </p:cNvPr>
          <p:cNvPicPr>
            <a:picLocks noChangeAspect="1"/>
          </p:cNvPicPr>
          <p:nvPr/>
        </p:nvPicPr>
        <p:blipFill>
          <a:blip r:embed="rId15"/>
          <a:stretch>
            <a:fillRect/>
          </a:stretch>
        </p:blipFill>
        <p:spPr>
          <a:xfrm>
            <a:off x="7050024" y="2953512"/>
            <a:ext cx="201168" cy="201168"/>
          </a:xfrm>
          <a:prstGeom prst="rect">
            <a:avLst/>
          </a:prstGeom>
        </p:spPr>
      </p:pic>
      <p:sp>
        <p:nvSpPr>
          <p:cNvPr id="50" name="Text 33"/>
          <p:cNvSpPr/>
          <p:nvPr/>
        </p:nvSpPr>
        <p:spPr>
          <a:xfrm>
            <a:off x="7306056" y="2935224"/>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Referral mechanics</a:t>
            </a:r>
            <a:endParaRPr lang="en-US" sz="900" dirty="0"/>
          </a:p>
        </p:txBody>
      </p:sp>
      <p:pic>
        <p:nvPicPr>
          <p:cNvPr id="51" name="Image 15" descr="preencoded.png">    </p:cNvPr>
          <p:cNvPicPr>
            <a:picLocks noChangeAspect="1"/>
          </p:cNvPicPr>
          <p:nvPr/>
        </p:nvPicPr>
        <p:blipFill>
          <a:blip r:embed="rId16"/>
          <a:stretch>
            <a:fillRect/>
          </a:stretch>
        </p:blipFill>
        <p:spPr>
          <a:xfrm>
            <a:off x="7050024" y="3520440"/>
            <a:ext cx="201168" cy="201168"/>
          </a:xfrm>
          <a:prstGeom prst="rect">
            <a:avLst/>
          </a:prstGeom>
        </p:spPr>
      </p:pic>
      <p:sp>
        <p:nvSpPr>
          <p:cNvPr id="52" name="Text 34"/>
          <p:cNvSpPr/>
          <p:nvPr/>
        </p:nvSpPr>
        <p:spPr>
          <a:xfrm>
            <a:off x="7306056" y="3502152"/>
            <a:ext cx="1572768" cy="34747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Analytics dashboard</a:t>
            </a:r>
            <a:endParaRPr lang="en-US" sz="900" dirty="0"/>
          </a:p>
        </p:txBody>
      </p:sp>
      <p:sp>
        <p:nvSpPr>
          <p:cNvPr id="53" name="Text 35"/>
          <p:cNvSpPr/>
          <p:nvPr/>
        </p:nvSpPr>
        <p:spPr>
          <a:xfrm>
            <a:off x="457200" y="4572000"/>
            <a:ext cx="3931920" cy="201168"/>
          </a:xfrm>
          <a:prstGeom prst="rect">
            <a:avLst/>
          </a:prstGeom>
          <a:noFill/>
          <a:ln/>
        </p:spPr>
        <p:txBody>
          <a:bodyPr wrap="square" rtlCol="0" anchor="ctr"/>
          <a:lstStyle/>
          <a:p>
            <a:pPr indent="0" marL="0">
              <a:buNone/>
            </a:pPr>
            <a:r>
              <a:rPr lang="en-US" sz="900" b="1" dirty="0">
                <a:solidFill>
                  <a:srgbClr val="E11D48"/>
                </a:solidFill>
                <a:latin typeface="Calibri" pitchFamily="34" charset="0"/>
                <a:ea typeface="Calibri" pitchFamily="34" charset="-122"/>
                <a:cs typeface="Calibri" pitchFamily="34" charset="-120"/>
              </a:rPr>
              <a:t>Won't Have (explicit scope cuts)</a:t>
            </a:r>
            <a:endParaRPr lang="en-US" sz="900" dirty="0"/>
          </a:p>
        </p:txBody>
      </p:sp>
      <p:sp>
        <p:nvSpPr>
          <p:cNvPr id="54" name="Text 36"/>
          <p:cNvSpPr/>
          <p:nvPr/>
        </p:nvSpPr>
        <p:spPr>
          <a:xfrm>
            <a:off x="457200" y="4754880"/>
            <a:ext cx="4206240" cy="201168"/>
          </a:xfrm>
          <a:prstGeom prst="rect">
            <a:avLst/>
          </a:prstGeom>
          <a:noFill/>
          <a:ln/>
        </p:spPr>
        <p:txBody>
          <a:bodyPr wrap="square" rtlCol="0" anchor="ctr"/>
          <a:lstStyle/>
          <a:p>
            <a:pPr indent="0" marL="0">
              <a:buNone/>
            </a:pPr>
            <a:r>
              <a:rPr lang="en-US" sz="850" dirty="0">
                <a:solidFill>
                  <a:srgbClr val="475569"/>
                </a:solidFill>
                <a:latin typeface="Calibri" pitchFamily="34" charset="0"/>
                <a:ea typeface="Calibri" pitchFamily="34" charset="-122"/>
                <a:cs typeface="Calibri" pitchFamily="34" charset="-120"/>
              </a:rPr>
              <a:t>FCA-regulated products  ·  Home Hub hardware  ·  Coach certification  ·  Physical mail  ·  AI chatbot  ·  Crypto  ·  International</a:t>
            </a:r>
            <a:endParaRPr lang="en-US" sz="850" dirty="0"/>
          </a:p>
        </p:txBody>
      </p:sp>
      <p:sp>
        <p:nvSpPr>
          <p:cNvPr id="55" name="Text 37"/>
          <p:cNvSpPr/>
          <p:nvPr/>
        </p:nvSpPr>
        <p:spPr>
          <a:xfrm>
            <a:off x="4846320" y="4572000"/>
            <a:ext cx="3657600" cy="201168"/>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Definition of Done (Week 16)</a:t>
            </a:r>
            <a:endParaRPr lang="en-US" sz="900" dirty="0"/>
          </a:p>
        </p:txBody>
      </p:sp>
      <p:sp>
        <p:nvSpPr>
          <p:cNvPr id="56" name="Text 38"/>
          <p:cNvSpPr/>
          <p:nvPr/>
        </p:nvSpPr>
        <p:spPr>
          <a:xfrm>
            <a:off x="4846320" y="4754880"/>
            <a:ext cx="3840480" cy="201168"/>
          </a:xfrm>
          <a:prstGeom prst="rect">
            <a:avLst/>
          </a:prstGeom>
          <a:noFill/>
          <a:ln/>
        </p:spPr>
        <p:txBody>
          <a:bodyPr wrap="square" rtlCol="0" anchor="ctr"/>
          <a:lstStyle/>
          <a:p>
            <a:pPr indent="0" marL="0">
              <a:buNone/>
            </a:pPr>
            <a:r>
              <a:rPr lang="en-US" sz="850" dirty="0">
                <a:solidFill>
                  <a:srgbClr val="475569"/>
                </a:solidFill>
                <a:latin typeface="Calibri" pitchFamily="34" charset="0"/>
                <a:ea typeface="Calibri" pitchFamily="34" charset="-122"/>
                <a:cs typeface="Calibri" pitchFamily="34" charset="-120"/>
              </a:rPr>
              <a:t>First 50 households onboarded  ·  D7 retention &gt;60%  ·  NPS &gt;55  ·  Pulse Score v1 calculating</a:t>
            </a:r>
            <a:endParaRPr lang="en-US" sz="850" dirty="0"/>
          </a:p>
        </p:txBody>
      </p:sp>
      <p:sp>
        <p:nvSpPr>
          <p:cNvPr id="57" name="Text 39"/>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§03 · GO-TO-MARKET</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GTM: Three Waves, One City First</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411480" y="1170432"/>
            <a:ext cx="2651760" cy="15544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411480" y="1170432"/>
            <a:ext cx="2651760" cy="73152"/>
          </a:xfrm>
          <a:prstGeom prst="rect">
            <a:avLst/>
          </a:prstGeom>
          <a:solidFill>
            <a:srgbClr val="0F1F3D"/>
          </a:solidFill>
          <a:ln w="12700">
            <a:solidFill>
              <a:srgbClr val="0F1F3D"/>
            </a:solidFill>
            <a:prstDash val="solid"/>
          </a:ln>
        </p:spPr>
      </p:sp>
      <p:sp>
        <p:nvSpPr>
          <p:cNvPr id="7" name="Shape 5"/>
          <p:cNvSpPr/>
          <p:nvPr/>
        </p:nvSpPr>
        <p:spPr>
          <a:xfrm>
            <a:off x="539496" y="1243584"/>
            <a:ext cx="512064" cy="512064"/>
          </a:xfrm>
          <a:prstGeom prst="ellipse">
            <a:avLst/>
          </a:prstGeom>
          <a:solidFill>
            <a:srgbClr val="0F1F3D"/>
          </a:solidFill>
          <a:ln w="12700">
            <a:solidFill>
              <a:srgbClr val="0F1F3D"/>
            </a:solidFill>
            <a:prstDash val="solid"/>
          </a:ln>
        </p:spPr>
      </p:sp>
      <p:pic>
        <p:nvPicPr>
          <p:cNvPr id="8" name="Image 0" descr="preencoded.png">    </p:cNvPr>
          <p:cNvPicPr>
            <a:picLocks noChangeAspect="1"/>
          </p:cNvPicPr>
          <p:nvPr/>
        </p:nvPicPr>
        <p:blipFill>
          <a:blip r:embed="rId1"/>
          <a:stretch>
            <a:fillRect/>
          </a:stretch>
        </p:blipFill>
        <p:spPr>
          <a:xfrm>
            <a:off x="603504" y="1307592"/>
            <a:ext cx="384048" cy="384048"/>
          </a:xfrm>
          <a:prstGeom prst="rect">
            <a:avLst/>
          </a:prstGeom>
        </p:spPr>
      </p:pic>
      <p:sp>
        <p:nvSpPr>
          <p:cNvPr id="9" name="Text 6"/>
          <p:cNvSpPr/>
          <p:nvPr/>
        </p:nvSpPr>
        <p:spPr>
          <a:xfrm>
            <a:off x="1143000" y="1261872"/>
            <a:ext cx="1828800" cy="256032"/>
          </a:xfrm>
          <a:prstGeom prst="rect">
            <a:avLst/>
          </a:prstGeom>
          <a:noFill/>
          <a:ln/>
        </p:spPr>
        <p:txBody>
          <a:bodyPr wrap="square" lIns="0" tIns="0" rIns="0" bIns="0"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Employer Channel</a:t>
            </a:r>
            <a:endParaRPr lang="en-US" sz="1100" dirty="0"/>
          </a:p>
        </p:txBody>
      </p:sp>
      <p:sp>
        <p:nvSpPr>
          <p:cNvPr id="10" name="Shape 7"/>
          <p:cNvSpPr/>
          <p:nvPr/>
        </p:nvSpPr>
        <p:spPr>
          <a:xfrm>
            <a:off x="1143000" y="1554480"/>
            <a:ext cx="658368" cy="201168"/>
          </a:xfrm>
          <a:prstGeom prst="rect">
            <a:avLst/>
          </a:prstGeom>
          <a:solidFill>
            <a:srgbClr val="0F1F3D"/>
          </a:solidFill>
          <a:ln w="12700">
            <a:solidFill>
              <a:srgbClr val="0F1F3D"/>
            </a:solidFill>
            <a:prstDash val="solid"/>
          </a:ln>
        </p:spPr>
      </p:sp>
      <p:sp>
        <p:nvSpPr>
          <p:cNvPr id="11" name="Text 8"/>
          <p:cNvSpPr/>
          <p:nvPr/>
        </p:nvSpPr>
        <p:spPr>
          <a:xfrm>
            <a:off x="1143000" y="1563624"/>
            <a:ext cx="6583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 CAC</a:t>
            </a:r>
            <a:endParaRPr lang="en-US" sz="800" dirty="0"/>
          </a:p>
        </p:txBody>
      </p:sp>
      <p:sp>
        <p:nvSpPr>
          <p:cNvPr id="12" name="Text 9"/>
          <p:cNvSpPr/>
          <p:nvPr/>
        </p:nvSpPr>
        <p:spPr>
          <a:xfrm>
            <a:off x="539496" y="1810512"/>
            <a:ext cx="2377440" cy="77724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HR directors → staff benefit → 200+ HH per contract. 4 LOIs signed. One deal = 30-day volume spike.</a:t>
            </a:r>
            <a:endParaRPr lang="en-US" sz="900" dirty="0"/>
          </a:p>
        </p:txBody>
      </p:sp>
      <p:sp>
        <p:nvSpPr>
          <p:cNvPr id="13" name="Shape 10"/>
          <p:cNvSpPr/>
          <p:nvPr/>
        </p:nvSpPr>
        <p:spPr>
          <a:xfrm>
            <a:off x="3337560" y="1170432"/>
            <a:ext cx="2651760" cy="15544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4" name="Shape 11"/>
          <p:cNvSpPr/>
          <p:nvPr/>
        </p:nvSpPr>
        <p:spPr>
          <a:xfrm>
            <a:off x="3337560" y="1170432"/>
            <a:ext cx="2651760" cy="73152"/>
          </a:xfrm>
          <a:prstGeom prst="rect">
            <a:avLst/>
          </a:prstGeom>
          <a:solidFill>
            <a:srgbClr val="0D9488"/>
          </a:solidFill>
          <a:ln w="12700">
            <a:solidFill>
              <a:srgbClr val="0D9488"/>
            </a:solidFill>
            <a:prstDash val="solid"/>
          </a:ln>
        </p:spPr>
      </p:sp>
      <p:sp>
        <p:nvSpPr>
          <p:cNvPr id="15" name="Shape 12"/>
          <p:cNvSpPr/>
          <p:nvPr/>
        </p:nvSpPr>
        <p:spPr>
          <a:xfrm>
            <a:off x="3465576" y="1243584"/>
            <a:ext cx="512064" cy="512064"/>
          </a:xfrm>
          <a:prstGeom prst="ellipse">
            <a:avLst/>
          </a:prstGeom>
          <a:solidFill>
            <a:srgbClr val="0D9488"/>
          </a:solidFill>
          <a:ln w="12700">
            <a:solidFill>
              <a:srgbClr val="0D9488"/>
            </a:solidFill>
            <a:prstDash val="solid"/>
          </a:ln>
        </p:spPr>
      </p:sp>
      <p:pic>
        <p:nvPicPr>
          <p:cNvPr id="16" name="Image 1" descr="preencoded.png">    </p:cNvPr>
          <p:cNvPicPr>
            <a:picLocks noChangeAspect="1"/>
          </p:cNvPicPr>
          <p:nvPr/>
        </p:nvPicPr>
        <p:blipFill>
          <a:blip r:embed="rId2"/>
          <a:stretch>
            <a:fillRect/>
          </a:stretch>
        </p:blipFill>
        <p:spPr>
          <a:xfrm>
            <a:off x="3529584" y="1307592"/>
            <a:ext cx="384048" cy="384048"/>
          </a:xfrm>
          <a:prstGeom prst="rect">
            <a:avLst/>
          </a:prstGeom>
        </p:spPr>
      </p:pic>
      <p:sp>
        <p:nvSpPr>
          <p:cNvPr id="17" name="Text 13"/>
          <p:cNvSpPr/>
          <p:nvPr/>
        </p:nvSpPr>
        <p:spPr>
          <a:xfrm>
            <a:off x="4069080" y="1261872"/>
            <a:ext cx="1828800" cy="256032"/>
          </a:xfrm>
          <a:prstGeom prst="rect">
            <a:avLst/>
          </a:prstGeom>
          <a:noFill/>
          <a:ln/>
        </p:spPr>
        <p:txBody>
          <a:bodyPr wrap="square" lIns="0" tIns="0" rIns="0" bIns="0"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School Channel</a:t>
            </a:r>
            <a:endParaRPr lang="en-US" sz="1100" dirty="0"/>
          </a:p>
        </p:txBody>
      </p:sp>
      <p:sp>
        <p:nvSpPr>
          <p:cNvPr id="18" name="Shape 14"/>
          <p:cNvSpPr/>
          <p:nvPr/>
        </p:nvSpPr>
        <p:spPr>
          <a:xfrm>
            <a:off x="4069080" y="1554480"/>
            <a:ext cx="658368" cy="201168"/>
          </a:xfrm>
          <a:prstGeom prst="rect">
            <a:avLst/>
          </a:prstGeom>
          <a:solidFill>
            <a:srgbClr val="0D9488"/>
          </a:solidFill>
          <a:ln w="12700">
            <a:solidFill>
              <a:srgbClr val="0D9488"/>
            </a:solidFill>
            <a:prstDash val="solid"/>
          </a:ln>
        </p:spPr>
      </p:sp>
      <p:sp>
        <p:nvSpPr>
          <p:cNvPr id="19" name="Text 15"/>
          <p:cNvSpPr/>
          <p:nvPr/>
        </p:nvSpPr>
        <p:spPr>
          <a:xfrm>
            <a:off x="4069080" y="1563624"/>
            <a:ext cx="6583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 CAC</a:t>
            </a:r>
            <a:endParaRPr lang="en-US" sz="800" dirty="0"/>
          </a:p>
        </p:txBody>
      </p:sp>
      <p:sp>
        <p:nvSpPr>
          <p:cNvPr id="20" name="Text 16"/>
          <p:cNvSpPr/>
          <p:nvPr/>
        </p:nvSpPr>
        <p:spPr>
          <a:xfrm>
            <a:off x="3465576" y="1810512"/>
            <a:ext cx="2377440" cy="77724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Free curriculum → parent comms access. A child excited about money = best marketing we'll ever run.</a:t>
            </a:r>
            <a:endParaRPr lang="en-US" sz="900" dirty="0"/>
          </a:p>
        </p:txBody>
      </p:sp>
      <p:sp>
        <p:nvSpPr>
          <p:cNvPr id="21" name="Shape 17"/>
          <p:cNvSpPr/>
          <p:nvPr/>
        </p:nvSpPr>
        <p:spPr>
          <a:xfrm>
            <a:off x="6263640" y="1170432"/>
            <a:ext cx="2651760" cy="15544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2" name="Shape 18"/>
          <p:cNvSpPr/>
          <p:nvPr/>
        </p:nvSpPr>
        <p:spPr>
          <a:xfrm>
            <a:off x="6263640" y="1170432"/>
            <a:ext cx="2651760" cy="73152"/>
          </a:xfrm>
          <a:prstGeom prst="rect">
            <a:avLst/>
          </a:prstGeom>
          <a:solidFill>
            <a:srgbClr val="7C3AED"/>
          </a:solidFill>
          <a:ln w="12700">
            <a:solidFill>
              <a:srgbClr val="7C3AED"/>
            </a:solidFill>
            <a:prstDash val="solid"/>
          </a:ln>
        </p:spPr>
      </p:sp>
      <p:sp>
        <p:nvSpPr>
          <p:cNvPr id="23" name="Shape 19"/>
          <p:cNvSpPr/>
          <p:nvPr/>
        </p:nvSpPr>
        <p:spPr>
          <a:xfrm>
            <a:off x="6391656" y="1243584"/>
            <a:ext cx="512064" cy="512064"/>
          </a:xfrm>
          <a:prstGeom prst="ellipse">
            <a:avLst/>
          </a:prstGeom>
          <a:solidFill>
            <a:srgbClr val="7C3AED"/>
          </a:solidFill>
          <a:ln w="12700">
            <a:solidFill>
              <a:srgbClr val="7C3AED"/>
            </a:solidFill>
            <a:prstDash val="solid"/>
          </a:ln>
        </p:spPr>
      </p:sp>
      <p:pic>
        <p:nvPicPr>
          <p:cNvPr id="24" name="Image 2" descr="preencoded.png">    </p:cNvPr>
          <p:cNvPicPr>
            <a:picLocks noChangeAspect="1"/>
          </p:cNvPicPr>
          <p:nvPr/>
        </p:nvPicPr>
        <p:blipFill>
          <a:blip r:embed="rId3"/>
          <a:stretch>
            <a:fillRect/>
          </a:stretch>
        </p:blipFill>
        <p:spPr>
          <a:xfrm>
            <a:off x="6455664" y="1307592"/>
            <a:ext cx="384048" cy="384048"/>
          </a:xfrm>
          <a:prstGeom prst="rect">
            <a:avLst/>
          </a:prstGeom>
        </p:spPr>
      </p:pic>
      <p:sp>
        <p:nvSpPr>
          <p:cNvPr id="25" name="Text 20"/>
          <p:cNvSpPr/>
          <p:nvPr/>
        </p:nvSpPr>
        <p:spPr>
          <a:xfrm>
            <a:off x="6995160" y="1261872"/>
            <a:ext cx="1828800" cy="256032"/>
          </a:xfrm>
          <a:prstGeom prst="rect">
            <a:avLst/>
          </a:prstGeom>
          <a:noFill/>
          <a:ln/>
        </p:spPr>
        <p:txBody>
          <a:bodyPr wrap="square" lIns="0" tIns="0" rIns="0" bIns="0"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Peer Referral</a:t>
            </a:r>
            <a:endParaRPr lang="en-US" sz="1100" dirty="0"/>
          </a:p>
        </p:txBody>
      </p:sp>
      <p:sp>
        <p:nvSpPr>
          <p:cNvPr id="26" name="Shape 21"/>
          <p:cNvSpPr/>
          <p:nvPr/>
        </p:nvSpPr>
        <p:spPr>
          <a:xfrm>
            <a:off x="6995160" y="1554480"/>
            <a:ext cx="658368" cy="201168"/>
          </a:xfrm>
          <a:prstGeom prst="rect">
            <a:avLst/>
          </a:prstGeom>
          <a:solidFill>
            <a:srgbClr val="7C3AED"/>
          </a:solidFill>
          <a:ln w="12700">
            <a:solidFill>
              <a:srgbClr val="7C3AED"/>
            </a:solidFill>
            <a:prstDash val="solid"/>
          </a:ln>
        </p:spPr>
      </p:sp>
      <p:sp>
        <p:nvSpPr>
          <p:cNvPr id="27" name="Text 22"/>
          <p:cNvSpPr/>
          <p:nvPr/>
        </p:nvSpPr>
        <p:spPr>
          <a:xfrm>
            <a:off x="6995160" y="1563624"/>
            <a:ext cx="6583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&lt; £8 CAC</a:t>
            </a:r>
            <a:endParaRPr lang="en-US" sz="800" dirty="0"/>
          </a:p>
        </p:txBody>
      </p:sp>
      <p:sp>
        <p:nvSpPr>
          <p:cNvPr id="28" name="Text 23"/>
          <p:cNvSpPr/>
          <p:nvPr/>
        </p:nvSpPr>
        <p:spPr>
          <a:xfrm>
            <a:off x="6391656" y="1810512"/>
            <a:ext cx="2377440" cy="77724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1 free month per successful referral. Activated after Day 3 'reveal' at peak trust. City Zero closes organically.</a:t>
            </a:r>
            <a:endParaRPr lang="en-US" sz="900" dirty="0"/>
          </a:p>
        </p:txBody>
      </p:sp>
      <p:sp>
        <p:nvSpPr>
          <p:cNvPr id="29" name="Shape 24"/>
          <p:cNvSpPr/>
          <p:nvPr/>
        </p:nvSpPr>
        <p:spPr>
          <a:xfrm>
            <a:off x="457200" y="2834640"/>
            <a:ext cx="8229600" cy="0"/>
          </a:xfrm>
          <a:prstGeom prst="line">
            <a:avLst/>
          </a:prstGeom>
          <a:noFill/>
          <a:ln w="15240">
            <a:solidFill>
              <a:srgbClr val="0D9488">
                <a:alpha val="60000"/>
              </a:srgbClr>
            </a:solidFill>
            <a:prstDash val="solid"/>
          </a:ln>
        </p:spPr>
      </p:sp>
      <p:sp>
        <p:nvSpPr>
          <p:cNvPr id="30" name="Text 25"/>
          <p:cNvSpPr/>
          <p:nvPr/>
        </p:nvSpPr>
        <p:spPr>
          <a:xfrm>
            <a:off x="457200" y="2907792"/>
            <a:ext cx="8229600" cy="228600"/>
          </a:xfrm>
          <a:prstGeom prst="rect">
            <a:avLst/>
          </a:prstGeom>
          <a:noFill/>
          <a:ln/>
        </p:spPr>
        <p:txBody>
          <a:bodyPr wrap="square" rtlCol="0" anchor="ctr"/>
          <a:lstStyle/>
          <a:p>
            <a:pPr indent="0" marL="0">
              <a:buNone/>
            </a:pPr>
            <a:r>
              <a:rPr lang="en-US" sz="900" b="1" spc="400" kern="0" dirty="0">
                <a:solidFill>
                  <a:srgbClr val="0D9488"/>
                </a:solidFill>
                <a:latin typeface="Calibri" pitchFamily="34" charset="0"/>
                <a:ea typeface="Calibri" pitchFamily="34" charset="-122"/>
                <a:cs typeface="Calibri" pitchFamily="34" charset="-120"/>
              </a:rPr>
              <a:t>LAUNCH WAVES</a:t>
            </a:r>
            <a:endParaRPr lang="en-US" sz="900" dirty="0"/>
          </a:p>
        </p:txBody>
      </p:sp>
      <p:sp>
        <p:nvSpPr>
          <p:cNvPr id="31" name="Shape 26"/>
          <p:cNvSpPr/>
          <p:nvPr/>
        </p:nvSpPr>
        <p:spPr>
          <a:xfrm>
            <a:off x="411480" y="3154680"/>
            <a:ext cx="2651760" cy="1783080"/>
          </a:xfrm>
          <a:prstGeom prst="rect">
            <a:avLst/>
          </a:prstGeom>
          <a:solidFill>
            <a:srgbClr val="0F1F3D"/>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2" name="Text 27"/>
          <p:cNvSpPr/>
          <p:nvPr/>
        </p:nvSpPr>
        <p:spPr>
          <a:xfrm>
            <a:off x="539496" y="3227832"/>
            <a:ext cx="2377440" cy="228600"/>
          </a:xfrm>
          <a:prstGeom prst="rect">
            <a:avLst/>
          </a:prstGeom>
          <a:noFill/>
          <a:ln/>
        </p:spPr>
        <p:txBody>
          <a:bodyPr wrap="square"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Wave 01  ·  Mo 1–6</a:t>
            </a:r>
            <a:endParaRPr lang="en-US" sz="900" dirty="0"/>
          </a:p>
        </p:txBody>
      </p:sp>
      <p:sp>
        <p:nvSpPr>
          <p:cNvPr id="33" name="Text 28"/>
          <p:cNvSpPr/>
          <p:nvPr/>
        </p:nvSpPr>
        <p:spPr>
          <a:xfrm>
            <a:off x="539496" y="3456432"/>
            <a:ext cx="2377440" cy="301752"/>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500 Households</a:t>
            </a:r>
            <a:endParaRPr lang="en-US" sz="1500" dirty="0"/>
          </a:p>
        </p:txBody>
      </p:sp>
      <p:sp>
        <p:nvSpPr>
          <p:cNvPr id="34" name="Text 29"/>
          <p:cNvSpPr/>
          <p:nvPr/>
        </p:nvSpPr>
        <p:spPr>
          <a:xfrm>
            <a:off x="539496" y="3749040"/>
            <a:ext cx="2377440" cy="201168"/>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1 City  ·  £180K ARR target</a:t>
            </a:r>
            <a:endParaRPr lang="en-US" sz="850" dirty="0"/>
          </a:p>
        </p:txBody>
      </p:sp>
      <p:sp>
        <p:nvSpPr>
          <p:cNvPr id="35" name="Text 30"/>
          <p:cNvSpPr/>
          <p:nvPr/>
        </p:nvSpPr>
        <p:spPr>
          <a:xfrm>
            <a:off x="539496" y="3950208"/>
            <a:ext cx="2377440" cy="201168"/>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 3 schools + 5 employers signed</a:t>
            </a:r>
            <a:endParaRPr lang="en-US" sz="800" dirty="0"/>
          </a:p>
        </p:txBody>
      </p:sp>
      <p:sp>
        <p:nvSpPr>
          <p:cNvPr id="36" name="Text 31"/>
          <p:cNvSpPr/>
          <p:nvPr/>
        </p:nvSpPr>
        <p:spPr>
          <a:xfrm>
            <a:off x="539496" y="4169664"/>
            <a:ext cx="2377440" cy="201168"/>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 10 digital circles live</a:t>
            </a:r>
            <a:endParaRPr lang="en-US" sz="800" dirty="0"/>
          </a:p>
        </p:txBody>
      </p:sp>
      <p:sp>
        <p:nvSpPr>
          <p:cNvPr id="37" name="Text 32"/>
          <p:cNvSpPr/>
          <p:nvPr/>
        </p:nvSpPr>
        <p:spPr>
          <a:xfrm>
            <a:off x="539496" y="4389120"/>
            <a:ext cx="2377440" cy="201168"/>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 Word-of-mouth only</a:t>
            </a:r>
            <a:endParaRPr lang="en-US" sz="800" dirty="0"/>
          </a:p>
        </p:txBody>
      </p:sp>
      <p:sp>
        <p:nvSpPr>
          <p:cNvPr id="38" name="Text 33"/>
          <p:cNvSpPr/>
          <p:nvPr/>
        </p:nvSpPr>
        <p:spPr>
          <a:xfrm>
            <a:off x="539496" y="4608576"/>
            <a:ext cx="2377440" cy="201168"/>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 D90 retention &gt;60%</a:t>
            </a:r>
            <a:endParaRPr lang="en-US" sz="800" dirty="0"/>
          </a:p>
        </p:txBody>
      </p:sp>
      <p:sp>
        <p:nvSpPr>
          <p:cNvPr id="39" name="Shape 34"/>
          <p:cNvSpPr/>
          <p:nvPr/>
        </p:nvSpPr>
        <p:spPr>
          <a:xfrm>
            <a:off x="3337560" y="3154680"/>
            <a:ext cx="2651760" cy="17830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40" name="Text 35"/>
          <p:cNvSpPr/>
          <p:nvPr/>
        </p:nvSpPr>
        <p:spPr>
          <a:xfrm>
            <a:off x="3465576" y="3227832"/>
            <a:ext cx="2377440" cy="22860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Wave 02  ·  Mo 6–18</a:t>
            </a:r>
            <a:endParaRPr lang="en-US" sz="900" dirty="0"/>
          </a:p>
        </p:txBody>
      </p:sp>
      <p:sp>
        <p:nvSpPr>
          <p:cNvPr id="41" name="Text 36"/>
          <p:cNvSpPr/>
          <p:nvPr/>
        </p:nvSpPr>
        <p:spPr>
          <a:xfrm>
            <a:off x="3465576" y="3456432"/>
            <a:ext cx="2377440" cy="301752"/>
          </a:xfrm>
          <a:prstGeom prst="rect">
            <a:avLst/>
          </a:prstGeom>
          <a:noFill/>
          <a:ln/>
        </p:spPr>
        <p:txBody>
          <a:bodyPr wrap="square" rtlCol="0" anchor="ctr"/>
          <a:lstStyle/>
          <a:p>
            <a:pPr indent="0" marL="0">
              <a:buNone/>
            </a:pPr>
            <a:r>
              <a:rPr lang="en-US" sz="1500" b="1" dirty="0">
                <a:solidFill>
                  <a:srgbClr val="0F1F3D"/>
                </a:solidFill>
                <a:latin typeface="Georgia" pitchFamily="34" charset="0"/>
                <a:ea typeface="Georgia" pitchFamily="34" charset="-122"/>
                <a:cs typeface="Georgia" pitchFamily="34" charset="-120"/>
              </a:rPr>
              <a:t>5,000 Households</a:t>
            </a:r>
            <a:endParaRPr lang="en-US" sz="1500" dirty="0"/>
          </a:p>
        </p:txBody>
      </p:sp>
      <p:sp>
        <p:nvSpPr>
          <p:cNvPr id="42" name="Text 37"/>
          <p:cNvSpPr/>
          <p:nvPr/>
        </p:nvSpPr>
        <p:spPr>
          <a:xfrm>
            <a:off x="3465576" y="3749040"/>
            <a:ext cx="2377440" cy="201168"/>
          </a:xfrm>
          <a:prstGeom prst="rect">
            <a:avLst/>
          </a:prstGeom>
          <a:noFill/>
          <a:ln/>
        </p:spPr>
        <p:txBody>
          <a:bodyPr wrap="square" rtlCol="0" anchor="ctr"/>
          <a:lstStyle/>
          <a:p>
            <a:pPr indent="0" marL="0">
              <a:buNone/>
            </a:pPr>
            <a:r>
              <a:rPr lang="en-US" sz="850" dirty="0">
                <a:solidFill>
                  <a:srgbClr val="475569"/>
                </a:solidFill>
                <a:latin typeface="Calibri" pitchFamily="34" charset="0"/>
                <a:ea typeface="Calibri" pitchFamily="34" charset="-122"/>
                <a:cs typeface="Calibri" pitchFamily="34" charset="-120"/>
              </a:rPr>
              <a:t>4 Cities  ·  £1.8M ARR target</a:t>
            </a:r>
            <a:endParaRPr lang="en-US" sz="850" dirty="0"/>
          </a:p>
        </p:txBody>
      </p:sp>
      <p:sp>
        <p:nvSpPr>
          <p:cNvPr id="43" name="Text 38"/>
          <p:cNvSpPr/>
          <p:nvPr/>
        </p:nvSpPr>
        <p:spPr>
          <a:xfrm>
            <a:off x="3465576" y="3950208"/>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50 employer contracts</a:t>
            </a:r>
            <a:endParaRPr lang="en-US" sz="800" dirty="0"/>
          </a:p>
        </p:txBody>
      </p:sp>
      <p:sp>
        <p:nvSpPr>
          <p:cNvPr id="44" name="Text 39"/>
          <p:cNvSpPr/>
          <p:nvPr/>
        </p:nvSpPr>
        <p:spPr>
          <a:xfrm>
            <a:off x="3465576" y="4169664"/>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25 school partnerships</a:t>
            </a:r>
            <a:endParaRPr lang="en-US" sz="800" dirty="0"/>
          </a:p>
        </p:txBody>
      </p:sp>
      <p:sp>
        <p:nvSpPr>
          <p:cNvPr id="45" name="Text 40"/>
          <p:cNvSpPr/>
          <p:nvPr/>
        </p:nvSpPr>
        <p:spPr>
          <a:xfrm>
            <a:off x="3465576" y="4389120"/>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Referral program live</a:t>
            </a:r>
            <a:endParaRPr lang="en-US" sz="800" dirty="0"/>
          </a:p>
        </p:txBody>
      </p:sp>
      <p:sp>
        <p:nvSpPr>
          <p:cNvPr id="46" name="Text 41"/>
          <p:cNvSpPr/>
          <p:nvPr/>
        </p:nvSpPr>
        <p:spPr>
          <a:xfrm>
            <a:off x="3465576" y="4608576"/>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SMB module launched</a:t>
            </a:r>
            <a:endParaRPr lang="en-US" sz="800" dirty="0"/>
          </a:p>
        </p:txBody>
      </p:sp>
      <p:sp>
        <p:nvSpPr>
          <p:cNvPr id="47" name="Shape 42"/>
          <p:cNvSpPr/>
          <p:nvPr/>
        </p:nvSpPr>
        <p:spPr>
          <a:xfrm>
            <a:off x="6263640" y="3154680"/>
            <a:ext cx="2651760" cy="17830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48" name="Text 43"/>
          <p:cNvSpPr/>
          <p:nvPr/>
        </p:nvSpPr>
        <p:spPr>
          <a:xfrm>
            <a:off x="6391656" y="3227832"/>
            <a:ext cx="2377440" cy="22860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Wave 03  ·  Mo 18–36</a:t>
            </a:r>
            <a:endParaRPr lang="en-US" sz="900" dirty="0"/>
          </a:p>
        </p:txBody>
      </p:sp>
      <p:sp>
        <p:nvSpPr>
          <p:cNvPr id="49" name="Text 44"/>
          <p:cNvSpPr/>
          <p:nvPr/>
        </p:nvSpPr>
        <p:spPr>
          <a:xfrm>
            <a:off x="6391656" y="3456432"/>
            <a:ext cx="2377440" cy="301752"/>
          </a:xfrm>
          <a:prstGeom prst="rect">
            <a:avLst/>
          </a:prstGeom>
          <a:noFill/>
          <a:ln/>
        </p:spPr>
        <p:txBody>
          <a:bodyPr wrap="square" rtlCol="0" anchor="ctr"/>
          <a:lstStyle/>
          <a:p>
            <a:pPr indent="0" marL="0">
              <a:buNone/>
            </a:pPr>
            <a:r>
              <a:rPr lang="en-US" sz="1500" b="1" dirty="0">
                <a:solidFill>
                  <a:srgbClr val="0F1F3D"/>
                </a:solidFill>
                <a:latin typeface="Georgia" pitchFamily="34" charset="0"/>
                <a:ea typeface="Georgia" pitchFamily="34" charset="-122"/>
                <a:cs typeface="Georgia" pitchFamily="34" charset="-120"/>
              </a:rPr>
              <a:t>50,000 Households</a:t>
            </a:r>
            <a:endParaRPr lang="en-US" sz="1500" dirty="0"/>
          </a:p>
        </p:txBody>
      </p:sp>
      <p:sp>
        <p:nvSpPr>
          <p:cNvPr id="50" name="Text 45"/>
          <p:cNvSpPr/>
          <p:nvPr/>
        </p:nvSpPr>
        <p:spPr>
          <a:xfrm>
            <a:off x="6391656" y="3749040"/>
            <a:ext cx="2377440" cy="201168"/>
          </a:xfrm>
          <a:prstGeom prst="rect">
            <a:avLst/>
          </a:prstGeom>
          <a:noFill/>
          <a:ln/>
        </p:spPr>
        <p:txBody>
          <a:bodyPr wrap="square" rtlCol="0" anchor="ctr"/>
          <a:lstStyle/>
          <a:p>
            <a:pPr indent="0" marL="0">
              <a:buNone/>
            </a:pPr>
            <a:r>
              <a:rPr lang="en-US" sz="850" dirty="0">
                <a:solidFill>
                  <a:srgbClr val="475569"/>
                </a:solidFill>
                <a:latin typeface="Calibri" pitchFamily="34" charset="0"/>
                <a:ea typeface="Calibri" pitchFamily="34" charset="-122"/>
                <a:cs typeface="Calibri" pitchFamily="34" charset="-120"/>
              </a:rPr>
              <a:t>National  ·  £12M ARR target</a:t>
            </a:r>
            <a:endParaRPr lang="en-US" sz="850" dirty="0"/>
          </a:p>
        </p:txBody>
      </p:sp>
      <p:sp>
        <p:nvSpPr>
          <p:cNvPr id="51" name="Text 46"/>
          <p:cNvSpPr/>
          <p:nvPr/>
        </p:nvSpPr>
        <p:spPr>
          <a:xfrm>
            <a:off x="6391656" y="3950208"/>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Bank licensing LOI signed</a:t>
            </a:r>
            <a:endParaRPr lang="en-US" sz="800" dirty="0"/>
          </a:p>
        </p:txBody>
      </p:sp>
      <p:sp>
        <p:nvSpPr>
          <p:cNvPr id="52" name="Text 47"/>
          <p:cNvSpPr/>
          <p:nvPr/>
        </p:nvSpPr>
        <p:spPr>
          <a:xfrm>
            <a:off x="6391656" y="4169664"/>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Gov financial inclusion pilot</a:t>
            </a:r>
            <a:endParaRPr lang="en-US" sz="800" dirty="0"/>
          </a:p>
        </p:txBody>
      </p:sp>
      <p:sp>
        <p:nvSpPr>
          <p:cNvPr id="53" name="Text 48"/>
          <p:cNvSpPr/>
          <p:nvPr/>
        </p:nvSpPr>
        <p:spPr>
          <a:xfrm>
            <a:off x="6391656" y="4389120"/>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Series A data package ready</a:t>
            </a:r>
            <a:endParaRPr lang="en-US" sz="800" dirty="0"/>
          </a:p>
        </p:txBody>
      </p:sp>
      <p:sp>
        <p:nvSpPr>
          <p:cNvPr id="54" name="Text 49"/>
          <p:cNvSpPr/>
          <p:nvPr/>
        </p:nvSpPr>
        <p:spPr>
          <a:xfrm>
            <a:off x="6391656" y="4608576"/>
            <a:ext cx="2377440" cy="201168"/>
          </a:xfrm>
          <a:prstGeom prst="rect">
            <a:avLst/>
          </a:prstGeom>
          <a:noFill/>
          <a:ln/>
        </p:spPr>
        <p:txBody>
          <a:bodyPr wrap="square" rtlCol="0" anchor="ctr"/>
          <a:lstStyle/>
          <a:p>
            <a:pPr indent="0" marL="0">
              <a:buNone/>
            </a:pPr>
            <a:r>
              <a:rPr lang="en-US" sz="800" dirty="0">
                <a:solidFill>
                  <a:srgbClr val="475569"/>
                </a:solidFill>
                <a:latin typeface="Calibri" pitchFamily="34" charset="0"/>
                <a:ea typeface="Calibri" pitchFamily="34" charset="-122"/>
                <a:cs typeface="Calibri" pitchFamily="34" charset="-120"/>
              </a:rPr>
              <a:t>– First intl city scoped</a:t>
            </a:r>
            <a:endParaRPr lang="en-US" sz="800" dirty="0"/>
          </a:p>
        </p:txBody>
      </p:sp>
      <p:sp>
        <p:nvSpPr>
          <p:cNvPr id="55" name="Text 50"/>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§04 · KICKSTART ACTIVITIES</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First 30 Days: The Founder's Checklist</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Text 3"/>
          <p:cNvSpPr/>
          <p:nvPr/>
        </p:nvSpPr>
        <p:spPr>
          <a:xfrm>
            <a:off x="411480" y="1188720"/>
            <a:ext cx="3840480" cy="201168"/>
          </a:xfrm>
          <a:prstGeom prst="rect">
            <a:avLst/>
          </a:prstGeom>
          <a:noFill/>
          <a:ln/>
        </p:spPr>
        <p:txBody>
          <a:bodyPr wrap="square" rtlCol="0" anchor="ctr"/>
          <a:lstStyle/>
          <a:p>
            <a:pPr indent="0" marL="0">
              <a:buNone/>
            </a:pPr>
            <a:r>
              <a:rPr lang="en-US" sz="800" b="1" spc="300" kern="0" dirty="0">
                <a:solidFill>
                  <a:srgbClr val="0F1F3D"/>
                </a:solidFill>
                <a:latin typeface="Calibri" pitchFamily="34" charset="0"/>
                <a:ea typeface="Calibri" pitchFamily="34" charset="-122"/>
                <a:cs typeface="Calibri" pitchFamily="34" charset="-120"/>
              </a:rPr>
              <a:t>LEGAL &amp; STRUCTURE</a:t>
            </a:r>
            <a:endParaRPr lang="en-US" sz="800" dirty="0"/>
          </a:p>
        </p:txBody>
      </p:sp>
      <p:sp>
        <p:nvSpPr>
          <p:cNvPr id="6" name="Shape 4"/>
          <p:cNvSpPr/>
          <p:nvPr/>
        </p:nvSpPr>
        <p:spPr>
          <a:xfrm>
            <a:off x="411480" y="1444752"/>
            <a:ext cx="128016" cy="128016"/>
          </a:xfrm>
          <a:prstGeom prst="rect">
            <a:avLst/>
          </a:prstGeom>
          <a:solidFill>
            <a:srgbClr val="FFFFFF"/>
          </a:solidFill>
          <a:ln w="12700">
            <a:solidFill>
              <a:srgbClr val="0F1F3D"/>
            </a:solidFill>
            <a:prstDash val="solid"/>
          </a:ln>
        </p:spPr>
      </p:sp>
      <p:sp>
        <p:nvSpPr>
          <p:cNvPr id="7" name="Text 5"/>
          <p:cNvSpPr/>
          <p:nvPr/>
        </p:nvSpPr>
        <p:spPr>
          <a:xfrm>
            <a:off x="612648" y="1417320"/>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Incorporate Ltd (Companies House)</a:t>
            </a:r>
            <a:endParaRPr lang="en-US" sz="900" dirty="0"/>
          </a:p>
        </p:txBody>
      </p:sp>
      <p:sp>
        <p:nvSpPr>
          <p:cNvPr id="8" name="Shape 6"/>
          <p:cNvSpPr/>
          <p:nvPr/>
        </p:nvSpPr>
        <p:spPr>
          <a:xfrm>
            <a:off x="411480" y="1682496"/>
            <a:ext cx="128016" cy="128016"/>
          </a:xfrm>
          <a:prstGeom prst="rect">
            <a:avLst/>
          </a:prstGeom>
          <a:solidFill>
            <a:srgbClr val="FFFFFF"/>
          </a:solidFill>
          <a:ln w="12700">
            <a:solidFill>
              <a:srgbClr val="0F1F3D"/>
            </a:solidFill>
            <a:prstDash val="solid"/>
          </a:ln>
        </p:spPr>
      </p:sp>
      <p:sp>
        <p:nvSpPr>
          <p:cNvPr id="9" name="Text 7"/>
          <p:cNvSpPr/>
          <p:nvPr/>
        </p:nvSpPr>
        <p:spPr>
          <a:xfrm>
            <a:off x="612648" y="1655064"/>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FCA Regulatory Sandbox application</a:t>
            </a:r>
            <a:endParaRPr lang="en-US" sz="900" dirty="0"/>
          </a:p>
        </p:txBody>
      </p:sp>
      <p:sp>
        <p:nvSpPr>
          <p:cNvPr id="10" name="Shape 8"/>
          <p:cNvSpPr/>
          <p:nvPr/>
        </p:nvSpPr>
        <p:spPr>
          <a:xfrm>
            <a:off x="411480" y="1920240"/>
            <a:ext cx="128016" cy="128016"/>
          </a:xfrm>
          <a:prstGeom prst="rect">
            <a:avLst/>
          </a:prstGeom>
          <a:solidFill>
            <a:srgbClr val="FFFFFF"/>
          </a:solidFill>
          <a:ln w="12700">
            <a:solidFill>
              <a:srgbClr val="0F1F3D"/>
            </a:solidFill>
            <a:prstDash val="solid"/>
          </a:ln>
        </p:spPr>
      </p:sp>
      <p:sp>
        <p:nvSpPr>
          <p:cNvPr id="11" name="Text 9"/>
          <p:cNvSpPr/>
          <p:nvPr/>
        </p:nvSpPr>
        <p:spPr>
          <a:xfrm>
            <a:off x="612648" y="1892808"/>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GDPR data handling framework (ICO)</a:t>
            </a:r>
            <a:endParaRPr lang="en-US" sz="900" dirty="0"/>
          </a:p>
        </p:txBody>
      </p:sp>
      <p:sp>
        <p:nvSpPr>
          <p:cNvPr id="12" name="Shape 10"/>
          <p:cNvSpPr/>
          <p:nvPr/>
        </p:nvSpPr>
        <p:spPr>
          <a:xfrm>
            <a:off x="411480" y="2157984"/>
            <a:ext cx="128016" cy="128016"/>
          </a:xfrm>
          <a:prstGeom prst="rect">
            <a:avLst/>
          </a:prstGeom>
          <a:solidFill>
            <a:srgbClr val="FFFFFF"/>
          </a:solidFill>
          <a:ln w="12700">
            <a:solidFill>
              <a:srgbClr val="0F1F3D"/>
            </a:solidFill>
            <a:prstDash val="solid"/>
          </a:ln>
        </p:spPr>
      </p:sp>
      <p:sp>
        <p:nvSpPr>
          <p:cNvPr id="13" name="Text 11"/>
          <p:cNvSpPr/>
          <p:nvPr/>
        </p:nvSpPr>
        <p:spPr>
          <a:xfrm>
            <a:off x="612648" y="2130552"/>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IP assignment agreements for contractors</a:t>
            </a:r>
            <a:endParaRPr lang="en-US" sz="900" dirty="0"/>
          </a:p>
        </p:txBody>
      </p:sp>
      <p:sp>
        <p:nvSpPr>
          <p:cNvPr id="14" name="Text 12"/>
          <p:cNvSpPr/>
          <p:nvPr/>
        </p:nvSpPr>
        <p:spPr>
          <a:xfrm>
            <a:off x="411480" y="2487168"/>
            <a:ext cx="3840480" cy="201168"/>
          </a:xfrm>
          <a:prstGeom prst="rect">
            <a:avLst/>
          </a:prstGeom>
          <a:noFill/>
          <a:ln/>
        </p:spPr>
        <p:txBody>
          <a:bodyPr wrap="square" rtlCol="0" anchor="ctr"/>
          <a:lstStyle/>
          <a:p>
            <a:pPr indent="0" marL="0">
              <a:buNone/>
            </a:pPr>
            <a:r>
              <a:rPr lang="en-US" sz="800" b="1" spc="300" kern="0" dirty="0">
                <a:solidFill>
                  <a:srgbClr val="7C3AED"/>
                </a:solidFill>
                <a:latin typeface="Calibri" pitchFamily="34" charset="0"/>
                <a:ea typeface="Calibri" pitchFamily="34" charset="-122"/>
                <a:cs typeface="Calibri" pitchFamily="34" charset="-120"/>
              </a:rPr>
              <a:t>PRODUCT VALIDATION</a:t>
            </a:r>
            <a:endParaRPr lang="en-US" sz="800" dirty="0"/>
          </a:p>
        </p:txBody>
      </p:sp>
      <p:sp>
        <p:nvSpPr>
          <p:cNvPr id="15" name="Shape 13"/>
          <p:cNvSpPr/>
          <p:nvPr/>
        </p:nvSpPr>
        <p:spPr>
          <a:xfrm>
            <a:off x="411480" y="2743200"/>
            <a:ext cx="128016" cy="128016"/>
          </a:xfrm>
          <a:prstGeom prst="rect">
            <a:avLst/>
          </a:prstGeom>
          <a:solidFill>
            <a:srgbClr val="FFFFFF"/>
          </a:solidFill>
          <a:ln w="12700">
            <a:solidFill>
              <a:srgbClr val="7C3AED"/>
            </a:solidFill>
            <a:prstDash val="solid"/>
          </a:ln>
        </p:spPr>
      </p:sp>
      <p:sp>
        <p:nvSpPr>
          <p:cNvPr id="16" name="Text 14"/>
          <p:cNvSpPr/>
          <p:nvPr/>
        </p:nvSpPr>
        <p:spPr>
          <a:xfrm>
            <a:off x="612648" y="2715768"/>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Script 20 couple interview protocols</a:t>
            </a:r>
            <a:endParaRPr lang="en-US" sz="900" dirty="0"/>
          </a:p>
        </p:txBody>
      </p:sp>
      <p:sp>
        <p:nvSpPr>
          <p:cNvPr id="17" name="Shape 15"/>
          <p:cNvSpPr/>
          <p:nvPr/>
        </p:nvSpPr>
        <p:spPr>
          <a:xfrm>
            <a:off x="411480" y="2980944"/>
            <a:ext cx="128016" cy="128016"/>
          </a:xfrm>
          <a:prstGeom prst="rect">
            <a:avLst/>
          </a:prstGeom>
          <a:solidFill>
            <a:srgbClr val="FFFFFF"/>
          </a:solidFill>
          <a:ln w="12700">
            <a:solidFill>
              <a:srgbClr val="7C3AED"/>
            </a:solidFill>
            <a:prstDash val="solid"/>
          </a:ln>
        </p:spPr>
      </p:sp>
      <p:sp>
        <p:nvSpPr>
          <p:cNvPr id="18" name="Text 16"/>
          <p:cNvSpPr/>
          <p:nvPr/>
        </p:nvSpPr>
        <p:spPr>
          <a:xfrm>
            <a:off x="612648" y="2953512"/>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Launch WTP landing page (Webflow)</a:t>
            </a:r>
            <a:endParaRPr lang="en-US" sz="900" dirty="0"/>
          </a:p>
        </p:txBody>
      </p:sp>
      <p:sp>
        <p:nvSpPr>
          <p:cNvPr id="19" name="Shape 17"/>
          <p:cNvSpPr/>
          <p:nvPr/>
        </p:nvSpPr>
        <p:spPr>
          <a:xfrm>
            <a:off x="411480" y="3218688"/>
            <a:ext cx="128016" cy="128016"/>
          </a:xfrm>
          <a:prstGeom prst="rect">
            <a:avLst/>
          </a:prstGeom>
          <a:solidFill>
            <a:srgbClr val="FFFFFF"/>
          </a:solidFill>
          <a:ln w="12700">
            <a:solidFill>
              <a:srgbClr val="7C3AED"/>
            </a:solidFill>
            <a:prstDash val="solid"/>
          </a:ln>
        </p:spPr>
      </p:sp>
      <p:sp>
        <p:nvSpPr>
          <p:cNvPr id="20" name="Text 18"/>
          <p:cNvSpPr/>
          <p:nvPr/>
        </p:nvSpPr>
        <p:spPr>
          <a:xfrm>
            <a:off x="612648" y="3191256"/>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Cold-email 30 HR directors (LOI ask)</a:t>
            </a:r>
            <a:endParaRPr lang="en-US" sz="900" dirty="0"/>
          </a:p>
        </p:txBody>
      </p:sp>
      <p:sp>
        <p:nvSpPr>
          <p:cNvPr id="21" name="Shape 19"/>
          <p:cNvSpPr/>
          <p:nvPr/>
        </p:nvSpPr>
        <p:spPr>
          <a:xfrm>
            <a:off x="411480" y="3456432"/>
            <a:ext cx="128016" cy="128016"/>
          </a:xfrm>
          <a:prstGeom prst="rect">
            <a:avLst/>
          </a:prstGeom>
          <a:solidFill>
            <a:srgbClr val="FFFFFF"/>
          </a:solidFill>
          <a:ln w="12700">
            <a:solidFill>
              <a:srgbClr val="7C3AED"/>
            </a:solidFill>
            <a:prstDash val="solid"/>
          </a:ln>
        </p:spPr>
      </p:sp>
      <p:sp>
        <p:nvSpPr>
          <p:cNvPr id="22" name="Text 20"/>
          <p:cNvSpPr/>
          <p:nvPr/>
        </p:nvSpPr>
        <p:spPr>
          <a:xfrm>
            <a:off x="612648" y="3429000"/>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Recruit 50 City Zero beta families</a:t>
            </a:r>
            <a:endParaRPr lang="en-US" sz="900" dirty="0"/>
          </a:p>
        </p:txBody>
      </p:sp>
      <p:sp>
        <p:nvSpPr>
          <p:cNvPr id="23" name="Text 21"/>
          <p:cNvSpPr/>
          <p:nvPr/>
        </p:nvSpPr>
        <p:spPr>
          <a:xfrm>
            <a:off x="411480" y="3785616"/>
            <a:ext cx="3840480" cy="201168"/>
          </a:xfrm>
          <a:prstGeom prst="rect">
            <a:avLst/>
          </a:prstGeom>
          <a:noFill/>
          <a:ln/>
        </p:spPr>
        <p:txBody>
          <a:bodyPr wrap="square" rtlCol="0" anchor="ctr"/>
          <a:lstStyle/>
          <a:p>
            <a:pPr indent="0" marL="0">
              <a:buNone/>
            </a:pPr>
            <a:r>
              <a:rPr lang="en-US" sz="800" b="1" spc="300" kern="0" dirty="0">
                <a:solidFill>
                  <a:srgbClr val="0D9488"/>
                </a:solidFill>
                <a:latin typeface="Calibri" pitchFamily="34" charset="0"/>
                <a:ea typeface="Calibri" pitchFamily="34" charset="-122"/>
                <a:cs typeface="Calibri" pitchFamily="34" charset="-120"/>
              </a:rPr>
              <a:t>PARTNERSHIPS</a:t>
            </a:r>
            <a:endParaRPr lang="en-US" sz="800" dirty="0"/>
          </a:p>
        </p:txBody>
      </p:sp>
      <p:sp>
        <p:nvSpPr>
          <p:cNvPr id="24" name="Shape 22"/>
          <p:cNvSpPr/>
          <p:nvPr/>
        </p:nvSpPr>
        <p:spPr>
          <a:xfrm>
            <a:off x="411480" y="4041648"/>
            <a:ext cx="128016" cy="128016"/>
          </a:xfrm>
          <a:prstGeom prst="rect">
            <a:avLst/>
          </a:prstGeom>
          <a:solidFill>
            <a:srgbClr val="FFFFFF"/>
          </a:solidFill>
          <a:ln w="12700">
            <a:solidFill>
              <a:srgbClr val="0D9488"/>
            </a:solidFill>
            <a:prstDash val="solid"/>
          </a:ln>
        </p:spPr>
      </p:sp>
      <p:sp>
        <p:nvSpPr>
          <p:cNvPr id="25" name="Text 23"/>
          <p:cNvSpPr/>
          <p:nvPr/>
        </p:nvSpPr>
        <p:spPr>
          <a:xfrm>
            <a:off x="612648" y="4014216"/>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Convert 4 employer LOIs to contracts</a:t>
            </a:r>
            <a:endParaRPr lang="en-US" sz="900" dirty="0"/>
          </a:p>
        </p:txBody>
      </p:sp>
      <p:sp>
        <p:nvSpPr>
          <p:cNvPr id="26" name="Shape 24"/>
          <p:cNvSpPr/>
          <p:nvPr/>
        </p:nvSpPr>
        <p:spPr>
          <a:xfrm>
            <a:off x="411480" y="4279392"/>
            <a:ext cx="128016" cy="128016"/>
          </a:xfrm>
          <a:prstGeom prst="rect">
            <a:avLst/>
          </a:prstGeom>
          <a:solidFill>
            <a:srgbClr val="FFFFFF"/>
          </a:solidFill>
          <a:ln w="12700">
            <a:solidFill>
              <a:srgbClr val="0D9488"/>
            </a:solidFill>
            <a:prstDash val="solid"/>
          </a:ln>
        </p:spPr>
      </p:sp>
      <p:sp>
        <p:nvSpPr>
          <p:cNvPr id="27" name="Text 25"/>
          <p:cNvSpPr/>
          <p:nvPr/>
        </p:nvSpPr>
        <p:spPr>
          <a:xfrm>
            <a:off x="612648" y="4251960"/>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Identify 3 City Zero school principals</a:t>
            </a:r>
            <a:endParaRPr lang="en-US" sz="900" dirty="0"/>
          </a:p>
        </p:txBody>
      </p:sp>
      <p:sp>
        <p:nvSpPr>
          <p:cNvPr id="28" name="Shape 26"/>
          <p:cNvSpPr/>
          <p:nvPr/>
        </p:nvSpPr>
        <p:spPr>
          <a:xfrm>
            <a:off x="411480" y="4517136"/>
            <a:ext cx="128016" cy="128016"/>
          </a:xfrm>
          <a:prstGeom prst="rect">
            <a:avLst/>
          </a:prstGeom>
          <a:solidFill>
            <a:srgbClr val="FFFFFF"/>
          </a:solidFill>
          <a:ln w="12700">
            <a:solidFill>
              <a:srgbClr val="0D9488"/>
            </a:solidFill>
            <a:prstDash val="solid"/>
          </a:ln>
        </p:spPr>
      </p:sp>
      <p:sp>
        <p:nvSpPr>
          <p:cNvPr id="29" name="Text 27"/>
          <p:cNvSpPr/>
          <p:nvPr/>
        </p:nvSpPr>
        <p:spPr>
          <a:xfrm>
            <a:off x="612648" y="4489704"/>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Open Banking sandbox (TrueLayer free tier)</a:t>
            </a:r>
            <a:endParaRPr lang="en-US" sz="900" dirty="0"/>
          </a:p>
        </p:txBody>
      </p:sp>
      <p:sp>
        <p:nvSpPr>
          <p:cNvPr id="30" name="Shape 28"/>
          <p:cNvSpPr/>
          <p:nvPr/>
        </p:nvSpPr>
        <p:spPr>
          <a:xfrm>
            <a:off x="411480" y="4754880"/>
            <a:ext cx="128016" cy="128016"/>
          </a:xfrm>
          <a:prstGeom prst="rect">
            <a:avLst/>
          </a:prstGeom>
          <a:solidFill>
            <a:srgbClr val="FFFFFF"/>
          </a:solidFill>
          <a:ln w="12700">
            <a:solidFill>
              <a:srgbClr val="0D9488"/>
            </a:solidFill>
            <a:prstDash val="solid"/>
          </a:ln>
        </p:spPr>
      </p:sp>
      <p:sp>
        <p:nvSpPr>
          <p:cNvPr id="31" name="Text 29"/>
          <p:cNvSpPr/>
          <p:nvPr/>
        </p:nvSpPr>
        <p:spPr>
          <a:xfrm>
            <a:off x="612648" y="4727448"/>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AWS Activate startup credit application</a:t>
            </a:r>
            <a:endParaRPr lang="en-US" sz="900" dirty="0"/>
          </a:p>
        </p:txBody>
      </p:sp>
      <p:sp>
        <p:nvSpPr>
          <p:cNvPr id="32" name="Text 30"/>
          <p:cNvSpPr/>
          <p:nvPr/>
        </p:nvSpPr>
        <p:spPr>
          <a:xfrm>
            <a:off x="4709160" y="1188720"/>
            <a:ext cx="3840480" cy="201168"/>
          </a:xfrm>
          <a:prstGeom prst="rect">
            <a:avLst/>
          </a:prstGeom>
          <a:noFill/>
          <a:ln/>
        </p:spPr>
        <p:txBody>
          <a:bodyPr wrap="square" rtlCol="0" anchor="ctr"/>
          <a:lstStyle/>
          <a:p>
            <a:pPr indent="0" marL="0">
              <a:buNone/>
            </a:pPr>
            <a:r>
              <a:rPr lang="en-US" sz="800" b="1" spc="300" kern="0" dirty="0">
                <a:solidFill>
                  <a:srgbClr val="D97706"/>
                </a:solidFill>
                <a:latin typeface="Calibri" pitchFamily="34" charset="0"/>
                <a:ea typeface="Calibri" pitchFamily="34" charset="-122"/>
                <a:cs typeface="Calibri" pitchFamily="34" charset="-120"/>
              </a:rPr>
              <a:t>ENGINEERING KICKOFF</a:t>
            </a:r>
            <a:endParaRPr lang="en-US" sz="800" dirty="0"/>
          </a:p>
        </p:txBody>
      </p:sp>
      <p:sp>
        <p:nvSpPr>
          <p:cNvPr id="33" name="Shape 31"/>
          <p:cNvSpPr/>
          <p:nvPr/>
        </p:nvSpPr>
        <p:spPr>
          <a:xfrm>
            <a:off x="4709160" y="1444752"/>
            <a:ext cx="128016" cy="128016"/>
          </a:xfrm>
          <a:prstGeom prst="rect">
            <a:avLst/>
          </a:prstGeom>
          <a:solidFill>
            <a:srgbClr val="FFFFFF"/>
          </a:solidFill>
          <a:ln w="12700">
            <a:solidFill>
              <a:srgbClr val="D97706"/>
            </a:solidFill>
            <a:prstDash val="solid"/>
          </a:ln>
        </p:spPr>
      </p:sp>
      <p:sp>
        <p:nvSpPr>
          <p:cNvPr id="34" name="Text 32"/>
          <p:cNvSpPr/>
          <p:nvPr/>
        </p:nvSpPr>
        <p:spPr>
          <a:xfrm>
            <a:off x="4910328" y="1417320"/>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Confirm tech stack (React Native + Node.js)</a:t>
            </a:r>
            <a:endParaRPr lang="en-US" sz="900" dirty="0"/>
          </a:p>
        </p:txBody>
      </p:sp>
      <p:sp>
        <p:nvSpPr>
          <p:cNvPr id="35" name="Shape 33"/>
          <p:cNvSpPr/>
          <p:nvPr/>
        </p:nvSpPr>
        <p:spPr>
          <a:xfrm>
            <a:off x="4709160" y="1682496"/>
            <a:ext cx="128016" cy="128016"/>
          </a:xfrm>
          <a:prstGeom prst="rect">
            <a:avLst/>
          </a:prstGeom>
          <a:solidFill>
            <a:srgbClr val="FFFFFF"/>
          </a:solidFill>
          <a:ln w="12700">
            <a:solidFill>
              <a:srgbClr val="D97706"/>
            </a:solidFill>
            <a:prstDash val="solid"/>
          </a:ln>
        </p:spPr>
      </p:sp>
      <p:sp>
        <p:nvSpPr>
          <p:cNvPr id="36" name="Text 34"/>
          <p:cNvSpPr/>
          <p:nvPr/>
        </p:nvSpPr>
        <p:spPr>
          <a:xfrm>
            <a:off x="4910328" y="1655064"/>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Set up monorepo (GitHub + linear.app)</a:t>
            </a:r>
            <a:endParaRPr lang="en-US" sz="900" dirty="0"/>
          </a:p>
        </p:txBody>
      </p:sp>
      <p:sp>
        <p:nvSpPr>
          <p:cNvPr id="37" name="Shape 35"/>
          <p:cNvSpPr/>
          <p:nvPr/>
        </p:nvSpPr>
        <p:spPr>
          <a:xfrm>
            <a:off x="4709160" y="1920240"/>
            <a:ext cx="128016" cy="128016"/>
          </a:xfrm>
          <a:prstGeom prst="rect">
            <a:avLst/>
          </a:prstGeom>
          <a:solidFill>
            <a:srgbClr val="FFFFFF"/>
          </a:solidFill>
          <a:ln w="12700">
            <a:solidFill>
              <a:srgbClr val="D97706"/>
            </a:solidFill>
            <a:prstDash val="solid"/>
          </a:ln>
        </p:spPr>
      </p:sp>
      <p:sp>
        <p:nvSpPr>
          <p:cNvPr id="38" name="Text 36"/>
          <p:cNvSpPr/>
          <p:nvPr/>
        </p:nvSpPr>
        <p:spPr>
          <a:xfrm>
            <a:off x="4910328" y="1892808"/>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Deploy staging environment (AWS eu-west-2)</a:t>
            </a:r>
            <a:endParaRPr lang="en-US" sz="900" dirty="0"/>
          </a:p>
        </p:txBody>
      </p:sp>
      <p:sp>
        <p:nvSpPr>
          <p:cNvPr id="39" name="Shape 37"/>
          <p:cNvSpPr/>
          <p:nvPr/>
        </p:nvSpPr>
        <p:spPr>
          <a:xfrm>
            <a:off x="4709160" y="2157984"/>
            <a:ext cx="128016" cy="128016"/>
          </a:xfrm>
          <a:prstGeom prst="rect">
            <a:avLst/>
          </a:prstGeom>
          <a:solidFill>
            <a:srgbClr val="FFFFFF"/>
          </a:solidFill>
          <a:ln w="12700">
            <a:solidFill>
              <a:srgbClr val="D97706"/>
            </a:solidFill>
            <a:prstDash val="solid"/>
          </a:ln>
        </p:spPr>
      </p:sp>
      <p:sp>
        <p:nvSpPr>
          <p:cNvPr id="40" name="Text 38"/>
          <p:cNvSpPr/>
          <p:nvPr/>
        </p:nvSpPr>
        <p:spPr>
          <a:xfrm>
            <a:off x="4910328" y="2130552"/>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First sprint planning in Linear</a:t>
            </a:r>
            <a:endParaRPr lang="en-US" sz="900" dirty="0"/>
          </a:p>
        </p:txBody>
      </p:sp>
      <p:sp>
        <p:nvSpPr>
          <p:cNvPr id="41" name="Text 39"/>
          <p:cNvSpPr/>
          <p:nvPr/>
        </p:nvSpPr>
        <p:spPr>
          <a:xfrm>
            <a:off x="4709160" y="2487168"/>
            <a:ext cx="3840480" cy="201168"/>
          </a:xfrm>
          <a:prstGeom prst="rect">
            <a:avLst/>
          </a:prstGeom>
          <a:noFill/>
          <a:ln/>
        </p:spPr>
        <p:txBody>
          <a:bodyPr wrap="square" rtlCol="0" anchor="ctr"/>
          <a:lstStyle/>
          <a:p>
            <a:pPr indent="0" marL="0">
              <a:buNone/>
            </a:pPr>
            <a:r>
              <a:rPr lang="en-US" sz="800" b="1" spc="300" kern="0" dirty="0">
                <a:solidFill>
                  <a:srgbClr val="16A34A"/>
                </a:solidFill>
                <a:latin typeface="Calibri" pitchFamily="34" charset="0"/>
                <a:ea typeface="Calibri" pitchFamily="34" charset="-122"/>
                <a:cs typeface="Calibri" pitchFamily="34" charset="-120"/>
              </a:rPr>
              <a:t>BRAND &amp; GTM</a:t>
            </a:r>
            <a:endParaRPr lang="en-US" sz="800" dirty="0"/>
          </a:p>
        </p:txBody>
      </p:sp>
      <p:sp>
        <p:nvSpPr>
          <p:cNvPr id="42" name="Shape 40"/>
          <p:cNvSpPr/>
          <p:nvPr/>
        </p:nvSpPr>
        <p:spPr>
          <a:xfrm>
            <a:off x="4709160" y="2743200"/>
            <a:ext cx="128016" cy="128016"/>
          </a:xfrm>
          <a:prstGeom prst="rect">
            <a:avLst/>
          </a:prstGeom>
          <a:solidFill>
            <a:srgbClr val="FFFFFF"/>
          </a:solidFill>
          <a:ln w="12700">
            <a:solidFill>
              <a:srgbClr val="16A34A"/>
            </a:solidFill>
            <a:prstDash val="solid"/>
          </a:ln>
        </p:spPr>
      </p:sp>
      <p:sp>
        <p:nvSpPr>
          <p:cNvPr id="43" name="Text 41"/>
          <p:cNvSpPr/>
          <p:nvPr/>
        </p:nvSpPr>
        <p:spPr>
          <a:xfrm>
            <a:off x="4910328" y="2715768"/>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Register finflow.io domain + socials</a:t>
            </a:r>
            <a:endParaRPr lang="en-US" sz="900" dirty="0"/>
          </a:p>
        </p:txBody>
      </p:sp>
      <p:sp>
        <p:nvSpPr>
          <p:cNvPr id="44" name="Shape 42"/>
          <p:cNvSpPr/>
          <p:nvPr/>
        </p:nvSpPr>
        <p:spPr>
          <a:xfrm>
            <a:off x="4709160" y="2980944"/>
            <a:ext cx="128016" cy="128016"/>
          </a:xfrm>
          <a:prstGeom prst="rect">
            <a:avLst/>
          </a:prstGeom>
          <a:solidFill>
            <a:srgbClr val="FFFFFF"/>
          </a:solidFill>
          <a:ln w="12700">
            <a:solidFill>
              <a:srgbClr val="16A34A"/>
            </a:solidFill>
            <a:prstDash val="solid"/>
          </a:ln>
        </p:spPr>
      </p:sp>
      <p:sp>
        <p:nvSpPr>
          <p:cNvPr id="45" name="Text 43"/>
          <p:cNvSpPr/>
          <p:nvPr/>
        </p:nvSpPr>
        <p:spPr>
          <a:xfrm>
            <a:off x="4910328" y="2953512"/>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Build 3-page landing page in Webflow</a:t>
            </a:r>
            <a:endParaRPr lang="en-US" sz="900" dirty="0"/>
          </a:p>
        </p:txBody>
      </p:sp>
      <p:sp>
        <p:nvSpPr>
          <p:cNvPr id="46" name="Shape 44"/>
          <p:cNvSpPr/>
          <p:nvPr/>
        </p:nvSpPr>
        <p:spPr>
          <a:xfrm>
            <a:off x="4709160" y="3218688"/>
            <a:ext cx="128016" cy="128016"/>
          </a:xfrm>
          <a:prstGeom prst="rect">
            <a:avLst/>
          </a:prstGeom>
          <a:solidFill>
            <a:srgbClr val="FFFFFF"/>
          </a:solidFill>
          <a:ln w="12700">
            <a:solidFill>
              <a:srgbClr val="16A34A"/>
            </a:solidFill>
            <a:prstDash val="solid"/>
          </a:ln>
        </p:spPr>
      </p:sp>
      <p:sp>
        <p:nvSpPr>
          <p:cNvPr id="47" name="Text 45"/>
          <p:cNvSpPr/>
          <p:nvPr/>
        </p:nvSpPr>
        <p:spPr>
          <a:xfrm>
            <a:off x="4910328" y="3191256"/>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Set up PostHog analytics (self-hosted)</a:t>
            </a:r>
            <a:endParaRPr lang="en-US" sz="900" dirty="0"/>
          </a:p>
        </p:txBody>
      </p:sp>
      <p:sp>
        <p:nvSpPr>
          <p:cNvPr id="48" name="Shape 46"/>
          <p:cNvSpPr/>
          <p:nvPr/>
        </p:nvSpPr>
        <p:spPr>
          <a:xfrm>
            <a:off x="4709160" y="3456432"/>
            <a:ext cx="128016" cy="128016"/>
          </a:xfrm>
          <a:prstGeom prst="rect">
            <a:avLst/>
          </a:prstGeom>
          <a:solidFill>
            <a:srgbClr val="FFFFFF"/>
          </a:solidFill>
          <a:ln w="12700">
            <a:solidFill>
              <a:srgbClr val="16A34A"/>
            </a:solidFill>
            <a:prstDash val="solid"/>
          </a:ln>
        </p:spPr>
      </p:sp>
      <p:sp>
        <p:nvSpPr>
          <p:cNvPr id="49" name="Text 47"/>
          <p:cNvSpPr/>
          <p:nvPr/>
        </p:nvSpPr>
        <p:spPr>
          <a:xfrm>
            <a:off x="4910328" y="3429000"/>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Draft 5-email waitlist nurture sequence</a:t>
            </a:r>
            <a:endParaRPr lang="en-US" sz="900" dirty="0"/>
          </a:p>
        </p:txBody>
      </p:sp>
      <p:sp>
        <p:nvSpPr>
          <p:cNvPr id="50" name="Text 48"/>
          <p:cNvSpPr/>
          <p:nvPr/>
        </p:nvSpPr>
        <p:spPr>
          <a:xfrm>
            <a:off x="4709160" y="3785616"/>
            <a:ext cx="3840480" cy="201168"/>
          </a:xfrm>
          <a:prstGeom prst="rect">
            <a:avLst/>
          </a:prstGeom>
          <a:noFill/>
          <a:ln/>
        </p:spPr>
        <p:txBody>
          <a:bodyPr wrap="square" rtlCol="0" anchor="ctr"/>
          <a:lstStyle/>
          <a:p>
            <a:pPr indent="0" marL="0">
              <a:buNone/>
            </a:pPr>
            <a:r>
              <a:rPr lang="en-US" sz="800" b="1" spc="300" kern="0" dirty="0">
                <a:solidFill>
                  <a:srgbClr val="E11D48"/>
                </a:solidFill>
                <a:latin typeface="Calibri" pitchFamily="34" charset="0"/>
                <a:ea typeface="Calibri" pitchFamily="34" charset="-122"/>
                <a:cs typeface="Calibri" pitchFamily="34" charset="-120"/>
              </a:rPr>
              <a:t>FUNDING</a:t>
            </a:r>
            <a:endParaRPr lang="en-US" sz="800" dirty="0"/>
          </a:p>
        </p:txBody>
      </p:sp>
      <p:sp>
        <p:nvSpPr>
          <p:cNvPr id="51" name="Shape 49"/>
          <p:cNvSpPr/>
          <p:nvPr/>
        </p:nvSpPr>
        <p:spPr>
          <a:xfrm>
            <a:off x="4709160" y="4041648"/>
            <a:ext cx="128016" cy="128016"/>
          </a:xfrm>
          <a:prstGeom prst="rect">
            <a:avLst/>
          </a:prstGeom>
          <a:solidFill>
            <a:srgbClr val="FFFFFF"/>
          </a:solidFill>
          <a:ln w="12700">
            <a:solidFill>
              <a:srgbClr val="E11D48"/>
            </a:solidFill>
            <a:prstDash val="solid"/>
          </a:ln>
        </p:spPr>
      </p:sp>
      <p:sp>
        <p:nvSpPr>
          <p:cNvPr id="52" name="Text 50"/>
          <p:cNvSpPr/>
          <p:nvPr/>
        </p:nvSpPr>
        <p:spPr>
          <a:xfrm>
            <a:off x="4910328" y="4014216"/>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Open SEIS/EIS advance assurance (HMRC)</a:t>
            </a:r>
            <a:endParaRPr lang="en-US" sz="900" dirty="0"/>
          </a:p>
        </p:txBody>
      </p:sp>
      <p:sp>
        <p:nvSpPr>
          <p:cNvPr id="53" name="Shape 51"/>
          <p:cNvSpPr/>
          <p:nvPr/>
        </p:nvSpPr>
        <p:spPr>
          <a:xfrm>
            <a:off x="4709160" y="4279392"/>
            <a:ext cx="128016" cy="128016"/>
          </a:xfrm>
          <a:prstGeom prst="rect">
            <a:avLst/>
          </a:prstGeom>
          <a:solidFill>
            <a:srgbClr val="FFFFFF"/>
          </a:solidFill>
          <a:ln w="12700">
            <a:solidFill>
              <a:srgbClr val="E11D48"/>
            </a:solidFill>
            <a:prstDash val="solid"/>
          </a:ln>
        </p:spPr>
      </p:sp>
      <p:sp>
        <p:nvSpPr>
          <p:cNvPr id="54" name="Text 52"/>
          <p:cNvSpPr/>
          <p:nvPr/>
        </p:nvSpPr>
        <p:spPr>
          <a:xfrm>
            <a:off x="4910328" y="4251960"/>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Draft SAFE note template (Clerky/Seedlegals)</a:t>
            </a:r>
            <a:endParaRPr lang="en-US" sz="900" dirty="0"/>
          </a:p>
        </p:txBody>
      </p:sp>
      <p:sp>
        <p:nvSpPr>
          <p:cNvPr id="55" name="Shape 53"/>
          <p:cNvSpPr/>
          <p:nvPr/>
        </p:nvSpPr>
        <p:spPr>
          <a:xfrm>
            <a:off x="4709160" y="4517136"/>
            <a:ext cx="128016" cy="128016"/>
          </a:xfrm>
          <a:prstGeom prst="rect">
            <a:avLst/>
          </a:prstGeom>
          <a:solidFill>
            <a:srgbClr val="FFFFFF"/>
          </a:solidFill>
          <a:ln w="12700">
            <a:solidFill>
              <a:srgbClr val="E11D48"/>
            </a:solidFill>
            <a:prstDash val="solid"/>
          </a:ln>
        </p:spPr>
      </p:sp>
      <p:sp>
        <p:nvSpPr>
          <p:cNvPr id="56" name="Text 54"/>
          <p:cNvSpPr/>
          <p:nvPr/>
        </p:nvSpPr>
        <p:spPr>
          <a:xfrm>
            <a:off x="4910328" y="4489704"/>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Build cap table in Pulley</a:t>
            </a:r>
            <a:endParaRPr lang="en-US" sz="900" dirty="0"/>
          </a:p>
        </p:txBody>
      </p:sp>
      <p:sp>
        <p:nvSpPr>
          <p:cNvPr id="57" name="Shape 55"/>
          <p:cNvSpPr/>
          <p:nvPr/>
        </p:nvSpPr>
        <p:spPr>
          <a:xfrm>
            <a:off x="4709160" y="4754880"/>
            <a:ext cx="128016" cy="128016"/>
          </a:xfrm>
          <a:prstGeom prst="rect">
            <a:avLst/>
          </a:prstGeom>
          <a:solidFill>
            <a:srgbClr val="FFFFFF"/>
          </a:solidFill>
          <a:ln w="12700">
            <a:solidFill>
              <a:srgbClr val="E11D48"/>
            </a:solidFill>
            <a:prstDash val="solid"/>
          </a:ln>
        </p:spPr>
      </p:sp>
      <p:sp>
        <p:nvSpPr>
          <p:cNvPr id="58" name="Text 56"/>
          <p:cNvSpPr/>
          <p:nvPr/>
        </p:nvSpPr>
        <p:spPr>
          <a:xfrm>
            <a:off x="4910328" y="4727448"/>
            <a:ext cx="365760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First investor update template in Notion</a:t>
            </a:r>
            <a:endParaRPr lang="en-US" sz="900" dirty="0"/>
          </a:p>
        </p:txBody>
      </p:sp>
      <p:sp>
        <p:nvSpPr>
          <p:cNvPr id="59" name="Shape 57"/>
          <p:cNvSpPr/>
          <p:nvPr/>
        </p:nvSpPr>
        <p:spPr>
          <a:xfrm>
            <a:off x="4572000" y="1188720"/>
            <a:ext cx="0" cy="3566160"/>
          </a:xfrm>
          <a:prstGeom prst="line">
            <a:avLst/>
          </a:prstGeom>
          <a:noFill/>
          <a:ln w="12700">
            <a:solidFill>
              <a:srgbClr val="E2E8F0"/>
            </a:solidFill>
            <a:prstDash val="solid"/>
          </a:ln>
        </p:spPr>
      </p:sp>
      <p:sp>
        <p:nvSpPr>
          <p:cNvPr id="60" name="Text 58"/>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§05 · PRODUCT DEVELOPMENT TOOLING</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Product Dev Stack: Every Tool Has One Job</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384048" y="1170432"/>
            <a:ext cx="2743200" cy="384048"/>
          </a:xfrm>
          <a:prstGeom prst="rect">
            <a:avLst/>
          </a:prstGeom>
          <a:solidFill>
            <a:srgbClr val="7C3AED"/>
          </a:solidFill>
          <a:ln w="12700">
            <a:solidFill>
              <a:srgbClr val="7C3AED"/>
            </a:solidFill>
            <a:prstDash val="solid"/>
          </a:ln>
        </p:spPr>
      </p:sp>
      <p:sp>
        <p:nvSpPr>
          <p:cNvPr id="6" name="Shape 4"/>
          <p:cNvSpPr/>
          <p:nvPr/>
        </p:nvSpPr>
        <p:spPr>
          <a:xfrm>
            <a:off x="475488" y="1225296"/>
            <a:ext cx="310896" cy="310896"/>
          </a:xfrm>
          <a:prstGeom prst="ellipse">
            <a:avLst/>
          </a:prstGeom>
          <a:solidFill>
            <a:srgbClr val="7C3AED"/>
          </a:solidFill>
          <a:ln w="12700">
            <a:solidFill>
              <a:srgbClr val="7C3AED"/>
            </a:solidFill>
            <a:prstDash val="solid"/>
          </a:ln>
        </p:spPr>
      </p:sp>
      <p:pic>
        <p:nvPicPr>
          <p:cNvPr id="7" name="Image 0" descr="preencoded.png">    </p:cNvPr>
          <p:cNvPicPr>
            <a:picLocks noChangeAspect="1"/>
          </p:cNvPicPr>
          <p:nvPr/>
        </p:nvPicPr>
        <p:blipFill>
          <a:blip r:embed="rId1"/>
          <a:stretch>
            <a:fillRect/>
          </a:stretch>
        </p:blipFill>
        <p:spPr>
          <a:xfrm>
            <a:off x="514350" y="1264158"/>
            <a:ext cx="233172" cy="233172"/>
          </a:xfrm>
          <a:prstGeom prst="rect">
            <a:avLst/>
          </a:prstGeom>
        </p:spPr>
      </p:pic>
      <p:sp>
        <p:nvSpPr>
          <p:cNvPr id="8" name="Text 5"/>
          <p:cNvSpPr/>
          <p:nvPr/>
        </p:nvSpPr>
        <p:spPr>
          <a:xfrm>
            <a:off x="877824" y="1243584"/>
            <a:ext cx="2103120" cy="237744"/>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ENGINEERING</a:t>
            </a:r>
            <a:endParaRPr lang="en-US" sz="1000" dirty="0"/>
          </a:p>
        </p:txBody>
      </p:sp>
      <p:sp>
        <p:nvSpPr>
          <p:cNvPr id="9" name="Shape 6"/>
          <p:cNvSpPr/>
          <p:nvPr/>
        </p:nvSpPr>
        <p:spPr>
          <a:xfrm>
            <a:off x="384048" y="1609344"/>
            <a:ext cx="2743200" cy="777240"/>
          </a:xfrm>
          <a:prstGeom prst="rect">
            <a:avLst/>
          </a:prstGeom>
          <a:solidFill>
            <a:srgbClr val="FFFFFF"/>
          </a:solidFill>
          <a:ln w="5080">
            <a:solidFill>
              <a:srgbClr val="E2E8F0"/>
            </a:solidFill>
            <a:prstDash val="solid"/>
          </a:ln>
        </p:spPr>
      </p:sp>
      <p:sp>
        <p:nvSpPr>
          <p:cNvPr id="10" name="Text 7"/>
          <p:cNvSpPr/>
          <p:nvPr/>
        </p:nvSpPr>
        <p:spPr>
          <a:xfrm>
            <a:off x="493776" y="1682496"/>
            <a:ext cx="2514600" cy="228600"/>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Linear</a:t>
            </a:r>
            <a:endParaRPr lang="en-US" sz="1000" dirty="0"/>
          </a:p>
        </p:txBody>
      </p:sp>
      <p:sp>
        <p:nvSpPr>
          <p:cNvPr id="11" name="Text 8"/>
          <p:cNvSpPr/>
          <p:nvPr/>
        </p:nvSpPr>
        <p:spPr>
          <a:xfrm>
            <a:off x="493776" y="1883664"/>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Sprint planning, issue tracking, roadmap</a:t>
            </a:r>
            <a:endParaRPr lang="en-US" sz="850" dirty="0"/>
          </a:p>
        </p:txBody>
      </p:sp>
      <p:sp>
        <p:nvSpPr>
          <p:cNvPr id="12" name="Text 9"/>
          <p:cNvSpPr/>
          <p:nvPr/>
        </p:nvSpPr>
        <p:spPr>
          <a:xfrm>
            <a:off x="493776" y="2066544"/>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Best-in-class for fast-moving startups. GitHub sync. Replaces Jira complexity.</a:t>
            </a:r>
            <a:endParaRPr lang="en-US" sz="800" dirty="0"/>
          </a:p>
        </p:txBody>
      </p:sp>
      <p:sp>
        <p:nvSpPr>
          <p:cNvPr id="13" name="Shape 10"/>
          <p:cNvSpPr/>
          <p:nvPr/>
        </p:nvSpPr>
        <p:spPr>
          <a:xfrm>
            <a:off x="384048" y="2450592"/>
            <a:ext cx="2743200" cy="777240"/>
          </a:xfrm>
          <a:prstGeom prst="rect">
            <a:avLst/>
          </a:prstGeom>
          <a:solidFill>
            <a:srgbClr val="F8FAFC"/>
          </a:solidFill>
          <a:ln w="5080">
            <a:solidFill>
              <a:srgbClr val="E2E8F0"/>
            </a:solidFill>
            <a:prstDash val="solid"/>
          </a:ln>
        </p:spPr>
      </p:sp>
      <p:sp>
        <p:nvSpPr>
          <p:cNvPr id="14" name="Text 11"/>
          <p:cNvSpPr/>
          <p:nvPr/>
        </p:nvSpPr>
        <p:spPr>
          <a:xfrm>
            <a:off x="493776" y="2523744"/>
            <a:ext cx="2514600" cy="228600"/>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GitHub</a:t>
            </a:r>
            <a:endParaRPr lang="en-US" sz="1000" dirty="0"/>
          </a:p>
        </p:txBody>
      </p:sp>
      <p:sp>
        <p:nvSpPr>
          <p:cNvPr id="15" name="Text 12"/>
          <p:cNvSpPr/>
          <p:nvPr/>
        </p:nvSpPr>
        <p:spPr>
          <a:xfrm>
            <a:off x="493776" y="2724912"/>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Version control, PRs, CI/CD</a:t>
            </a:r>
            <a:endParaRPr lang="en-US" sz="850" dirty="0"/>
          </a:p>
        </p:txBody>
      </p:sp>
      <p:sp>
        <p:nvSpPr>
          <p:cNvPr id="16" name="Text 13"/>
          <p:cNvSpPr/>
          <p:nvPr/>
        </p:nvSpPr>
        <p:spPr>
          <a:xfrm>
            <a:off x="493776" y="2907792"/>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Monorepo. Protected main branch. Auto-deploy on merge to staging.</a:t>
            </a:r>
            <a:endParaRPr lang="en-US" sz="800" dirty="0"/>
          </a:p>
        </p:txBody>
      </p:sp>
      <p:sp>
        <p:nvSpPr>
          <p:cNvPr id="17" name="Shape 14"/>
          <p:cNvSpPr/>
          <p:nvPr/>
        </p:nvSpPr>
        <p:spPr>
          <a:xfrm>
            <a:off x="384048" y="3291840"/>
            <a:ext cx="2743200" cy="777240"/>
          </a:xfrm>
          <a:prstGeom prst="rect">
            <a:avLst/>
          </a:prstGeom>
          <a:solidFill>
            <a:srgbClr val="FFFFFF"/>
          </a:solidFill>
          <a:ln w="5080">
            <a:solidFill>
              <a:srgbClr val="E2E8F0"/>
            </a:solidFill>
            <a:prstDash val="solid"/>
          </a:ln>
        </p:spPr>
      </p:sp>
      <p:sp>
        <p:nvSpPr>
          <p:cNvPr id="18" name="Text 15"/>
          <p:cNvSpPr/>
          <p:nvPr/>
        </p:nvSpPr>
        <p:spPr>
          <a:xfrm>
            <a:off x="493776" y="3364992"/>
            <a:ext cx="2514600" cy="228600"/>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Vercel / AWS ECS</a:t>
            </a:r>
            <a:endParaRPr lang="en-US" sz="1000" dirty="0"/>
          </a:p>
        </p:txBody>
      </p:sp>
      <p:sp>
        <p:nvSpPr>
          <p:cNvPr id="19" name="Text 16"/>
          <p:cNvSpPr/>
          <p:nvPr/>
        </p:nvSpPr>
        <p:spPr>
          <a:xfrm>
            <a:off x="493776" y="3566160"/>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Frontend deploy + backend containers</a:t>
            </a:r>
            <a:endParaRPr lang="en-US" sz="850" dirty="0"/>
          </a:p>
        </p:txBody>
      </p:sp>
      <p:sp>
        <p:nvSpPr>
          <p:cNvPr id="20" name="Text 17"/>
          <p:cNvSpPr/>
          <p:nvPr/>
        </p:nvSpPr>
        <p:spPr>
          <a:xfrm>
            <a:off x="493776" y="3749040"/>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Vercel for instant preview URLs. ECS for production backend in eu-west-2.</a:t>
            </a:r>
            <a:endParaRPr lang="en-US" sz="800" dirty="0"/>
          </a:p>
        </p:txBody>
      </p:sp>
      <p:sp>
        <p:nvSpPr>
          <p:cNvPr id="21" name="Shape 18"/>
          <p:cNvSpPr/>
          <p:nvPr/>
        </p:nvSpPr>
        <p:spPr>
          <a:xfrm>
            <a:off x="384048" y="4133088"/>
            <a:ext cx="2743200" cy="777240"/>
          </a:xfrm>
          <a:prstGeom prst="rect">
            <a:avLst/>
          </a:prstGeom>
          <a:solidFill>
            <a:srgbClr val="F8FAFC"/>
          </a:solidFill>
          <a:ln w="5080">
            <a:solidFill>
              <a:srgbClr val="E2E8F0"/>
            </a:solidFill>
            <a:prstDash val="solid"/>
          </a:ln>
        </p:spPr>
      </p:sp>
      <p:sp>
        <p:nvSpPr>
          <p:cNvPr id="22" name="Text 19"/>
          <p:cNvSpPr/>
          <p:nvPr/>
        </p:nvSpPr>
        <p:spPr>
          <a:xfrm>
            <a:off x="493776" y="4206240"/>
            <a:ext cx="2514600" cy="228600"/>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PostHog (self-hosted)</a:t>
            </a:r>
            <a:endParaRPr lang="en-US" sz="1000" dirty="0"/>
          </a:p>
        </p:txBody>
      </p:sp>
      <p:sp>
        <p:nvSpPr>
          <p:cNvPr id="23" name="Text 20"/>
          <p:cNvSpPr/>
          <p:nvPr/>
        </p:nvSpPr>
        <p:spPr>
          <a:xfrm>
            <a:off x="493776" y="4407408"/>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Product analytics + session replay</a:t>
            </a:r>
            <a:endParaRPr lang="en-US" sz="850" dirty="0"/>
          </a:p>
        </p:txBody>
      </p:sp>
      <p:sp>
        <p:nvSpPr>
          <p:cNvPr id="24" name="Text 21"/>
          <p:cNvSpPr/>
          <p:nvPr/>
        </p:nvSpPr>
        <p:spPr>
          <a:xfrm>
            <a:off x="493776" y="4590288"/>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EU data sovereignty. Replaces Mixpanel. GDPR compliant for financial behaviour data.</a:t>
            </a:r>
            <a:endParaRPr lang="en-US" sz="800" dirty="0"/>
          </a:p>
        </p:txBody>
      </p:sp>
      <p:sp>
        <p:nvSpPr>
          <p:cNvPr id="25" name="Shape 22"/>
          <p:cNvSpPr/>
          <p:nvPr/>
        </p:nvSpPr>
        <p:spPr>
          <a:xfrm>
            <a:off x="3328416" y="1170432"/>
            <a:ext cx="2743200" cy="384048"/>
          </a:xfrm>
          <a:prstGeom prst="rect">
            <a:avLst/>
          </a:prstGeom>
          <a:solidFill>
            <a:srgbClr val="0D9488"/>
          </a:solidFill>
          <a:ln w="12700">
            <a:solidFill>
              <a:srgbClr val="0D9488"/>
            </a:solidFill>
            <a:prstDash val="solid"/>
          </a:ln>
        </p:spPr>
      </p:sp>
      <p:sp>
        <p:nvSpPr>
          <p:cNvPr id="26" name="Shape 23"/>
          <p:cNvSpPr/>
          <p:nvPr/>
        </p:nvSpPr>
        <p:spPr>
          <a:xfrm>
            <a:off x="3419856" y="1225296"/>
            <a:ext cx="310896" cy="310896"/>
          </a:xfrm>
          <a:prstGeom prst="ellipse">
            <a:avLst/>
          </a:prstGeom>
          <a:solidFill>
            <a:srgbClr val="0D9488"/>
          </a:solidFill>
          <a:ln w="12700">
            <a:solidFill>
              <a:srgbClr val="0D9488"/>
            </a:solidFill>
            <a:prstDash val="solid"/>
          </a:ln>
        </p:spPr>
      </p:sp>
      <p:pic>
        <p:nvPicPr>
          <p:cNvPr id="27" name="Image 1" descr="preencoded.png">    </p:cNvPr>
          <p:cNvPicPr>
            <a:picLocks noChangeAspect="1"/>
          </p:cNvPicPr>
          <p:nvPr/>
        </p:nvPicPr>
        <p:blipFill>
          <a:blip r:embed="rId2"/>
          <a:stretch>
            <a:fillRect/>
          </a:stretch>
        </p:blipFill>
        <p:spPr>
          <a:xfrm>
            <a:off x="3458718" y="1264158"/>
            <a:ext cx="233172" cy="233172"/>
          </a:xfrm>
          <a:prstGeom prst="rect">
            <a:avLst/>
          </a:prstGeom>
        </p:spPr>
      </p:pic>
      <p:sp>
        <p:nvSpPr>
          <p:cNvPr id="28" name="Text 24"/>
          <p:cNvSpPr/>
          <p:nvPr/>
        </p:nvSpPr>
        <p:spPr>
          <a:xfrm>
            <a:off x="3822192" y="1243584"/>
            <a:ext cx="2103120" cy="237744"/>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PRODUCT &amp; DESIGN</a:t>
            </a:r>
            <a:endParaRPr lang="en-US" sz="1000" dirty="0"/>
          </a:p>
        </p:txBody>
      </p:sp>
      <p:sp>
        <p:nvSpPr>
          <p:cNvPr id="29" name="Shape 25"/>
          <p:cNvSpPr/>
          <p:nvPr/>
        </p:nvSpPr>
        <p:spPr>
          <a:xfrm>
            <a:off x="3328416" y="1609344"/>
            <a:ext cx="2743200" cy="777240"/>
          </a:xfrm>
          <a:prstGeom prst="rect">
            <a:avLst/>
          </a:prstGeom>
          <a:solidFill>
            <a:srgbClr val="FFFFFF"/>
          </a:solidFill>
          <a:ln w="5080">
            <a:solidFill>
              <a:srgbClr val="E2E8F0"/>
            </a:solidFill>
            <a:prstDash val="solid"/>
          </a:ln>
        </p:spPr>
      </p:sp>
      <p:sp>
        <p:nvSpPr>
          <p:cNvPr id="30" name="Text 26"/>
          <p:cNvSpPr/>
          <p:nvPr/>
        </p:nvSpPr>
        <p:spPr>
          <a:xfrm>
            <a:off x="3438144" y="1682496"/>
            <a:ext cx="2514600" cy="22860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Figma</a:t>
            </a:r>
            <a:endParaRPr lang="en-US" sz="1000" dirty="0"/>
          </a:p>
        </p:txBody>
      </p:sp>
      <p:sp>
        <p:nvSpPr>
          <p:cNvPr id="31" name="Text 27"/>
          <p:cNvSpPr/>
          <p:nvPr/>
        </p:nvSpPr>
        <p:spPr>
          <a:xfrm>
            <a:off x="3438144" y="1883664"/>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UI/UX design, prototyping, handoff</a:t>
            </a:r>
            <a:endParaRPr lang="en-US" sz="850" dirty="0"/>
          </a:p>
        </p:txBody>
      </p:sp>
      <p:sp>
        <p:nvSpPr>
          <p:cNvPr id="32" name="Text 28"/>
          <p:cNvSpPr/>
          <p:nvPr/>
        </p:nvSpPr>
        <p:spPr>
          <a:xfrm>
            <a:off x="3438144" y="2066544"/>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Shared component library. Designer → engineer handoff with no spec doc overhead.</a:t>
            </a:r>
            <a:endParaRPr lang="en-US" sz="800" dirty="0"/>
          </a:p>
        </p:txBody>
      </p:sp>
      <p:sp>
        <p:nvSpPr>
          <p:cNvPr id="33" name="Shape 29"/>
          <p:cNvSpPr/>
          <p:nvPr/>
        </p:nvSpPr>
        <p:spPr>
          <a:xfrm>
            <a:off x="3328416" y="2450592"/>
            <a:ext cx="2743200" cy="777240"/>
          </a:xfrm>
          <a:prstGeom prst="rect">
            <a:avLst/>
          </a:prstGeom>
          <a:solidFill>
            <a:srgbClr val="F8FAFC"/>
          </a:solidFill>
          <a:ln w="5080">
            <a:solidFill>
              <a:srgbClr val="E2E8F0"/>
            </a:solidFill>
            <a:prstDash val="solid"/>
          </a:ln>
        </p:spPr>
      </p:sp>
      <p:sp>
        <p:nvSpPr>
          <p:cNvPr id="34" name="Text 30"/>
          <p:cNvSpPr/>
          <p:nvPr/>
        </p:nvSpPr>
        <p:spPr>
          <a:xfrm>
            <a:off x="3438144" y="2523744"/>
            <a:ext cx="2514600" cy="22860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Notion</a:t>
            </a:r>
            <a:endParaRPr lang="en-US" sz="1000" dirty="0"/>
          </a:p>
        </p:txBody>
      </p:sp>
      <p:sp>
        <p:nvSpPr>
          <p:cNvPr id="35" name="Text 31"/>
          <p:cNvSpPr/>
          <p:nvPr/>
        </p:nvSpPr>
        <p:spPr>
          <a:xfrm>
            <a:off x="3438144" y="2724912"/>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Product spec, roadmap docs, OKRs</a:t>
            </a:r>
            <a:endParaRPr lang="en-US" sz="850" dirty="0"/>
          </a:p>
        </p:txBody>
      </p:sp>
      <p:sp>
        <p:nvSpPr>
          <p:cNvPr id="36" name="Text 32"/>
          <p:cNvSpPr/>
          <p:nvPr/>
        </p:nvSpPr>
        <p:spPr>
          <a:xfrm>
            <a:off x="3438144" y="2907792"/>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Single source of truth for feature specs, research findings, and investor updates.</a:t>
            </a:r>
            <a:endParaRPr lang="en-US" sz="800" dirty="0"/>
          </a:p>
        </p:txBody>
      </p:sp>
      <p:sp>
        <p:nvSpPr>
          <p:cNvPr id="37" name="Shape 33"/>
          <p:cNvSpPr/>
          <p:nvPr/>
        </p:nvSpPr>
        <p:spPr>
          <a:xfrm>
            <a:off x="3328416" y="3291840"/>
            <a:ext cx="2743200" cy="777240"/>
          </a:xfrm>
          <a:prstGeom prst="rect">
            <a:avLst/>
          </a:prstGeom>
          <a:solidFill>
            <a:srgbClr val="FFFFFF"/>
          </a:solidFill>
          <a:ln w="5080">
            <a:solidFill>
              <a:srgbClr val="E2E8F0"/>
            </a:solidFill>
            <a:prstDash val="solid"/>
          </a:ln>
        </p:spPr>
      </p:sp>
      <p:sp>
        <p:nvSpPr>
          <p:cNvPr id="38" name="Text 34"/>
          <p:cNvSpPr/>
          <p:nvPr/>
        </p:nvSpPr>
        <p:spPr>
          <a:xfrm>
            <a:off x="3438144" y="3364992"/>
            <a:ext cx="2514600" cy="22860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Maze / UserTesting</a:t>
            </a:r>
            <a:endParaRPr lang="en-US" sz="1000" dirty="0"/>
          </a:p>
        </p:txBody>
      </p:sp>
      <p:sp>
        <p:nvSpPr>
          <p:cNvPr id="39" name="Text 35"/>
          <p:cNvSpPr/>
          <p:nvPr/>
        </p:nvSpPr>
        <p:spPr>
          <a:xfrm>
            <a:off x="3438144" y="3566160"/>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Usability testing, prototype validation</a:t>
            </a:r>
            <a:endParaRPr lang="en-US" sz="850" dirty="0"/>
          </a:p>
        </p:txBody>
      </p:sp>
      <p:sp>
        <p:nvSpPr>
          <p:cNvPr id="40" name="Text 36"/>
          <p:cNvSpPr/>
          <p:nvPr/>
        </p:nvSpPr>
        <p:spPr>
          <a:xfrm>
            <a:off x="3438144" y="3749040"/>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Remote tests with real families before any code is written for each feature.</a:t>
            </a:r>
            <a:endParaRPr lang="en-US" sz="800" dirty="0"/>
          </a:p>
        </p:txBody>
      </p:sp>
      <p:sp>
        <p:nvSpPr>
          <p:cNvPr id="41" name="Shape 37"/>
          <p:cNvSpPr/>
          <p:nvPr/>
        </p:nvSpPr>
        <p:spPr>
          <a:xfrm>
            <a:off x="3328416" y="4133088"/>
            <a:ext cx="2743200" cy="777240"/>
          </a:xfrm>
          <a:prstGeom prst="rect">
            <a:avLst/>
          </a:prstGeom>
          <a:solidFill>
            <a:srgbClr val="F8FAFC"/>
          </a:solidFill>
          <a:ln w="5080">
            <a:solidFill>
              <a:srgbClr val="E2E8F0"/>
            </a:solidFill>
            <a:prstDash val="solid"/>
          </a:ln>
        </p:spPr>
      </p:sp>
      <p:sp>
        <p:nvSpPr>
          <p:cNvPr id="42" name="Text 38"/>
          <p:cNvSpPr/>
          <p:nvPr/>
        </p:nvSpPr>
        <p:spPr>
          <a:xfrm>
            <a:off x="3438144" y="4206240"/>
            <a:ext cx="2514600" cy="22860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Loom</a:t>
            </a:r>
            <a:endParaRPr lang="en-US" sz="1000" dirty="0"/>
          </a:p>
        </p:txBody>
      </p:sp>
      <p:sp>
        <p:nvSpPr>
          <p:cNvPr id="43" name="Text 39"/>
          <p:cNvSpPr/>
          <p:nvPr/>
        </p:nvSpPr>
        <p:spPr>
          <a:xfrm>
            <a:off x="3438144" y="4407408"/>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Async product review videos</a:t>
            </a:r>
            <a:endParaRPr lang="en-US" sz="850" dirty="0"/>
          </a:p>
        </p:txBody>
      </p:sp>
      <p:sp>
        <p:nvSpPr>
          <p:cNvPr id="44" name="Text 40"/>
          <p:cNvSpPr/>
          <p:nvPr/>
        </p:nvSpPr>
        <p:spPr>
          <a:xfrm>
            <a:off x="3438144" y="4590288"/>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CEO records 3-min Loom on each feature spec. Team watches async. No meeting needed.</a:t>
            </a:r>
            <a:endParaRPr lang="en-US" sz="800" dirty="0"/>
          </a:p>
        </p:txBody>
      </p:sp>
      <p:sp>
        <p:nvSpPr>
          <p:cNvPr id="45" name="Shape 41"/>
          <p:cNvSpPr/>
          <p:nvPr/>
        </p:nvSpPr>
        <p:spPr>
          <a:xfrm>
            <a:off x="6272784" y="1170432"/>
            <a:ext cx="2743200" cy="384048"/>
          </a:xfrm>
          <a:prstGeom prst="rect">
            <a:avLst/>
          </a:prstGeom>
          <a:solidFill>
            <a:srgbClr val="D97706"/>
          </a:solidFill>
          <a:ln w="12700">
            <a:solidFill>
              <a:srgbClr val="D97706"/>
            </a:solidFill>
            <a:prstDash val="solid"/>
          </a:ln>
        </p:spPr>
      </p:sp>
      <p:sp>
        <p:nvSpPr>
          <p:cNvPr id="46" name="Shape 42"/>
          <p:cNvSpPr/>
          <p:nvPr/>
        </p:nvSpPr>
        <p:spPr>
          <a:xfrm>
            <a:off x="6364224" y="1225296"/>
            <a:ext cx="310896" cy="310896"/>
          </a:xfrm>
          <a:prstGeom prst="ellipse">
            <a:avLst/>
          </a:prstGeom>
          <a:solidFill>
            <a:srgbClr val="D97706"/>
          </a:solidFill>
          <a:ln w="12700">
            <a:solidFill>
              <a:srgbClr val="D97706"/>
            </a:solidFill>
            <a:prstDash val="solid"/>
          </a:ln>
        </p:spPr>
      </p:sp>
      <p:pic>
        <p:nvPicPr>
          <p:cNvPr id="47" name="Image 2" descr="preencoded.png">    </p:cNvPr>
          <p:cNvPicPr>
            <a:picLocks noChangeAspect="1"/>
          </p:cNvPicPr>
          <p:nvPr/>
        </p:nvPicPr>
        <p:blipFill>
          <a:blip r:embed="rId3"/>
          <a:stretch>
            <a:fillRect/>
          </a:stretch>
        </p:blipFill>
        <p:spPr>
          <a:xfrm>
            <a:off x="6403086" y="1264158"/>
            <a:ext cx="233172" cy="233172"/>
          </a:xfrm>
          <a:prstGeom prst="rect">
            <a:avLst/>
          </a:prstGeom>
        </p:spPr>
      </p:pic>
      <p:sp>
        <p:nvSpPr>
          <p:cNvPr id="48" name="Text 43"/>
          <p:cNvSpPr/>
          <p:nvPr/>
        </p:nvSpPr>
        <p:spPr>
          <a:xfrm>
            <a:off x="6766560" y="1243584"/>
            <a:ext cx="2103120" cy="237744"/>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DATA &amp; AI</a:t>
            </a:r>
            <a:endParaRPr lang="en-US" sz="1000" dirty="0"/>
          </a:p>
        </p:txBody>
      </p:sp>
      <p:sp>
        <p:nvSpPr>
          <p:cNvPr id="49" name="Shape 44"/>
          <p:cNvSpPr/>
          <p:nvPr/>
        </p:nvSpPr>
        <p:spPr>
          <a:xfrm>
            <a:off x="6272784" y="1609344"/>
            <a:ext cx="2743200" cy="777240"/>
          </a:xfrm>
          <a:prstGeom prst="rect">
            <a:avLst/>
          </a:prstGeom>
          <a:solidFill>
            <a:srgbClr val="FFFFFF"/>
          </a:solidFill>
          <a:ln w="5080">
            <a:solidFill>
              <a:srgbClr val="E2E8F0"/>
            </a:solidFill>
            <a:prstDash val="solid"/>
          </a:ln>
        </p:spPr>
      </p:sp>
      <p:sp>
        <p:nvSpPr>
          <p:cNvPr id="50" name="Text 45"/>
          <p:cNvSpPr/>
          <p:nvPr/>
        </p:nvSpPr>
        <p:spPr>
          <a:xfrm>
            <a:off x="6382512" y="1682496"/>
            <a:ext cx="251460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TrueLayer SDK</a:t>
            </a:r>
            <a:endParaRPr lang="en-US" sz="1000" dirty="0"/>
          </a:p>
        </p:txBody>
      </p:sp>
      <p:sp>
        <p:nvSpPr>
          <p:cNvPr id="51" name="Text 46"/>
          <p:cNvSpPr/>
          <p:nvPr/>
        </p:nvSpPr>
        <p:spPr>
          <a:xfrm>
            <a:off x="6382512" y="1883664"/>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Open Banking connection (60+ UK banks)</a:t>
            </a:r>
            <a:endParaRPr lang="en-US" sz="850" dirty="0"/>
          </a:p>
        </p:txBody>
      </p:sp>
      <p:sp>
        <p:nvSpPr>
          <p:cNvPr id="52" name="Text 47"/>
          <p:cNvSpPr/>
          <p:nvPr/>
        </p:nvSpPr>
        <p:spPr>
          <a:xfrm>
            <a:off x="6382512" y="2066544"/>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PSD2 compliant. Read-only. £8/HH/yr. Best UK bank coverage. Sandbox free.</a:t>
            </a:r>
            <a:endParaRPr lang="en-US" sz="800" dirty="0"/>
          </a:p>
        </p:txBody>
      </p:sp>
      <p:sp>
        <p:nvSpPr>
          <p:cNvPr id="53" name="Shape 48"/>
          <p:cNvSpPr/>
          <p:nvPr/>
        </p:nvSpPr>
        <p:spPr>
          <a:xfrm>
            <a:off x="6272784" y="2450592"/>
            <a:ext cx="2743200" cy="777240"/>
          </a:xfrm>
          <a:prstGeom prst="rect">
            <a:avLst/>
          </a:prstGeom>
          <a:solidFill>
            <a:srgbClr val="F8FAFC"/>
          </a:solidFill>
          <a:ln w="5080">
            <a:solidFill>
              <a:srgbClr val="E2E8F0"/>
            </a:solidFill>
            <a:prstDash val="solid"/>
          </a:ln>
        </p:spPr>
      </p:sp>
      <p:sp>
        <p:nvSpPr>
          <p:cNvPr id="54" name="Text 49"/>
          <p:cNvSpPr/>
          <p:nvPr/>
        </p:nvSpPr>
        <p:spPr>
          <a:xfrm>
            <a:off x="6382512" y="2523744"/>
            <a:ext cx="251460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Claude API (Anthropic)</a:t>
            </a:r>
            <a:endParaRPr lang="en-US" sz="1000" dirty="0"/>
          </a:p>
        </p:txBody>
      </p:sp>
      <p:sp>
        <p:nvSpPr>
          <p:cNvPr id="55" name="Text 50"/>
          <p:cNvSpPr/>
          <p:nvPr/>
        </p:nvSpPr>
        <p:spPr>
          <a:xfrm>
            <a:off x="6382512" y="2724912"/>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Weekly insight generation, AI layer</a:t>
            </a:r>
            <a:endParaRPr lang="en-US" sz="850" dirty="0"/>
          </a:p>
        </p:txBody>
      </p:sp>
      <p:sp>
        <p:nvSpPr>
          <p:cNvPr id="56" name="Text 51"/>
          <p:cNvSpPr/>
          <p:nvPr/>
        </p:nvSpPr>
        <p:spPr>
          <a:xfrm>
            <a:off x="6382512" y="2907792"/>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Personalised spending insights. Onboarding conversation. Privacy-safe prompting.</a:t>
            </a:r>
            <a:endParaRPr lang="en-US" sz="800" dirty="0"/>
          </a:p>
        </p:txBody>
      </p:sp>
      <p:sp>
        <p:nvSpPr>
          <p:cNvPr id="57" name="Shape 52"/>
          <p:cNvSpPr/>
          <p:nvPr/>
        </p:nvSpPr>
        <p:spPr>
          <a:xfrm>
            <a:off x="6272784" y="3291840"/>
            <a:ext cx="2743200" cy="777240"/>
          </a:xfrm>
          <a:prstGeom prst="rect">
            <a:avLst/>
          </a:prstGeom>
          <a:solidFill>
            <a:srgbClr val="FFFFFF"/>
          </a:solidFill>
          <a:ln w="5080">
            <a:solidFill>
              <a:srgbClr val="E2E8F0"/>
            </a:solidFill>
            <a:prstDash val="solid"/>
          </a:ln>
        </p:spPr>
      </p:sp>
      <p:sp>
        <p:nvSpPr>
          <p:cNvPr id="58" name="Text 53"/>
          <p:cNvSpPr/>
          <p:nvPr/>
        </p:nvSpPr>
        <p:spPr>
          <a:xfrm>
            <a:off x="6382512" y="3364992"/>
            <a:ext cx="251460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Python / XGBoost + SHAP</a:t>
            </a:r>
            <a:endParaRPr lang="en-US" sz="1000" dirty="0"/>
          </a:p>
        </p:txBody>
      </p:sp>
      <p:sp>
        <p:nvSpPr>
          <p:cNvPr id="59" name="Text 54"/>
          <p:cNvSpPr/>
          <p:nvPr/>
        </p:nvSpPr>
        <p:spPr>
          <a:xfrm>
            <a:off x="6382512" y="3566160"/>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Pulse Score model</a:t>
            </a:r>
            <a:endParaRPr lang="en-US" sz="850" dirty="0"/>
          </a:p>
        </p:txBody>
      </p:sp>
      <p:sp>
        <p:nvSpPr>
          <p:cNvPr id="60" name="Text 55"/>
          <p:cNvSpPr/>
          <p:nvPr/>
        </p:nvSpPr>
        <p:spPr>
          <a:xfrm>
            <a:off x="6382512" y="3749040"/>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Tabular financial data. SHAP explainability required for bank licensing pitch.</a:t>
            </a:r>
            <a:endParaRPr lang="en-US" sz="800" dirty="0"/>
          </a:p>
        </p:txBody>
      </p:sp>
      <p:sp>
        <p:nvSpPr>
          <p:cNvPr id="61" name="Shape 56"/>
          <p:cNvSpPr/>
          <p:nvPr/>
        </p:nvSpPr>
        <p:spPr>
          <a:xfrm>
            <a:off x="6272784" y="4133088"/>
            <a:ext cx="2743200" cy="777240"/>
          </a:xfrm>
          <a:prstGeom prst="rect">
            <a:avLst/>
          </a:prstGeom>
          <a:solidFill>
            <a:srgbClr val="F8FAFC"/>
          </a:solidFill>
          <a:ln w="5080">
            <a:solidFill>
              <a:srgbClr val="E2E8F0"/>
            </a:solidFill>
            <a:prstDash val="solid"/>
          </a:ln>
        </p:spPr>
      </p:sp>
      <p:sp>
        <p:nvSpPr>
          <p:cNvPr id="62" name="Text 57"/>
          <p:cNvSpPr/>
          <p:nvPr/>
        </p:nvSpPr>
        <p:spPr>
          <a:xfrm>
            <a:off x="6382512" y="4206240"/>
            <a:ext cx="2514600" cy="22860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Metabase</a:t>
            </a:r>
            <a:endParaRPr lang="en-US" sz="1000" dirty="0"/>
          </a:p>
        </p:txBody>
      </p:sp>
      <p:sp>
        <p:nvSpPr>
          <p:cNvPr id="63" name="Text 58"/>
          <p:cNvSpPr/>
          <p:nvPr/>
        </p:nvSpPr>
        <p:spPr>
          <a:xfrm>
            <a:off x="6382512" y="4407408"/>
            <a:ext cx="2514600" cy="182880"/>
          </a:xfrm>
          <a:prstGeom prst="rect">
            <a:avLst/>
          </a:prstGeom>
          <a:noFill/>
          <a:ln/>
        </p:spPr>
        <p:txBody>
          <a:bodyPr wrap="square" lIns="0" tIns="0" rIns="0" bIns="0" rtlCol="0" anchor="ctr"/>
          <a:lstStyle/>
          <a:p>
            <a:pPr indent="0" marL="0">
              <a:buNone/>
            </a:pPr>
            <a:r>
              <a:rPr lang="en-US" sz="850" dirty="0">
                <a:solidFill>
                  <a:srgbClr val="0F1F3D"/>
                </a:solidFill>
                <a:latin typeface="Calibri" pitchFamily="34" charset="0"/>
                <a:ea typeface="Calibri" pitchFamily="34" charset="-122"/>
                <a:cs typeface="Calibri" pitchFamily="34" charset="-120"/>
              </a:rPr>
              <a:t>Internal BI + investor reporting</a:t>
            </a:r>
            <a:endParaRPr lang="en-US" sz="850" dirty="0"/>
          </a:p>
        </p:txBody>
      </p:sp>
      <p:sp>
        <p:nvSpPr>
          <p:cNvPr id="64" name="Text 59"/>
          <p:cNvSpPr/>
          <p:nvPr/>
        </p:nvSpPr>
        <p:spPr>
          <a:xfrm>
            <a:off x="6382512" y="4590288"/>
            <a:ext cx="2514600" cy="256032"/>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Non-technical team members build own reports. OKR dashboards. No SQL required.</a:t>
            </a:r>
            <a:endParaRPr lang="en-US" sz="800" dirty="0"/>
          </a:p>
        </p:txBody>
      </p:sp>
      <p:sp>
        <p:nvSpPr>
          <p:cNvPr id="65" name="Text 60"/>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§06 · MARKETING TOOLING</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Marketing Stack: Built for £0 CAC Channels</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384048" y="118872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384048" y="1188720"/>
            <a:ext cx="2011680" cy="54864"/>
          </a:xfrm>
          <a:prstGeom prst="rect">
            <a:avLst/>
          </a:prstGeom>
          <a:solidFill>
            <a:srgbClr val="0F1F3D"/>
          </a:solidFill>
          <a:ln w="12700">
            <a:solidFill>
              <a:srgbClr val="0F1F3D"/>
            </a:solidFill>
            <a:prstDash val="solid"/>
          </a:ln>
        </p:spPr>
      </p:sp>
      <p:sp>
        <p:nvSpPr>
          <p:cNvPr id="7" name="Text 5"/>
          <p:cNvSpPr/>
          <p:nvPr/>
        </p:nvSpPr>
        <p:spPr>
          <a:xfrm>
            <a:off x="493776" y="1298448"/>
            <a:ext cx="1737360" cy="256032"/>
          </a:xfrm>
          <a:prstGeom prst="rect">
            <a:avLst/>
          </a:prstGeom>
          <a:noFill/>
          <a:ln/>
        </p:spPr>
        <p:txBody>
          <a:bodyPr wrap="square" lIns="0" tIns="0" rIns="0" bIns="0" rtlCol="0" anchor="ctr"/>
          <a:lstStyle/>
          <a:p>
            <a:pPr indent="0" marL="0">
              <a:buNone/>
            </a:pPr>
            <a:r>
              <a:rPr lang="en-US" sz="1200" b="1" dirty="0">
                <a:solidFill>
                  <a:srgbClr val="0F1F3D"/>
                </a:solidFill>
                <a:latin typeface="Georgia" pitchFamily="34" charset="0"/>
                <a:ea typeface="Georgia" pitchFamily="34" charset="-122"/>
                <a:cs typeface="Georgia" pitchFamily="34" charset="-120"/>
              </a:rPr>
              <a:t>Webflow</a:t>
            </a:r>
            <a:endParaRPr lang="en-US" sz="1200" dirty="0"/>
          </a:p>
        </p:txBody>
      </p:sp>
      <p:sp>
        <p:nvSpPr>
          <p:cNvPr id="8" name="Text 6"/>
          <p:cNvSpPr/>
          <p:nvPr/>
        </p:nvSpPr>
        <p:spPr>
          <a:xfrm>
            <a:off x="493776" y="158191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Landing pages + waitlist</a:t>
            </a:r>
            <a:endParaRPr lang="en-US" sz="900" dirty="0"/>
          </a:p>
        </p:txBody>
      </p:sp>
      <p:sp>
        <p:nvSpPr>
          <p:cNvPr id="9" name="Text 7"/>
          <p:cNvSpPr/>
          <p:nvPr/>
        </p:nvSpPr>
        <p:spPr>
          <a:xfrm>
            <a:off x="493776" y="180136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3-page site. WTP A/B test. Employer LOI landing page. No dev resource.</a:t>
            </a:r>
            <a:endParaRPr lang="en-US" sz="850" dirty="0"/>
          </a:p>
        </p:txBody>
      </p:sp>
      <p:sp>
        <p:nvSpPr>
          <p:cNvPr id="10" name="Shape 8"/>
          <p:cNvSpPr/>
          <p:nvPr/>
        </p:nvSpPr>
        <p:spPr>
          <a:xfrm>
            <a:off x="2578608" y="118872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1" name="Shape 9"/>
          <p:cNvSpPr/>
          <p:nvPr/>
        </p:nvSpPr>
        <p:spPr>
          <a:xfrm>
            <a:off x="2578608" y="1188720"/>
            <a:ext cx="2011680" cy="54864"/>
          </a:xfrm>
          <a:prstGeom prst="rect">
            <a:avLst/>
          </a:prstGeom>
          <a:solidFill>
            <a:srgbClr val="0D9488"/>
          </a:solidFill>
          <a:ln w="12700">
            <a:solidFill>
              <a:srgbClr val="0D9488"/>
            </a:solidFill>
            <a:prstDash val="solid"/>
          </a:ln>
        </p:spPr>
      </p:sp>
      <p:sp>
        <p:nvSpPr>
          <p:cNvPr id="12" name="Text 10"/>
          <p:cNvSpPr/>
          <p:nvPr/>
        </p:nvSpPr>
        <p:spPr>
          <a:xfrm>
            <a:off x="2688336" y="1298448"/>
            <a:ext cx="1737360" cy="256032"/>
          </a:xfrm>
          <a:prstGeom prst="rect">
            <a:avLst/>
          </a:prstGeom>
          <a:noFill/>
          <a:ln/>
        </p:spPr>
        <p:txBody>
          <a:bodyPr wrap="square" lIns="0" tIns="0" rIns="0" bIns="0" rtlCol="0" anchor="ctr"/>
          <a:lstStyle/>
          <a:p>
            <a:pPr indent="0" marL="0">
              <a:buNone/>
            </a:pPr>
            <a:r>
              <a:rPr lang="en-US" sz="1200" b="1" dirty="0">
                <a:solidFill>
                  <a:srgbClr val="0D9488"/>
                </a:solidFill>
                <a:latin typeface="Georgia" pitchFamily="34" charset="0"/>
                <a:ea typeface="Georgia" pitchFamily="34" charset="-122"/>
                <a:cs typeface="Georgia" pitchFamily="34" charset="-120"/>
              </a:rPr>
              <a:t>Loops.so</a:t>
            </a:r>
            <a:endParaRPr lang="en-US" sz="1200" dirty="0"/>
          </a:p>
        </p:txBody>
      </p:sp>
      <p:sp>
        <p:nvSpPr>
          <p:cNvPr id="13" name="Text 11"/>
          <p:cNvSpPr/>
          <p:nvPr/>
        </p:nvSpPr>
        <p:spPr>
          <a:xfrm>
            <a:off x="2688336" y="158191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Email automation + nurture</a:t>
            </a:r>
            <a:endParaRPr lang="en-US" sz="900" dirty="0"/>
          </a:p>
        </p:txBody>
      </p:sp>
      <p:sp>
        <p:nvSpPr>
          <p:cNvPr id="14" name="Text 12"/>
          <p:cNvSpPr/>
          <p:nvPr/>
        </p:nvSpPr>
        <p:spPr>
          <a:xfrm>
            <a:off x="2688336" y="180136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Waitlist drip sequence. Employer follow-up cadence. 5-email onboarding series.</a:t>
            </a:r>
            <a:endParaRPr lang="en-US" sz="850" dirty="0"/>
          </a:p>
        </p:txBody>
      </p:sp>
      <p:sp>
        <p:nvSpPr>
          <p:cNvPr id="15" name="Shape 13"/>
          <p:cNvSpPr/>
          <p:nvPr/>
        </p:nvSpPr>
        <p:spPr>
          <a:xfrm>
            <a:off x="4773168" y="118872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4773168" y="1188720"/>
            <a:ext cx="2011680" cy="54864"/>
          </a:xfrm>
          <a:prstGeom prst="rect">
            <a:avLst/>
          </a:prstGeom>
          <a:solidFill>
            <a:srgbClr val="7C3AED"/>
          </a:solidFill>
          <a:ln w="12700">
            <a:solidFill>
              <a:srgbClr val="7C3AED"/>
            </a:solidFill>
            <a:prstDash val="solid"/>
          </a:ln>
        </p:spPr>
      </p:sp>
      <p:sp>
        <p:nvSpPr>
          <p:cNvPr id="17" name="Text 15"/>
          <p:cNvSpPr/>
          <p:nvPr/>
        </p:nvSpPr>
        <p:spPr>
          <a:xfrm>
            <a:off x="4882896" y="1298448"/>
            <a:ext cx="1737360" cy="256032"/>
          </a:xfrm>
          <a:prstGeom prst="rect">
            <a:avLst/>
          </a:prstGeom>
          <a:noFill/>
          <a:ln/>
        </p:spPr>
        <p:txBody>
          <a:bodyPr wrap="square" lIns="0" tIns="0" rIns="0" bIns="0" rtlCol="0" anchor="ctr"/>
          <a:lstStyle/>
          <a:p>
            <a:pPr indent="0" marL="0">
              <a:buNone/>
            </a:pPr>
            <a:r>
              <a:rPr lang="en-US" sz="1200" b="1" dirty="0">
                <a:solidFill>
                  <a:srgbClr val="7C3AED"/>
                </a:solidFill>
                <a:latin typeface="Georgia" pitchFamily="34" charset="0"/>
                <a:ea typeface="Georgia" pitchFamily="34" charset="-122"/>
                <a:cs typeface="Georgia" pitchFamily="34" charset="-120"/>
              </a:rPr>
              <a:t>Beehiiv</a:t>
            </a:r>
            <a:endParaRPr lang="en-US" sz="1200" dirty="0"/>
          </a:p>
        </p:txBody>
      </p:sp>
      <p:sp>
        <p:nvSpPr>
          <p:cNvPr id="18" name="Text 16"/>
          <p:cNvSpPr/>
          <p:nvPr/>
        </p:nvSpPr>
        <p:spPr>
          <a:xfrm>
            <a:off x="4882896" y="158191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Newsletter / community comms</a:t>
            </a:r>
            <a:endParaRPr lang="en-US" sz="900" dirty="0"/>
          </a:p>
        </p:txBody>
      </p:sp>
      <p:sp>
        <p:nvSpPr>
          <p:cNvPr id="19" name="Text 17"/>
          <p:cNvSpPr/>
          <p:nvPr/>
        </p:nvSpPr>
        <p:spPr>
          <a:xfrm>
            <a:off x="4882896" y="180136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Monthly FinFlow family newsletter. City Zero progress updates. Free tier sufficient.</a:t>
            </a:r>
            <a:endParaRPr lang="en-US" sz="850" dirty="0"/>
          </a:p>
        </p:txBody>
      </p:sp>
      <p:sp>
        <p:nvSpPr>
          <p:cNvPr id="20" name="Shape 18"/>
          <p:cNvSpPr/>
          <p:nvPr/>
        </p:nvSpPr>
        <p:spPr>
          <a:xfrm>
            <a:off x="6967728" y="118872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6967728" y="1188720"/>
            <a:ext cx="2011680" cy="54864"/>
          </a:xfrm>
          <a:prstGeom prst="rect">
            <a:avLst/>
          </a:prstGeom>
          <a:solidFill>
            <a:srgbClr val="D97706"/>
          </a:solidFill>
          <a:ln w="12700">
            <a:solidFill>
              <a:srgbClr val="D97706"/>
            </a:solidFill>
            <a:prstDash val="solid"/>
          </a:ln>
        </p:spPr>
      </p:sp>
      <p:sp>
        <p:nvSpPr>
          <p:cNvPr id="22" name="Text 20"/>
          <p:cNvSpPr/>
          <p:nvPr/>
        </p:nvSpPr>
        <p:spPr>
          <a:xfrm>
            <a:off x="7077456" y="1298448"/>
            <a:ext cx="1737360" cy="256032"/>
          </a:xfrm>
          <a:prstGeom prst="rect">
            <a:avLst/>
          </a:prstGeom>
          <a:noFill/>
          <a:ln/>
        </p:spPr>
        <p:txBody>
          <a:bodyPr wrap="square" lIns="0" tIns="0" rIns="0" bIns="0" rtlCol="0" anchor="ctr"/>
          <a:lstStyle/>
          <a:p>
            <a:pPr indent="0" marL="0">
              <a:buNone/>
            </a:pPr>
            <a:r>
              <a:rPr lang="en-US" sz="1200" b="1" dirty="0">
                <a:solidFill>
                  <a:srgbClr val="D97706"/>
                </a:solidFill>
                <a:latin typeface="Georgia" pitchFamily="34" charset="0"/>
                <a:ea typeface="Georgia" pitchFamily="34" charset="-122"/>
                <a:cs typeface="Georgia" pitchFamily="34" charset="-120"/>
              </a:rPr>
              <a:t>Typeform</a:t>
            </a:r>
            <a:endParaRPr lang="en-US" sz="1200" dirty="0"/>
          </a:p>
        </p:txBody>
      </p:sp>
      <p:sp>
        <p:nvSpPr>
          <p:cNvPr id="23" name="Text 21"/>
          <p:cNvSpPr/>
          <p:nvPr/>
        </p:nvSpPr>
        <p:spPr>
          <a:xfrm>
            <a:off x="7077456" y="158191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Validation surveys + NPS</a:t>
            </a:r>
            <a:endParaRPr lang="en-US" sz="900" dirty="0"/>
          </a:p>
        </p:txBody>
      </p:sp>
      <p:sp>
        <p:nvSpPr>
          <p:cNvPr id="24" name="Text 22"/>
          <p:cNvSpPr/>
          <p:nvPr/>
        </p:nvSpPr>
        <p:spPr>
          <a:xfrm>
            <a:off x="7077456" y="180136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Van Westendorp price survey. Post-circle NPS. SMB owner intent survey (300 target).</a:t>
            </a:r>
            <a:endParaRPr lang="en-US" sz="850" dirty="0"/>
          </a:p>
        </p:txBody>
      </p:sp>
      <p:sp>
        <p:nvSpPr>
          <p:cNvPr id="25" name="Shape 23"/>
          <p:cNvSpPr/>
          <p:nvPr/>
        </p:nvSpPr>
        <p:spPr>
          <a:xfrm>
            <a:off x="384048" y="297180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384048" y="2971800"/>
            <a:ext cx="2011680" cy="54864"/>
          </a:xfrm>
          <a:prstGeom prst="rect">
            <a:avLst/>
          </a:prstGeom>
          <a:solidFill>
            <a:srgbClr val="16A34A"/>
          </a:solidFill>
          <a:ln w="12700">
            <a:solidFill>
              <a:srgbClr val="16A34A"/>
            </a:solidFill>
            <a:prstDash val="solid"/>
          </a:ln>
        </p:spPr>
      </p:sp>
      <p:sp>
        <p:nvSpPr>
          <p:cNvPr id="27" name="Text 25"/>
          <p:cNvSpPr/>
          <p:nvPr/>
        </p:nvSpPr>
        <p:spPr>
          <a:xfrm>
            <a:off x="493776" y="3081528"/>
            <a:ext cx="1737360" cy="256032"/>
          </a:xfrm>
          <a:prstGeom prst="rect">
            <a:avLst/>
          </a:prstGeom>
          <a:noFill/>
          <a:ln/>
        </p:spPr>
        <p:txBody>
          <a:bodyPr wrap="square" lIns="0" tIns="0" rIns="0" bIns="0" rtlCol="0" anchor="ctr"/>
          <a:lstStyle/>
          <a:p>
            <a:pPr indent="0" marL="0">
              <a:buNone/>
            </a:pPr>
            <a:r>
              <a:rPr lang="en-US" sz="1200" b="1" dirty="0">
                <a:solidFill>
                  <a:srgbClr val="16A34A"/>
                </a:solidFill>
                <a:latin typeface="Georgia" pitchFamily="34" charset="0"/>
                <a:ea typeface="Georgia" pitchFamily="34" charset="-122"/>
                <a:cs typeface="Georgia" pitchFamily="34" charset="-120"/>
              </a:rPr>
              <a:t>Tapfiliate</a:t>
            </a:r>
            <a:endParaRPr lang="en-US" sz="1200" dirty="0"/>
          </a:p>
        </p:txBody>
      </p:sp>
      <p:sp>
        <p:nvSpPr>
          <p:cNvPr id="28" name="Text 26"/>
          <p:cNvSpPr/>
          <p:nvPr/>
        </p:nvSpPr>
        <p:spPr>
          <a:xfrm>
            <a:off x="493776" y="336499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Referral program tracking</a:t>
            </a:r>
            <a:endParaRPr lang="en-US" sz="900" dirty="0"/>
          </a:p>
        </p:txBody>
      </p:sp>
      <p:sp>
        <p:nvSpPr>
          <p:cNvPr id="29" name="Text 27"/>
          <p:cNvSpPr/>
          <p:nvPr/>
        </p:nvSpPr>
        <p:spPr>
          <a:xfrm>
            <a:off x="493776" y="358444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Tracks household-to-household referrals. Auto-applies 1-month credit on conversion.</a:t>
            </a:r>
            <a:endParaRPr lang="en-US" sz="850" dirty="0"/>
          </a:p>
        </p:txBody>
      </p:sp>
      <p:sp>
        <p:nvSpPr>
          <p:cNvPr id="30" name="Shape 28"/>
          <p:cNvSpPr/>
          <p:nvPr/>
        </p:nvSpPr>
        <p:spPr>
          <a:xfrm>
            <a:off x="2578608" y="297180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1" name="Shape 29"/>
          <p:cNvSpPr/>
          <p:nvPr/>
        </p:nvSpPr>
        <p:spPr>
          <a:xfrm>
            <a:off x="2578608" y="2971800"/>
            <a:ext cx="2011680" cy="54864"/>
          </a:xfrm>
          <a:prstGeom prst="rect">
            <a:avLst/>
          </a:prstGeom>
          <a:solidFill>
            <a:srgbClr val="E11D48"/>
          </a:solidFill>
          <a:ln w="12700">
            <a:solidFill>
              <a:srgbClr val="E11D48"/>
            </a:solidFill>
            <a:prstDash val="solid"/>
          </a:ln>
        </p:spPr>
      </p:sp>
      <p:sp>
        <p:nvSpPr>
          <p:cNvPr id="32" name="Text 30"/>
          <p:cNvSpPr/>
          <p:nvPr/>
        </p:nvSpPr>
        <p:spPr>
          <a:xfrm>
            <a:off x="2688336" y="3081528"/>
            <a:ext cx="1737360" cy="256032"/>
          </a:xfrm>
          <a:prstGeom prst="rect">
            <a:avLst/>
          </a:prstGeom>
          <a:noFill/>
          <a:ln/>
        </p:spPr>
        <p:txBody>
          <a:bodyPr wrap="square" lIns="0" tIns="0" rIns="0" bIns="0" rtlCol="0" anchor="ctr"/>
          <a:lstStyle/>
          <a:p>
            <a:pPr indent="0" marL="0">
              <a:buNone/>
            </a:pPr>
            <a:r>
              <a:rPr lang="en-US" sz="1200" b="1" dirty="0">
                <a:solidFill>
                  <a:srgbClr val="E11D48"/>
                </a:solidFill>
                <a:latin typeface="Georgia" pitchFamily="34" charset="0"/>
                <a:ea typeface="Georgia" pitchFamily="34" charset="-122"/>
                <a:cs typeface="Georgia" pitchFamily="34" charset="-120"/>
              </a:rPr>
              <a:t>Notion (PR)</a:t>
            </a:r>
            <a:endParaRPr lang="en-US" sz="1200" dirty="0"/>
          </a:p>
        </p:txBody>
      </p:sp>
      <p:sp>
        <p:nvSpPr>
          <p:cNvPr id="33" name="Text 31"/>
          <p:cNvSpPr/>
          <p:nvPr/>
        </p:nvSpPr>
        <p:spPr>
          <a:xfrm>
            <a:off x="2688336" y="336499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Press kit + media outreach</a:t>
            </a:r>
            <a:endParaRPr lang="en-US" sz="900" dirty="0"/>
          </a:p>
        </p:txBody>
      </p:sp>
      <p:sp>
        <p:nvSpPr>
          <p:cNvPr id="34" name="Text 32"/>
          <p:cNvSpPr/>
          <p:nvPr/>
        </p:nvSpPr>
        <p:spPr>
          <a:xfrm>
            <a:off x="2688336" y="358444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Journalist-ready fact sheet. City Zero data story template. Embed shareable link.</a:t>
            </a:r>
            <a:endParaRPr lang="en-US" sz="850" dirty="0"/>
          </a:p>
        </p:txBody>
      </p:sp>
      <p:sp>
        <p:nvSpPr>
          <p:cNvPr id="35" name="Shape 33"/>
          <p:cNvSpPr/>
          <p:nvPr/>
        </p:nvSpPr>
        <p:spPr>
          <a:xfrm>
            <a:off x="4773168" y="297180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4773168" y="2971800"/>
            <a:ext cx="2011680" cy="54864"/>
          </a:xfrm>
          <a:prstGeom prst="rect">
            <a:avLst/>
          </a:prstGeom>
          <a:solidFill>
            <a:srgbClr val="0D9488"/>
          </a:solidFill>
          <a:ln w="12700">
            <a:solidFill>
              <a:srgbClr val="0D9488"/>
            </a:solidFill>
            <a:prstDash val="solid"/>
          </a:ln>
        </p:spPr>
      </p:sp>
      <p:sp>
        <p:nvSpPr>
          <p:cNvPr id="37" name="Text 35"/>
          <p:cNvSpPr/>
          <p:nvPr/>
        </p:nvSpPr>
        <p:spPr>
          <a:xfrm>
            <a:off x="4882896" y="3081528"/>
            <a:ext cx="1737360" cy="256032"/>
          </a:xfrm>
          <a:prstGeom prst="rect">
            <a:avLst/>
          </a:prstGeom>
          <a:noFill/>
          <a:ln/>
        </p:spPr>
        <p:txBody>
          <a:bodyPr wrap="square" lIns="0" tIns="0" rIns="0" bIns="0" rtlCol="0" anchor="ctr"/>
          <a:lstStyle/>
          <a:p>
            <a:pPr indent="0" marL="0">
              <a:buNone/>
            </a:pPr>
            <a:r>
              <a:rPr lang="en-US" sz="1200" b="1" dirty="0">
                <a:solidFill>
                  <a:srgbClr val="0D9488"/>
                </a:solidFill>
                <a:latin typeface="Georgia" pitchFamily="34" charset="0"/>
                <a:ea typeface="Georgia" pitchFamily="34" charset="-122"/>
                <a:cs typeface="Georgia" pitchFamily="34" charset="-120"/>
              </a:rPr>
              <a:t>Buffer</a:t>
            </a:r>
            <a:endParaRPr lang="en-US" sz="1200" dirty="0"/>
          </a:p>
        </p:txBody>
      </p:sp>
      <p:sp>
        <p:nvSpPr>
          <p:cNvPr id="38" name="Text 36"/>
          <p:cNvSpPr/>
          <p:nvPr/>
        </p:nvSpPr>
        <p:spPr>
          <a:xfrm>
            <a:off x="4882896" y="336499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Social scheduling</a:t>
            </a:r>
            <a:endParaRPr lang="en-US" sz="900" dirty="0"/>
          </a:p>
        </p:txBody>
      </p:sp>
      <p:sp>
        <p:nvSpPr>
          <p:cNvPr id="39" name="Text 37"/>
          <p:cNvSpPr/>
          <p:nvPr/>
        </p:nvSpPr>
        <p:spPr>
          <a:xfrm>
            <a:off x="4882896" y="358444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LinkedIn (employer audience) + Instagram (family audience). 3 posts/week. Founder-led only.</a:t>
            </a:r>
            <a:endParaRPr lang="en-US" sz="850" dirty="0"/>
          </a:p>
        </p:txBody>
      </p:sp>
      <p:sp>
        <p:nvSpPr>
          <p:cNvPr id="40" name="Shape 38"/>
          <p:cNvSpPr/>
          <p:nvPr/>
        </p:nvSpPr>
        <p:spPr>
          <a:xfrm>
            <a:off x="6967728" y="2971800"/>
            <a:ext cx="2011680" cy="160020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41" name="Shape 39"/>
          <p:cNvSpPr/>
          <p:nvPr/>
        </p:nvSpPr>
        <p:spPr>
          <a:xfrm>
            <a:off x="6967728" y="2971800"/>
            <a:ext cx="2011680" cy="54864"/>
          </a:xfrm>
          <a:prstGeom prst="rect">
            <a:avLst/>
          </a:prstGeom>
          <a:solidFill>
            <a:srgbClr val="D97706"/>
          </a:solidFill>
          <a:ln w="12700">
            <a:solidFill>
              <a:srgbClr val="D97706"/>
            </a:solidFill>
            <a:prstDash val="solid"/>
          </a:ln>
        </p:spPr>
      </p:sp>
      <p:sp>
        <p:nvSpPr>
          <p:cNvPr id="42" name="Text 40"/>
          <p:cNvSpPr/>
          <p:nvPr/>
        </p:nvSpPr>
        <p:spPr>
          <a:xfrm>
            <a:off x="7077456" y="3081528"/>
            <a:ext cx="1737360" cy="256032"/>
          </a:xfrm>
          <a:prstGeom prst="rect">
            <a:avLst/>
          </a:prstGeom>
          <a:noFill/>
          <a:ln/>
        </p:spPr>
        <p:txBody>
          <a:bodyPr wrap="square" lIns="0" tIns="0" rIns="0" bIns="0" rtlCol="0" anchor="ctr"/>
          <a:lstStyle/>
          <a:p>
            <a:pPr indent="0" marL="0">
              <a:buNone/>
            </a:pPr>
            <a:r>
              <a:rPr lang="en-US" sz="1200" b="1" dirty="0">
                <a:solidFill>
                  <a:srgbClr val="D97706"/>
                </a:solidFill>
                <a:latin typeface="Georgia" pitchFamily="34" charset="0"/>
                <a:ea typeface="Georgia" pitchFamily="34" charset="-122"/>
                <a:cs typeface="Georgia" pitchFamily="34" charset="-120"/>
              </a:rPr>
              <a:t>Hotjar / PostHog</a:t>
            </a:r>
            <a:endParaRPr lang="en-US" sz="1200" dirty="0"/>
          </a:p>
        </p:txBody>
      </p:sp>
      <p:sp>
        <p:nvSpPr>
          <p:cNvPr id="43" name="Text 41"/>
          <p:cNvSpPr/>
          <p:nvPr/>
        </p:nvSpPr>
        <p:spPr>
          <a:xfrm>
            <a:off x="7077456" y="3364992"/>
            <a:ext cx="173736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Landing page heatmaps</a:t>
            </a:r>
            <a:endParaRPr lang="en-US" sz="900" dirty="0"/>
          </a:p>
        </p:txBody>
      </p:sp>
      <p:sp>
        <p:nvSpPr>
          <p:cNvPr id="44" name="Text 42"/>
          <p:cNvSpPr/>
          <p:nvPr/>
        </p:nvSpPr>
        <p:spPr>
          <a:xfrm>
            <a:off x="7077456" y="3584448"/>
            <a:ext cx="1737360" cy="8229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WTP test page behaviour. Identify drop-off in signup flow. Feeds A/B test hypothesis.</a:t>
            </a:r>
            <a:endParaRPr lang="en-US" sz="850" dirty="0"/>
          </a:p>
        </p:txBody>
      </p:sp>
      <p:sp>
        <p:nvSpPr>
          <p:cNvPr id="45" name="Text 43"/>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§07 · COMMUNITY STACK</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Community: The Retention Layer No Competitor Can Copy</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384048" y="1170432"/>
            <a:ext cx="8375904" cy="475488"/>
          </a:xfrm>
          <a:prstGeom prst="rect">
            <a:avLst/>
          </a:prstGeom>
          <a:solidFill>
            <a:srgbClr val="CCFBF1"/>
          </a:solidFill>
          <a:ln w="6350">
            <a:solidFill>
              <a:srgbClr val="14B8A6"/>
            </a:solidFill>
            <a:prstDash val="solid"/>
          </a:ln>
        </p:spPr>
      </p:sp>
      <p:sp>
        <p:nvSpPr>
          <p:cNvPr id="6" name="Text 4"/>
          <p:cNvSpPr/>
          <p:nvPr/>
        </p:nvSpPr>
        <p:spPr>
          <a:xfrm>
            <a:off x="548640" y="1216152"/>
            <a:ext cx="8046720" cy="365760"/>
          </a:xfrm>
          <a:prstGeom prst="rect">
            <a:avLst/>
          </a:prstGeom>
          <a:noFill/>
          <a:ln/>
        </p:spPr>
        <p:txBody>
          <a:bodyPr wrap="square" lIns="0" tIns="0" rIns="0" bIns="0" rtlCol="0" anchor="ctr"/>
          <a:lstStyle/>
          <a:p>
            <a:pPr indent="0" marL="0">
              <a:buNone/>
            </a:pPr>
            <a:r>
              <a:rPr lang="en-US" sz="950" dirty="0">
                <a:solidFill>
                  <a:srgbClr val="0F1F3D"/>
                </a:solidFill>
                <a:latin typeface="Calibri" pitchFamily="34" charset="0"/>
                <a:ea typeface="Calibri" pitchFamily="34" charset="-122"/>
                <a:cs typeface="Calibri" pitchFamily="34" charset="-120"/>
              </a:rPr>
              <a:t>Design principle:  Community is not a channel. It is a product feature. Every circle reduces monthly churn from 8.2% → 1.6% for households that join one. Build the tool that makes circles irresistible.</a:t>
            </a:r>
            <a:endParaRPr lang="en-US" sz="950" dirty="0"/>
          </a:p>
        </p:txBody>
      </p:sp>
      <p:sp>
        <p:nvSpPr>
          <p:cNvPr id="7" name="Shape 5"/>
          <p:cNvSpPr/>
          <p:nvPr/>
        </p:nvSpPr>
        <p:spPr>
          <a:xfrm>
            <a:off x="384048" y="1755648"/>
            <a:ext cx="2651760" cy="1353312"/>
          </a:xfrm>
          <a:prstGeom prst="rect">
            <a:avLst/>
          </a:prstGeom>
          <a:solidFill>
            <a:srgbClr val="0D9488"/>
          </a:solidFill>
          <a:ln w="12700">
            <a:solidFill>
              <a:srgbClr val="0D9488"/>
            </a:solidFill>
            <a:prstDash val="solid"/>
          </a:ln>
          <a:effectLst>
            <a:outerShdw sx="100000" sy="100000" kx="0" ky="0" algn="bl" rotWithShape="0" blurRad="63500" dist="25400" dir="8100000">
              <a:srgbClr val="000000">
                <a:alpha val="8000"/>
              </a:srgbClr>
            </a:outerShdw>
          </a:effectLst>
        </p:spPr>
      </p:sp>
      <p:sp>
        <p:nvSpPr>
          <p:cNvPr id="8" name="Text 6"/>
          <p:cNvSpPr/>
          <p:nvPr/>
        </p:nvSpPr>
        <p:spPr>
          <a:xfrm>
            <a:off x="521208" y="1874520"/>
            <a:ext cx="237744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Circle.so</a:t>
            </a:r>
            <a:endParaRPr lang="en-US" sz="1300" dirty="0"/>
          </a:p>
        </p:txBody>
      </p:sp>
      <p:sp>
        <p:nvSpPr>
          <p:cNvPr id="9" name="Text 7"/>
          <p:cNvSpPr/>
          <p:nvPr/>
        </p:nvSpPr>
        <p:spPr>
          <a:xfrm>
            <a:off x="521208" y="2167128"/>
            <a:ext cx="2377440" cy="201168"/>
          </a:xfrm>
          <a:prstGeom prst="rect">
            <a:avLst/>
          </a:prstGeom>
          <a:noFill/>
          <a:ln/>
        </p:spPr>
        <p:txBody>
          <a:bodyPr wrap="square" lIns="0" tIns="0" rIns="0" bIns="0" rtlCol="0" anchor="ctr"/>
          <a:lstStyle/>
          <a:p>
            <a:pPr indent="0" marL="0">
              <a:buNone/>
            </a:pPr>
            <a:r>
              <a:rPr lang="en-US" sz="900" b="1" dirty="0">
                <a:solidFill>
                  <a:srgbClr val="CCF9F5"/>
                </a:solidFill>
                <a:latin typeface="Calibri" pitchFamily="34" charset="0"/>
                <a:ea typeface="Calibri" pitchFamily="34" charset="-122"/>
                <a:cs typeface="Calibri" pitchFamily="34" charset="-120"/>
              </a:rPr>
              <a:t>Accountability circle platform</a:t>
            </a:r>
            <a:endParaRPr lang="en-US" sz="900" dirty="0"/>
          </a:p>
        </p:txBody>
      </p:sp>
      <p:sp>
        <p:nvSpPr>
          <p:cNvPr id="10" name="Text 8"/>
          <p:cNvSpPr/>
          <p:nvPr/>
        </p:nvSpPr>
        <p:spPr>
          <a:xfrm>
            <a:off x="521208" y="2395728"/>
            <a:ext cx="2377440" cy="621792"/>
          </a:xfrm>
          <a:prstGeom prst="rect">
            <a:avLst/>
          </a:prstGeom>
          <a:noFill/>
          <a:ln/>
        </p:spPr>
        <p:txBody>
          <a:bodyPr wrap="square" lIns="0" tIns="0" rIns="0" bIns="0" rtlCol="0" anchor="ctr"/>
          <a:lstStyle/>
          <a:p>
            <a:pPr indent="0" marL="0">
              <a:buNone/>
            </a:pPr>
            <a:r>
              <a:rPr lang="en-US" sz="850" dirty="0">
                <a:solidFill>
                  <a:srgbClr val="CCFBF1"/>
                </a:solidFill>
                <a:latin typeface="Calibri" pitchFamily="34" charset="0"/>
                <a:ea typeface="Calibri" pitchFamily="34" charset="-122"/>
                <a:cs typeface="Calibri" pitchFamily="34" charset="-120"/>
              </a:rPr>
              <a:t>Structured 8-family groups. Facilitator tools. Anonymous posting option. Replaces Slack for community.</a:t>
            </a:r>
            <a:endParaRPr lang="en-US" sz="850" dirty="0"/>
          </a:p>
        </p:txBody>
      </p:sp>
      <p:sp>
        <p:nvSpPr>
          <p:cNvPr id="11" name="Shape 9"/>
          <p:cNvSpPr/>
          <p:nvPr/>
        </p:nvSpPr>
        <p:spPr>
          <a:xfrm>
            <a:off x="3236976" y="1755648"/>
            <a:ext cx="2651760" cy="1353312"/>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12" name="Text 10"/>
          <p:cNvSpPr/>
          <p:nvPr/>
        </p:nvSpPr>
        <p:spPr>
          <a:xfrm>
            <a:off x="3374136" y="1874520"/>
            <a:ext cx="2377440" cy="274320"/>
          </a:xfrm>
          <a:prstGeom prst="rect">
            <a:avLst/>
          </a:prstGeom>
          <a:noFill/>
          <a:ln/>
        </p:spPr>
        <p:txBody>
          <a:bodyPr wrap="square" lIns="0" tIns="0" rIns="0" bIns="0" rtlCol="0" anchor="ctr"/>
          <a:lstStyle/>
          <a:p>
            <a:pPr indent="0" marL="0">
              <a:buNone/>
            </a:pPr>
            <a:r>
              <a:rPr lang="en-US" sz="1300" b="1" dirty="0">
                <a:solidFill>
                  <a:srgbClr val="7C3AED"/>
                </a:solidFill>
                <a:latin typeface="Georgia" pitchFamily="34" charset="0"/>
                <a:ea typeface="Georgia" pitchFamily="34" charset="-122"/>
                <a:cs typeface="Georgia" pitchFamily="34" charset="-120"/>
              </a:rPr>
              <a:t>Calendly / Cal.com</a:t>
            </a:r>
            <a:endParaRPr lang="en-US" sz="1300" dirty="0"/>
          </a:p>
        </p:txBody>
      </p:sp>
      <p:sp>
        <p:nvSpPr>
          <p:cNvPr id="13" name="Text 11"/>
          <p:cNvSpPr/>
          <p:nvPr/>
        </p:nvSpPr>
        <p:spPr>
          <a:xfrm>
            <a:off x="3374136" y="2167128"/>
            <a:ext cx="237744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Circle meeting scheduling</a:t>
            </a:r>
            <a:endParaRPr lang="en-US" sz="900" dirty="0"/>
          </a:p>
        </p:txBody>
      </p:sp>
      <p:sp>
        <p:nvSpPr>
          <p:cNvPr id="14" name="Text 12"/>
          <p:cNvSpPr/>
          <p:nvPr/>
        </p:nvSpPr>
        <p:spPr>
          <a:xfrm>
            <a:off x="3374136" y="2395728"/>
            <a:ext cx="2377440" cy="62179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Auto-schedules monthly circle sessions. Self-hosted Cal.com for data sovereignty.</a:t>
            </a:r>
            <a:endParaRPr lang="en-US" sz="850" dirty="0"/>
          </a:p>
        </p:txBody>
      </p:sp>
      <p:sp>
        <p:nvSpPr>
          <p:cNvPr id="15" name="Shape 13"/>
          <p:cNvSpPr/>
          <p:nvPr/>
        </p:nvSpPr>
        <p:spPr>
          <a:xfrm>
            <a:off x="6089904" y="1755648"/>
            <a:ext cx="2651760" cy="1353312"/>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16" name="Text 14"/>
          <p:cNvSpPr/>
          <p:nvPr/>
        </p:nvSpPr>
        <p:spPr>
          <a:xfrm>
            <a:off x="6227064" y="1874520"/>
            <a:ext cx="2377440" cy="274320"/>
          </a:xfrm>
          <a:prstGeom prst="rect">
            <a:avLst/>
          </a:prstGeom>
          <a:noFill/>
          <a:ln/>
        </p:spPr>
        <p:txBody>
          <a:bodyPr wrap="square" lIns="0" tIns="0" rIns="0" bIns="0" rtlCol="0" anchor="ctr"/>
          <a:lstStyle/>
          <a:p>
            <a:pPr indent="0" marL="0">
              <a:buNone/>
            </a:pPr>
            <a:r>
              <a:rPr lang="en-US" sz="1300" b="1" dirty="0">
                <a:solidFill>
                  <a:srgbClr val="D97706"/>
                </a:solidFill>
                <a:latin typeface="Georgia" pitchFamily="34" charset="0"/>
                <a:ea typeface="Georgia" pitchFamily="34" charset="-122"/>
                <a:cs typeface="Georgia" pitchFamily="34" charset="-120"/>
              </a:rPr>
              <a:t>Luma</a:t>
            </a:r>
            <a:endParaRPr lang="en-US" sz="1300" dirty="0"/>
          </a:p>
        </p:txBody>
      </p:sp>
      <p:sp>
        <p:nvSpPr>
          <p:cNvPr id="17" name="Text 15"/>
          <p:cNvSpPr/>
          <p:nvPr/>
        </p:nvSpPr>
        <p:spPr>
          <a:xfrm>
            <a:off x="6227064" y="2167128"/>
            <a:ext cx="237744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City Zero community events</a:t>
            </a:r>
            <a:endParaRPr lang="en-US" sz="900" dirty="0"/>
          </a:p>
        </p:txBody>
      </p:sp>
      <p:sp>
        <p:nvSpPr>
          <p:cNvPr id="18" name="Text 16"/>
          <p:cNvSpPr/>
          <p:nvPr/>
        </p:nvSpPr>
        <p:spPr>
          <a:xfrm>
            <a:off x="6227064" y="2395728"/>
            <a:ext cx="2377440" cy="62179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In-person launch events. School nights. Employer launch days. RSVP tracking + reminder flows.</a:t>
            </a:r>
            <a:endParaRPr lang="en-US" sz="850" dirty="0"/>
          </a:p>
        </p:txBody>
      </p:sp>
      <p:sp>
        <p:nvSpPr>
          <p:cNvPr id="19" name="Shape 17"/>
          <p:cNvSpPr/>
          <p:nvPr/>
        </p:nvSpPr>
        <p:spPr>
          <a:xfrm>
            <a:off x="384048" y="3264408"/>
            <a:ext cx="2651760" cy="1353312"/>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20" name="Text 18"/>
          <p:cNvSpPr/>
          <p:nvPr/>
        </p:nvSpPr>
        <p:spPr>
          <a:xfrm>
            <a:off x="521208" y="3383280"/>
            <a:ext cx="2377440" cy="274320"/>
          </a:xfrm>
          <a:prstGeom prst="rect">
            <a:avLst/>
          </a:prstGeom>
          <a:noFill/>
          <a:ln/>
        </p:spPr>
        <p:txBody>
          <a:bodyPr wrap="square" lIns="0" tIns="0" rIns="0" bIns="0" rtlCol="0" anchor="ctr"/>
          <a:lstStyle/>
          <a:p>
            <a:pPr indent="0" marL="0">
              <a:buNone/>
            </a:pPr>
            <a:r>
              <a:rPr lang="en-US" sz="1300" b="1" dirty="0">
                <a:solidFill>
                  <a:srgbClr val="0F1F3D"/>
                </a:solidFill>
                <a:latin typeface="Georgia" pitchFamily="34" charset="0"/>
                <a:ea typeface="Georgia" pitchFamily="34" charset="-122"/>
                <a:cs typeface="Georgia" pitchFamily="34" charset="-120"/>
              </a:rPr>
              <a:t>Intercom (growth)</a:t>
            </a:r>
            <a:endParaRPr lang="en-US" sz="1300" dirty="0"/>
          </a:p>
        </p:txBody>
      </p:sp>
      <p:sp>
        <p:nvSpPr>
          <p:cNvPr id="21" name="Text 19"/>
          <p:cNvSpPr/>
          <p:nvPr/>
        </p:nvSpPr>
        <p:spPr>
          <a:xfrm>
            <a:off x="521208" y="3675888"/>
            <a:ext cx="237744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In-app support + community nudges</a:t>
            </a:r>
            <a:endParaRPr lang="en-US" sz="900" dirty="0"/>
          </a:p>
        </p:txBody>
      </p:sp>
      <p:sp>
        <p:nvSpPr>
          <p:cNvPr id="22" name="Text 20"/>
          <p:cNvSpPr/>
          <p:nvPr/>
        </p:nvSpPr>
        <p:spPr>
          <a:xfrm>
            <a:off x="521208" y="3904488"/>
            <a:ext cx="2377440" cy="62179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Day 5 partner invite nudge. Day 14 circle invitation. AI-assisted support tickets.</a:t>
            </a:r>
            <a:endParaRPr lang="en-US" sz="850" dirty="0"/>
          </a:p>
        </p:txBody>
      </p:sp>
      <p:sp>
        <p:nvSpPr>
          <p:cNvPr id="23" name="Shape 21"/>
          <p:cNvSpPr/>
          <p:nvPr/>
        </p:nvSpPr>
        <p:spPr>
          <a:xfrm>
            <a:off x="3236976" y="3264408"/>
            <a:ext cx="2651760" cy="1353312"/>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24" name="Text 22"/>
          <p:cNvSpPr/>
          <p:nvPr/>
        </p:nvSpPr>
        <p:spPr>
          <a:xfrm>
            <a:off x="3374136" y="3383280"/>
            <a:ext cx="2377440" cy="274320"/>
          </a:xfrm>
          <a:prstGeom prst="rect">
            <a:avLst/>
          </a:prstGeom>
          <a:noFill/>
          <a:ln/>
        </p:spPr>
        <p:txBody>
          <a:bodyPr wrap="square" lIns="0" tIns="0" rIns="0" bIns="0" rtlCol="0" anchor="ctr"/>
          <a:lstStyle/>
          <a:p>
            <a:pPr indent="0" marL="0">
              <a:buNone/>
            </a:pPr>
            <a:r>
              <a:rPr lang="en-US" sz="1300" b="1" dirty="0">
                <a:solidFill>
                  <a:srgbClr val="16A34A"/>
                </a:solidFill>
                <a:latin typeface="Georgia" pitchFamily="34" charset="0"/>
                <a:ea typeface="Georgia" pitchFamily="34" charset="-122"/>
                <a:cs typeface="Georgia" pitchFamily="34" charset="-120"/>
              </a:rPr>
              <a:t>Beehiiv</a:t>
            </a:r>
            <a:endParaRPr lang="en-US" sz="1300" dirty="0"/>
          </a:p>
        </p:txBody>
      </p:sp>
      <p:sp>
        <p:nvSpPr>
          <p:cNvPr id="25" name="Text 23"/>
          <p:cNvSpPr/>
          <p:nvPr/>
        </p:nvSpPr>
        <p:spPr>
          <a:xfrm>
            <a:off x="3374136" y="3675888"/>
            <a:ext cx="237744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Community newsletter</a:t>
            </a:r>
            <a:endParaRPr lang="en-US" sz="900" dirty="0"/>
          </a:p>
        </p:txBody>
      </p:sp>
      <p:sp>
        <p:nvSpPr>
          <p:cNvPr id="26" name="Text 24"/>
          <p:cNvSpPr/>
          <p:nvPr/>
        </p:nvSpPr>
        <p:spPr>
          <a:xfrm>
            <a:off x="3374136" y="3904488"/>
            <a:ext cx="2377440" cy="62179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Monthly family finance win stories. Anonymised circle highlights. Opt-in only. Builds brand affinity.</a:t>
            </a:r>
            <a:endParaRPr lang="en-US" sz="850" dirty="0"/>
          </a:p>
        </p:txBody>
      </p:sp>
      <p:sp>
        <p:nvSpPr>
          <p:cNvPr id="27" name="Shape 25"/>
          <p:cNvSpPr/>
          <p:nvPr/>
        </p:nvSpPr>
        <p:spPr>
          <a:xfrm>
            <a:off x="6089904" y="3264408"/>
            <a:ext cx="2651760" cy="1353312"/>
          </a:xfrm>
          <a:prstGeom prst="rect">
            <a:avLst/>
          </a:prstGeom>
          <a:solidFill>
            <a:srgbClr val="FFFFFF"/>
          </a:solidFill>
          <a:ln w="6350">
            <a:solidFill>
              <a:srgbClr val="E2E8F0"/>
            </a:solidFill>
            <a:prstDash val="solid"/>
          </a:ln>
          <a:effectLst>
            <a:outerShdw sx="100000" sy="100000" kx="0" ky="0" algn="bl" rotWithShape="0" blurRad="63500" dist="25400" dir="8100000">
              <a:srgbClr val="000000">
                <a:alpha val="8000"/>
              </a:srgbClr>
            </a:outerShdw>
          </a:effectLst>
        </p:spPr>
      </p:sp>
      <p:sp>
        <p:nvSpPr>
          <p:cNvPr id="28" name="Text 26"/>
          <p:cNvSpPr/>
          <p:nvPr/>
        </p:nvSpPr>
        <p:spPr>
          <a:xfrm>
            <a:off x="6227064" y="3383280"/>
            <a:ext cx="2377440" cy="274320"/>
          </a:xfrm>
          <a:prstGeom prst="rect">
            <a:avLst/>
          </a:prstGeom>
          <a:noFill/>
          <a:ln/>
        </p:spPr>
        <p:txBody>
          <a:bodyPr wrap="square" lIns="0" tIns="0" rIns="0" bIns="0" rtlCol="0" anchor="ctr"/>
          <a:lstStyle/>
          <a:p>
            <a:pPr indent="0" marL="0">
              <a:buNone/>
            </a:pPr>
            <a:r>
              <a:rPr lang="en-US" sz="1300" b="1" dirty="0">
                <a:solidFill>
                  <a:srgbClr val="E11D48"/>
                </a:solidFill>
                <a:latin typeface="Georgia" pitchFamily="34" charset="0"/>
                <a:ea typeface="Georgia" pitchFamily="34" charset="-122"/>
                <a:cs typeface="Georgia" pitchFamily="34" charset="-120"/>
              </a:rPr>
              <a:t>Airtable</a:t>
            </a:r>
            <a:endParaRPr lang="en-US" sz="1300" dirty="0"/>
          </a:p>
        </p:txBody>
      </p:sp>
      <p:sp>
        <p:nvSpPr>
          <p:cNvPr id="29" name="Text 27"/>
          <p:cNvSpPr/>
          <p:nvPr/>
        </p:nvSpPr>
        <p:spPr>
          <a:xfrm>
            <a:off x="6227064" y="3675888"/>
            <a:ext cx="2377440" cy="201168"/>
          </a:xfrm>
          <a:prstGeom prst="rect">
            <a:avLst/>
          </a:prstGeom>
          <a:noFill/>
          <a:ln/>
        </p:spPr>
        <p:txBody>
          <a:bodyPr wrap="square" lIns="0" tIns="0" rIns="0" bIns="0"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Community ops database</a:t>
            </a:r>
            <a:endParaRPr lang="en-US" sz="900" dirty="0"/>
          </a:p>
        </p:txBody>
      </p:sp>
      <p:sp>
        <p:nvSpPr>
          <p:cNvPr id="30" name="Text 28"/>
          <p:cNvSpPr/>
          <p:nvPr/>
        </p:nvSpPr>
        <p:spPr>
          <a:xfrm>
            <a:off x="6227064" y="3904488"/>
            <a:ext cx="2377440" cy="62179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Tracks all circles: facilitator, member count, health score, meeting cadence. CEO dashboard.</a:t>
            </a:r>
            <a:endParaRPr lang="en-US" sz="850" dirty="0"/>
          </a:p>
        </p:txBody>
      </p:sp>
      <p:sp>
        <p:nvSpPr>
          <p:cNvPr id="31" name="Shape 29"/>
          <p:cNvSpPr/>
          <p:nvPr/>
        </p:nvSpPr>
        <p:spPr>
          <a:xfrm>
            <a:off x="384048" y="4690872"/>
            <a:ext cx="8375904" cy="292608"/>
          </a:xfrm>
          <a:prstGeom prst="rect">
            <a:avLst/>
          </a:prstGeom>
          <a:solidFill>
            <a:srgbClr val="0F1F3D"/>
          </a:solidFill>
          <a:ln w="12700">
            <a:solidFill>
              <a:srgbClr val="0F1F3D"/>
            </a:solidFill>
            <a:prstDash val="solid"/>
          </a:ln>
        </p:spPr>
      </p:sp>
      <p:sp>
        <p:nvSpPr>
          <p:cNvPr id="32" name="Text 30"/>
          <p:cNvSpPr/>
          <p:nvPr/>
        </p:nvSpPr>
        <p:spPr>
          <a:xfrm>
            <a:off x="548640" y="4736592"/>
            <a:ext cx="8046720" cy="201168"/>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Churn without circle:  8.2%/mo  →  With circle (Month 3+):  1.6%/mo  →  Impact on LTV:  £3,200 → £5,800 per household</a:t>
            </a:r>
            <a:endParaRPr lang="en-US" sz="900" dirty="0"/>
          </a:p>
        </p:txBody>
      </p:sp>
      <p:sp>
        <p:nvSpPr>
          <p:cNvPr id="33" name="Text 31"/>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F3D"/>
          </a:solidFill>
          <a:ln w="12700">
            <a:solidFill>
              <a:srgbClr val="0F1F3D"/>
            </a:solidFill>
            <a:prstDash val="solid"/>
          </a:ln>
        </p:spPr>
      </p:sp>
      <p:sp>
        <p:nvSpPr>
          <p:cNvPr id="3" name="Shape 1"/>
          <p:cNvSpPr/>
          <p:nvPr/>
        </p:nvSpPr>
        <p:spPr>
          <a:xfrm>
            <a:off x="0" y="3840480"/>
            <a:ext cx="9144000" cy="1303020"/>
          </a:xfrm>
          <a:prstGeom prst="rect">
            <a:avLst/>
          </a:prstGeom>
          <a:solidFill>
            <a:srgbClr val="0D9488"/>
          </a:solidFill>
          <a:ln w="12700">
            <a:solidFill>
              <a:srgbClr val="0D9488"/>
            </a:solidFill>
            <a:prstDash val="solid"/>
          </a:ln>
        </p:spPr>
      </p:sp>
      <p:sp>
        <p:nvSpPr>
          <p:cNvPr id="4" name="Text 2"/>
          <p:cNvSpPr/>
          <p:nvPr/>
        </p:nvSpPr>
        <p:spPr>
          <a:xfrm>
            <a:off x="457200" y="274320"/>
            <a:ext cx="914400" cy="274320"/>
          </a:xfrm>
          <a:prstGeom prst="rect">
            <a:avLst/>
          </a:prstGeom>
          <a:noFill/>
          <a:ln/>
        </p:spPr>
        <p:txBody>
          <a:bodyPr wrap="square" rtlCol="0" anchor="ctr"/>
          <a:lstStyle/>
          <a:p>
            <a:pPr indent="0" marL="0">
              <a:buNone/>
            </a:pPr>
            <a:r>
              <a:rPr lang="en-US" sz="900" b="1" spc="400" kern="0" dirty="0">
                <a:solidFill>
                  <a:srgbClr val="F59E0B"/>
                </a:solidFill>
                <a:latin typeface="Calibri" pitchFamily="34" charset="0"/>
                <a:ea typeface="Calibri" pitchFamily="34" charset="-122"/>
                <a:cs typeface="Calibri" pitchFamily="34" charset="-120"/>
              </a:rPr>
              <a:t>§08</a:t>
            </a:r>
            <a:endParaRPr lang="en-US" sz="900" dirty="0"/>
          </a:p>
        </p:txBody>
      </p:sp>
      <p:sp>
        <p:nvSpPr>
          <p:cNvPr id="5" name="Text 3"/>
          <p:cNvSpPr/>
          <p:nvPr/>
        </p:nvSpPr>
        <p:spPr>
          <a:xfrm>
            <a:off x="457200" y="594360"/>
            <a:ext cx="8229600" cy="146304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The Model Works</a:t>
            </a:r>
            <a:endParaRPr lang="en-US" sz="4200" dirty="0"/>
          </a:p>
          <a:p>
            <a:pPr indent="0" marL="0">
              <a:buNone/>
            </a:pPr>
            <a:r>
              <a:rPr lang="en-US" sz="4200" b="1" dirty="0">
                <a:solidFill>
                  <a:srgbClr val="FFFFFF"/>
                </a:solidFill>
                <a:latin typeface="Georgia" pitchFamily="34" charset="0"/>
                <a:ea typeface="Georgia" pitchFamily="34" charset="-122"/>
                <a:cs typeface="Georgia" pitchFamily="34" charset="-120"/>
              </a:rPr>
              <a:t>Beyond Finance.</a:t>
            </a:r>
            <a:endParaRPr lang="en-US" sz="4200" dirty="0"/>
          </a:p>
        </p:txBody>
      </p:sp>
      <p:sp>
        <p:nvSpPr>
          <p:cNvPr id="6" name="Text 4"/>
          <p:cNvSpPr/>
          <p:nvPr/>
        </p:nvSpPr>
        <p:spPr>
          <a:xfrm>
            <a:off x="457200" y="2103120"/>
            <a:ext cx="8229600" cy="411480"/>
          </a:xfrm>
          <a:prstGeom prst="rect">
            <a:avLst/>
          </a:prstGeom>
          <a:noFill/>
          <a:ln/>
        </p:spPr>
        <p:txBody>
          <a:bodyPr wrap="square" rtlCol="0" anchor="ctr"/>
          <a:lstStyle/>
          <a:p>
            <a:pPr indent="0" marL="0">
              <a:buNone/>
            </a:pPr>
            <a:r>
              <a:rPr lang="en-US" sz="1700" dirty="0">
                <a:solidFill>
                  <a:srgbClr val="14B8A6"/>
                </a:solidFill>
                <a:latin typeface="Calibri" pitchFamily="34" charset="0"/>
                <a:ea typeface="Calibri" pitchFamily="34" charset="-122"/>
                <a:cs typeface="Calibri" pitchFamily="34" charset="-120"/>
              </a:rPr>
              <a:t>The FinFlow architecture is not a fintech product. It is a household operating system.</a:t>
            </a:r>
            <a:endParaRPr lang="en-US" sz="1700" dirty="0"/>
          </a:p>
        </p:txBody>
      </p:sp>
      <p:sp>
        <p:nvSpPr>
          <p:cNvPr id="7" name="Text 5"/>
          <p:cNvSpPr/>
          <p:nvPr/>
        </p:nvSpPr>
        <p:spPr>
          <a:xfrm>
            <a:off x="457200" y="2606040"/>
            <a:ext cx="8229600" cy="1051560"/>
          </a:xfrm>
          <a:prstGeom prst="rect">
            <a:avLst/>
          </a:prstGeom>
          <a:noFill/>
          <a:ln/>
        </p:spPr>
        <p:txBody>
          <a:bodyPr wrap="square"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Three structural assets make FinFlow transferable to any domain where households make high-stakes decisions together:
</a:t>
            </a:r>
            <a:pPr indent="0" marL="0">
              <a:buNone/>
            </a:pPr>
            <a:r>
              <a:rPr lang="en-US" sz="1150" b="1" dirty="0">
                <a:solidFill>
                  <a:srgbClr val="94A3B8"/>
                </a:solidFill>
                <a:latin typeface="Calibri" pitchFamily="34" charset="0"/>
                <a:ea typeface="Calibri" pitchFamily="34" charset="-122"/>
                <a:cs typeface="Calibri" pitchFamily="34" charset="-120"/>
              </a:rPr>
              <a:t>1. The Pulse Score engine</a:t>
            </a:r>
            <a:pPr indent="0" marL="0">
              <a:buNone/>
            </a:pPr>
            <a:r>
              <a:rPr lang="en-US" sz="1150" dirty="0">
                <a:solidFill>
                  <a:srgbClr val="94A3B8"/>
                </a:solidFill>
                <a:latin typeface="Calibri" pitchFamily="34" charset="0"/>
                <a:ea typeface="Calibri" pitchFamily="34" charset="-122"/>
                <a:cs typeface="Calibri" pitchFamily="34" charset="-120"/>
              </a:rPr>
              <a:t> — a composite health score built from behavioural time-series data.
</a:t>
            </a:r>
            <a:pPr indent="0" marL="0">
              <a:buNone/>
            </a:pPr>
            <a:r>
              <a:rPr lang="en-US" sz="1150" b="1" dirty="0">
                <a:solidFill>
                  <a:srgbClr val="94A3B8"/>
                </a:solidFill>
                <a:latin typeface="Calibri" pitchFamily="34" charset="0"/>
                <a:ea typeface="Calibri" pitchFamily="34" charset="-122"/>
                <a:cs typeface="Calibri" pitchFamily="34" charset="-120"/>
              </a:rPr>
              <a:t>2. The accountability circle format</a:t>
            </a:r>
            <a:pPr indent="0" marL="0">
              <a:buNone/>
            </a:pPr>
            <a:r>
              <a:rPr lang="en-US" sz="1150" dirty="0">
                <a:solidFill>
                  <a:srgbClr val="94A3B8"/>
                </a:solidFill>
                <a:latin typeface="Calibri" pitchFamily="34" charset="0"/>
                <a:ea typeface="Calibri" pitchFamily="34" charset="-122"/>
                <a:cs typeface="Calibri" pitchFamily="34" charset="-120"/>
              </a:rPr>
              <a:t> — 8-unit peer groups that drive retention through social commitment.
</a:t>
            </a:r>
            <a:pPr indent="0" marL="0">
              <a:buNone/>
            </a:pPr>
            <a:r>
              <a:rPr lang="en-US" sz="1150" b="1" dirty="0">
                <a:solidFill>
                  <a:srgbClr val="94A3B8"/>
                </a:solidFill>
                <a:latin typeface="Calibri" pitchFamily="34" charset="0"/>
                <a:ea typeface="Calibri" pitchFamily="34" charset="-122"/>
                <a:cs typeface="Calibri" pitchFamily="34" charset="-120"/>
              </a:rPr>
              <a:t>3. The institutional channel playbook</a:t>
            </a:r>
            <a:pPr indent="0" marL="0">
              <a:buNone/>
            </a:pPr>
            <a:r>
              <a:rPr lang="en-US" sz="1150" dirty="0">
                <a:solidFill>
                  <a:srgbClr val="94A3B8"/>
                </a:solidFill>
                <a:latin typeface="Calibri" pitchFamily="34" charset="0"/>
                <a:ea typeface="Calibri" pitchFamily="34" charset="-122"/>
                <a:cs typeface="Calibri" pitchFamily="34" charset="-120"/>
              </a:rPr>
              <a:t> — employer + school distribution at zero marginal CAC.</a:t>
            </a:r>
            <a:endParaRPr lang="en-US" sz="1150" dirty="0"/>
          </a:p>
        </p:txBody>
      </p:sp>
      <p:sp>
        <p:nvSpPr>
          <p:cNvPr id="8" name="Text 6"/>
          <p:cNvSpPr/>
          <p:nvPr/>
        </p:nvSpPr>
        <p:spPr>
          <a:xfrm>
            <a:off x="457200" y="3913632"/>
            <a:ext cx="82296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Each of the following new ventures is a standalone business — built on top of proven infrastructure.</a:t>
            </a:r>
            <a:endParaRPr lang="en-US" sz="1200" dirty="0"/>
          </a:p>
        </p:txBody>
      </p:sp>
      <p:sp>
        <p:nvSpPr>
          <p:cNvPr id="9" name="Text 7"/>
          <p:cNvSpPr/>
          <p:nvPr/>
        </p:nvSpPr>
        <p:spPr>
          <a:xfrm>
            <a:off x="457200" y="4343400"/>
            <a:ext cx="8229600" cy="320040"/>
          </a:xfrm>
          <a:prstGeom prst="rect">
            <a:avLst/>
          </a:prstGeom>
          <a:noFill/>
          <a:ln/>
        </p:spPr>
        <p:txBody>
          <a:bodyPr wrap="square" rtlCol="0" anchor="ctr"/>
          <a:lstStyle/>
          <a:p>
            <a:pPr indent="0" marL="0">
              <a:buNone/>
            </a:pPr>
            <a:r>
              <a:rPr lang="en-US" sz="1100" dirty="0">
                <a:solidFill>
                  <a:srgbClr val="CCFBF1"/>
                </a:solidFill>
                <a:latin typeface="Calibri" pitchFamily="34" charset="0"/>
                <a:ea typeface="Calibri" pitchFamily="34" charset="-122"/>
                <a:cs typeface="Calibri" pitchFamily="34" charset="-120"/>
              </a:rPr>
              <a:t>Same playbook. New domain. Compounding moat.</a:t>
            </a:r>
            <a:endParaRPr lang="en-US" sz="1100" dirty="0"/>
          </a:p>
        </p:txBody>
      </p:sp>
      <p:sp>
        <p:nvSpPr>
          <p:cNvPr id="10" name="Text 8"/>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§09 · NEW VENTURE BLUEPRINT</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Four New Businesses. One Architecture.</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384048" y="1170432"/>
            <a:ext cx="4114800" cy="175564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384048" y="1170432"/>
            <a:ext cx="73152" cy="1755648"/>
          </a:xfrm>
          <a:prstGeom prst="rect">
            <a:avLst/>
          </a:prstGeom>
          <a:solidFill>
            <a:srgbClr val="E11D48"/>
          </a:solidFill>
          <a:ln w="12700">
            <a:solidFill>
              <a:srgbClr val="E11D48"/>
            </a:solidFill>
            <a:prstDash val="solid"/>
          </a:ln>
        </p:spPr>
      </p:sp>
      <p:sp>
        <p:nvSpPr>
          <p:cNvPr id="7" name="Shape 5"/>
          <p:cNvSpPr/>
          <p:nvPr/>
        </p:nvSpPr>
        <p:spPr>
          <a:xfrm>
            <a:off x="548640" y="1335024"/>
            <a:ext cx="548640" cy="548640"/>
          </a:xfrm>
          <a:prstGeom prst="ellipse">
            <a:avLst/>
          </a:prstGeom>
          <a:solidFill>
            <a:srgbClr val="E11D48"/>
          </a:solidFill>
          <a:ln w="12700">
            <a:solidFill>
              <a:srgbClr val="E11D48"/>
            </a:solidFill>
            <a:prstDash val="solid"/>
          </a:ln>
        </p:spPr>
      </p:sp>
      <p:pic>
        <p:nvPicPr>
          <p:cNvPr id="8" name="Image 0" descr="preencoded.png">    </p:cNvPr>
          <p:cNvPicPr>
            <a:picLocks noChangeAspect="1"/>
          </p:cNvPicPr>
          <p:nvPr/>
        </p:nvPicPr>
        <p:blipFill>
          <a:blip r:embed="rId1"/>
          <a:stretch>
            <a:fillRect/>
          </a:stretch>
        </p:blipFill>
        <p:spPr>
          <a:xfrm>
            <a:off x="617220" y="1403604"/>
            <a:ext cx="411480" cy="411480"/>
          </a:xfrm>
          <a:prstGeom prst="rect">
            <a:avLst/>
          </a:prstGeom>
        </p:spPr>
      </p:pic>
      <p:sp>
        <p:nvSpPr>
          <p:cNvPr id="9" name="Text 6"/>
          <p:cNvSpPr/>
          <p:nvPr/>
        </p:nvSpPr>
        <p:spPr>
          <a:xfrm>
            <a:off x="1261872" y="1280160"/>
            <a:ext cx="548640" cy="219456"/>
          </a:xfrm>
          <a:prstGeom prst="rect">
            <a:avLst/>
          </a:prstGeom>
          <a:noFill/>
          <a:ln/>
        </p:spPr>
        <p:txBody>
          <a:bodyPr wrap="square" lIns="0" tIns="0" rIns="0" bIns="0" rtlCol="0" anchor="ctr"/>
          <a:lstStyle/>
          <a:p>
            <a:pPr indent="0" marL="0">
              <a:buNone/>
            </a:pPr>
            <a:r>
              <a:rPr lang="en-US" sz="900" b="1" spc="200" kern="0" dirty="0">
                <a:solidFill>
                  <a:srgbClr val="E11D48"/>
                </a:solidFill>
                <a:latin typeface="Calibri" pitchFamily="34" charset="0"/>
                <a:ea typeface="Calibri" pitchFamily="34" charset="-122"/>
                <a:cs typeface="Calibri" pitchFamily="34" charset="-120"/>
              </a:rPr>
              <a:t>NV01</a:t>
            </a:r>
            <a:endParaRPr lang="en-US" sz="900" dirty="0"/>
          </a:p>
        </p:txBody>
      </p:sp>
      <p:sp>
        <p:nvSpPr>
          <p:cNvPr id="10" name="Text 7"/>
          <p:cNvSpPr/>
          <p:nvPr/>
        </p:nvSpPr>
        <p:spPr>
          <a:xfrm>
            <a:off x="1261872" y="1472184"/>
            <a:ext cx="2011680" cy="320040"/>
          </a:xfrm>
          <a:prstGeom prst="rect">
            <a:avLst/>
          </a:prstGeom>
          <a:noFill/>
          <a:ln/>
        </p:spPr>
        <p:txBody>
          <a:bodyPr wrap="square" lIns="0" tIns="0" rIns="0" bIns="0" rtlCol="0" anchor="ctr"/>
          <a:lstStyle/>
          <a:p>
            <a:pPr indent="0" marL="0">
              <a:buNone/>
            </a:pPr>
            <a:r>
              <a:rPr lang="en-US" sz="1800" b="1" dirty="0">
                <a:solidFill>
                  <a:srgbClr val="0F1F3D"/>
                </a:solidFill>
                <a:latin typeface="Georgia" pitchFamily="34" charset="0"/>
                <a:ea typeface="Georgia" pitchFamily="34" charset="-122"/>
                <a:cs typeface="Georgia" pitchFamily="34" charset="-120"/>
              </a:rPr>
              <a:t>WellFlow</a:t>
            </a:r>
            <a:endParaRPr lang="en-US" sz="1800" dirty="0"/>
          </a:p>
        </p:txBody>
      </p:sp>
      <p:sp>
        <p:nvSpPr>
          <p:cNvPr id="11" name="Shape 8"/>
          <p:cNvSpPr/>
          <p:nvPr/>
        </p:nvSpPr>
        <p:spPr>
          <a:xfrm>
            <a:off x="3310128" y="1353312"/>
            <a:ext cx="1005840" cy="237744"/>
          </a:xfrm>
          <a:prstGeom prst="rect">
            <a:avLst/>
          </a:prstGeom>
          <a:solidFill>
            <a:srgbClr val="E11D48"/>
          </a:solidFill>
          <a:ln w="12700">
            <a:solidFill>
              <a:srgbClr val="E11D48"/>
            </a:solidFill>
            <a:prstDash val="solid"/>
          </a:ln>
        </p:spPr>
      </p:sp>
      <p:sp>
        <p:nvSpPr>
          <p:cNvPr id="12" name="Text 9"/>
          <p:cNvSpPr/>
          <p:nvPr/>
        </p:nvSpPr>
        <p:spPr>
          <a:xfrm>
            <a:off x="3310128" y="1362456"/>
            <a:ext cx="10058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TAM: £280B</a:t>
            </a:r>
            <a:endParaRPr lang="en-US" sz="900" dirty="0"/>
          </a:p>
        </p:txBody>
      </p:sp>
      <p:sp>
        <p:nvSpPr>
          <p:cNvPr id="13" name="Text 10"/>
          <p:cNvSpPr/>
          <p:nvPr/>
        </p:nvSpPr>
        <p:spPr>
          <a:xfrm>
            <a:off x="1261872" y="1792224"/>
            <a:ext cx="3017520" cy="201168"/>
          </a:xfrm>
          <a:prstGeom prst="rect">
            <a:avLst/>
          </a:prstGeom>
          <a:noFill/>
          <a:ln/>
        </p:spPr>
        <p:txBody>
          <a:bodyPr wrap="square" lIns="0" tIns="0" rIns="0" bIns="0"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Family Health OS</a:t>
            </a:r>
            <a:endParaRPr lang="en-US" sz="900" dirty="0"/>
          </a:p>
        </p:txBody>
      </p:sp>
      <p:sp>
        <p:nvSpPr>
          <p:cNvPr id="14" name="Text 11"/>
          <p:cNvSpPr/>
          <p:nvPr/>
        </p:nvSpPr>
        <p:spPr>
          <a:xfrm>
            <a:off x="548640" y="2011680"/>
            <a:ext cx="3749040" cy="219456"/>
          </a:xfrm>
          <a:prstGeom prst="rect">
            <a:avLst/>
          </a:prstGeom>
          <a:noFill/>
          <a:ln/>
        </p:spPr>
        <p:txBody>
          <a:bodyPr wrap="square" lIns="0" tIns="0" rIns="0" bIns="0" rtlCol="0" anchor="ctr"/>
          <a:lstStyle/>
          <a:p>
            <a:pPr indent="0" marL="0">
              <a:buNone/>
            </a:pPr>
            <a:r>
              <a:rPr lang="en-US" sz="950" b="1" dirty="0">
                <a:solidFill>
                  <a:srgbClr val="0F1F3D"/>
                </a:solidFill>
                <a:latin typeface="Calibri" pitchFamily="34" charset="0"/>
                <a:ea typeface="Calibri" pitchFamily="34" charset="-122"/>
                <a:cs typeface="Calibri" pitchFamily="34" charset="-120"/>
              </a:rPr>
              <a:t>The Pulse Score for household health decisions.</a:t>
            </a:r>
            <a:endParaRPr lang="en-US" sz="950" dirty="0"/>
          </a:p>
        </p:txBody>
      </p:sp>
      <p:sp>
        <p:nvSpPr>
          <p:cNvPr id="15" name="Text 12"/>
          <p:cNvSpPr/>
          <p:nvPr/>
        </p:nvSpPr>
        <p:spPr>
          <a:xfrm>
            <a:off x="548640" y="2249424"/>
            <a:ext cx="374904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Chronic disease costs the NHS £98B/year. 80% is preventable. No product coordinates family health behaviour — diet, exercise, sleep, appointments — in one household view.</a:t>
            </a:r>
            <a:endParaRPr lang="en-US" sz="850" dirty="0"/>
          </a:p>
        </p:txBody>
      </p:sp>
      <p:sp>
        <p:nvSpPr>
          <p:cNvPr id="16" name="Shape 13"/>
          <p:cNvSpPr/>
          <p:nvPr/>
        </p:nvSpPr>
        <p:spPr>
          <a:xfrm>
            <a:off x="4773168" y="1170432"/>
            <a:ext cx="4114800" cy="175564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7" name="Shape 14"/>
          <p:cNvSpPr/>
          <p:nvPr/>
        </p:nvSpPr>
        <p:spPr>
          <a:xfrm>
            <a:off x="4773168" y="1170432"/>
            <a:ext cx="73152" cy="1755648"/>
          </a:xfrm>
          <a:prstGeom prst="rect">
            <a:avLst/>
          </a:prstGeom>
          <a:solidFill>
            <a:srgbClr val="7C3AED"/>
          </a:solidFill>
          <a:ln w="12700">
            <a:solidFill>
              <a:srgbClr val="7C3AED"/>
            </a:solidFill>
            <a:prstDash val="solid"/>
          </a:ln>
        </p:spPr>
      </p:sp>
      <p:sp>
        <p:nvSpPr>
          <p:cNvPr id="18" name="Shape 15"/>
          <p:cNvSpPr/>
          <p:nvPr/>
        </p:nvSpPr>
        <p:spPr>
          <a:xfrm>
            <a:off x="4937760" y="1335024"/>
            <a:ext cx="548640" cy="548640"/>
          </a:xfrm>
          <a:prstGeom prst="ellipse">
            <a:avLst/>
          </a:prstGeom>
          <a:solidFill>
            <a:srgbClr val="7C3AED"/>
          </a:solidFill>
          <a:ln w="12700">
            <a:solidFill>
              <a:srgbClr val="7C3AED"/>
            </a:solidFill>
            <a:prstDash val="solid"/>
          </a:ln>
        </p:spPr>
      </p:sp>
      <p:pic>
        <p:nvPicPr>
          <p:cNvPr id="19" name="Image 1" descr="preencoded.png">    </p:cNvPr>
          <p:cNvPicPr>
            <a:picLocks noChangeAspect="1"/>
          </p:cNvPicPr>
          <p:nvPr/>
        </p:nvPicPr>
        <p:blipFill>
          <a:blip r:embed="rId2"/>
          <a:stretch>
            <a:fillRect/>
          </a:stretch>
        </p:blipFill>
        <p:spPr>
          <a:xfrm>
            <a:off x="5006340" y="1403604"/>
            <a:ext cx="411480" cy="411480"/>
          </a:xfrm>
          <a:prstGeom prst="rect">
            <a:avLst/>
          </a:prstGeom>
        </p:spPr>
      </p:pic>
      <p:sp>
        <p:nvSpPr>
          <p:cNvPr id="20" name="Text 16"/>
          <p:cNvSpPr/>
          <p:nvPr/>
        </p:nvSpPr>
        <p:spPr>
          <a:xfrm>
            <a:off x="5650992" y="1280160"/>
            <a:ext cx="548640" cy="219456"/>
          </a:xfrm>
          <a:prstGeom prst="rect">
            <a:avLst/>
          </a:prstGeom>
          <a:noFill/>
          <a:ln/>
        </p:spPr>
        <p:txBody>
          <a:bodyPr wrap="square" lIns="0" tIns="0" rIns="0" bIns="0" rtlCol="0" anchor="ctr"/>
          <a:lstStyle/>
          <a:p>
            <a:pPr indent="0" marL="0">
              <a:buNone/>
            </a:pPr>
            <a:r>
              <a:rPr lang="en-US" sz="900" b="1" spc="200" kern="0" dirty="0">
                <a:solidFill>
                  <a:srgbClr val="7C3AED"/>
                </a:solidFill>
                <a:latin typeface="Calibri" pitchFamily="34" charset="0"/>
                <a:ea typeface="Calibri" pitchFamily="34" charset="-122"/>
                <a:cs typeface="Calibri" pitchFamily="34" charset="-120"/>
              </a:rPr>
              <a:t>NV02</a:t>
            </a:r>
            <a:endParaRPr lang="en-US" sz="900" dirty="0"/>
          </a:p>
        </p:txBody>
      </p:sp>
      <p:sp>
        <p:nvSpPr>
          <p:cNvPr id="21" name="Text 17"/>
          <p:cNvSpPr/>
          <p:nvPr/>
        </p:nvSpPr>
        <p:spPr>
          <a:xfrm>
            <a:off x="5650992" y="1472184"/>
            <a:ext cx="2011680" cy="320040"/>
          </a:xfrm>
          <a:prstGeom prst="rect">
            <a:avLst/>
          </a:prstGeom>
          <a:noFill/>
          <a:ln/>
        </p:spPr>
        <p:txBody>
          <a:bodyPr wrap="square" lIns="0" tIns="0" rIns="0" bIns="0" rtlCol="0" anchor="ctr"/>
          <a:lstStyle/>
          <a:p>
            <a:pPr indent="0" marL="0">
              <a:buNone/>
            </a:pPr>
            <a:r>
              <a:rPr lang="en-US" sz="1800" b="1" dirty="0">
                <a:solidFill>
                  <a:srgbClr val="0F1F3D"/>
                </a:solidFill>
                <a:latin typeface="Georgia" pitchFamily="34" charset="0"/>
                <a:ea typeface="Georgia" pitchFamily="34" charset="-122"/>
                <a:cs typeface="Georgia" pitchFamily="34" charset="-120"/>
              </a:rPr>
              <a:t>LearnFlow</a:t>
            </a:r>
            <a:endParaRPr lang="en-US" sz="1800" dirty="0"/>
          </a:p>
        </p:txBody>
      </p:sp>
      <p:sp>
        <p:nvSpPr>
          <p:cNvPr id="22" name="Shape 18"/>
          <p:cNvSpPr/>
          <p:nvPr/>
        </p:nvSpPr>
        <p:spPr>
          <a:xfrm>
            <a:off x="7699248" y="1353312"/>
            <a:ext cx="1005840" cy="237744"/>
          </a:xfrm>
          <a:prstGeom prst="rect">
            <a:avLst/>
          </a:prstGeom>
          <a:solidFill>
            <a:srgbClr val="7C3AED"/>
          </a:solidFill>
          <a:ln w="12700">
            <a:solidFill>
              <a:srgbClr val="7C3AED"/>
            </a:solidFill>
            <a:prstDash val="solid"/>
          </a:ln>
        </p:spPr>
      </p:sp>
      <p:sp>
        <p:nvSpPr>
          <p:cNvPr id="23" name="Text 19"/>
          <p:cNvSpPr/>
          <p:nvPr/>
        </p:nvSpPr>
        <p:spPr>
          <a:xfrm>
            <a:off x="7699248" y="1362456"/>
            <a:ext cx="10058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TAM: £180B</a:t>
            </a:r>
            <a:endParaRPr lang="en-US" sz="900" dirty="0"/>
          </a:p>
        </p:txBody>
      </p:sp>
      <p:sp>
        <p:nvSpPr>
          <p:cNvPr id="24" name="Text 20"/>
          <p:cNvSpPr/>
          <p:nvPr/>
        </p:nvSpPr>
        <p:spPr>
          <a:xfrm>
            <a:off x="5650992" y="1792224"/>
            <a:ext cx="3017520" cy="201168"/>
          </a:xfrm>
          <a:prstGeom prst="rect">
            <a:avLst/>
          </a:prstGeom>
          <a:noFill/>
          <a:ln/>
        </p:spPr>
        <p:txBody>
          <a:bodyPr wrap="square" lIns="0" tIns="0" rIns="0" bIns="0"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Family Education OS</a:t>
            </a:r>
            <a:endParaRPr lang="en-US" sz="900" dirty="0"/>
          </a:p>
        </p:txBody>
      </p:sp>
      <p:sp>
        <p:nvSpPr>
          <p:cNvPr id="25" name="Text 21"/>
          <p:cNvSpPr/>
          <p:nvPr/>
        </p:nvSpPr>
        <p:spPr>
          <a:xfrm>
            <a:off x="4937760" y="2011680"/>
            <a:ext cx="3749040" cy="219456"/>
          </a:xfrm>
          <a:prstGeom prst="rect">
            <a:avLst/>
          </a:prstGeom>
          <a:noFill/>
          <a:ln/>
        </p:spPr>
        <p:txBody>
          <a:bodyPr wrap="square" lIns="0" tIns="0" rIns="0" bIns="0" rtlCol="0" anchor="ctr"/>
          <a:lstStyle/>
          <a:p>
            <a:pPr indent="0" marL="0">
              <a:buNone/>
            </a:pPr>
            <a:r>
              <a:rPr lang="en-US" sz="950" b="1" dirty="0">
                <a:solidFill>
                  <a:srgbClr val="0F1F3D"/>
                </a:solidFill>
                <a:latin typeface="Calibri" pitchFamily="34" charset="0"/>
                <a:ea typeface="Calibri" pitchFamily="34" charset="-122"/>
                <a:cs typeface="Calibri" pitchFamily="34" charset="-120"/>
              </a:rPr>
              <a:t>Accountability circles for children's academic progress.</a:t>
            </a:r>
            <a:endParaRPr lang="en-US" sz="950" dirty="0"/>
          </a:p>
        </p:txBody>
      </p:sp>
      <p:sp>
        <p:nvSpPr>
          <p:cNvPr id="26" name="Text 22"/>
          <p:cNvSpPr/>
          <p:nvPr/>
        </p:nvSpPr>
        <p:spPr>
          <a:xfrm>
            <a:off x="4937760" y="2249424"/>
            <a:ext cx="374904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82% of UK parents feel unable to effectively support their child's education at home. School → parent → child coordination is broken. LearnFlow is the household OS for learning outcomes.</a:t>
            </a:r>
            <a:endParaRPr lang="en-US" sz="850" dirty="0"/>
          </a:p>
        </p:txBody>
      </p:sp>
      <p:sp>
        <p:nvSpPr>
          <p:cNvPr id="27" name="Shape 23"/>
          <p:cNvSpPr/>
          <p:nvPr/>
        </p:nvSpPr>
        <p:spPr>
          <a:xfrm>
            <a:off x="384048" y="3090672"/>
            <a:ext cx="4114800" cy="175564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8" name="Shape 24"/>
          <p:cNvSpPr/>
          <p:nvPr/>
        </p:nvSpPr>
        <p:spPr>
          <a:xfrm>
            <a:off x="384048" y="3090672"/>
            <a:ext cx="73152" cy="1755648"/>
          </a:xfrm>
          <a:prstGeom prst="rect">
            <a:avLst/>
          </a:prstGeom>
          <a:solidFill>
            <a:srgbClr val="D97706"/>
          </a:solidFill>
          <a:ln w="12700">
            <a:solidFill>
              <a:srgbClr val="D97706"/>
            </a:solidFill>
            <a:prstDash val="solid"/>
          </a:ln>
        </p:spPr>
      </p:sp>
      <p:sp>
        <p:nvSpPr>
          <p:cNvPr id="29" name="Shape 25"/>
          <p:cNvSpPr/>
          <p:nvPr/>
        </p:nvSpPr>
        <p:spPr>
          <a:xfrm>
            <a:off x="548640" y="3255264"/>
            <a:ext cx="548640" cy="548640"/>
          </a:xfrm>
          <a:prstGeom prst="ellipse">
            <a:avLst/>
          </a:prstGeom>
          <a:solidFill>
            <a:srgbClr val="D97706"/>
          </a:solidFill>
          <a:ln w="12700">
            <a:solidFill>
              <a:srgbClr val="D97706"/>
            </a:solidFill>
            <a:prstDash val="solid"/>
          </a:ln>
        </p:spPr>
      </p:sp>
      <p:pic>
        <p:nvPicPr>
          <p:cNvPr id="30" name="Image 2" descr="preencoded.png">    </p:cNvPr>
          <p:cNvPicPr>
            <a:picLocks noChangeAspect="1"/>
          </p:cNvPicPr>
          <p:nvPr/>
        </p:nvPicPr>
        <p:blipFill>
          <a:blip r:embed="rId3"/>
          <a:stretch>
            <a:fillRect/>
          </a:stretch>
        </p:blipFill>
        <p:spPr>
          <a:xfrm>
            <a:off x="617220" y="3323844"/>
            <a:ext cx="411480" cy="411480"/>
          </a:xfrm>
          <a:prstGeom prst="rect">
            <a:avLst/>
          </a:prstGeom>
        </p:spPr>
      </p:pic>
      <p:sp>
        <p:nvSpPr>
          <p:cNvPr id="31" name="Text 26"/>
          <p:cNvSpPr/>
          <p:nvPr/>
        </p:nvSpPr>
        <p:spPr>
          <a:xfrm>
            <a:off x="1261872" y="3200400"/>
            <a:ext cx="548640" cy="219456"/>
          </a:xfrm>
          <a:prstGeom prst="rect">
            <a:avLst/>
          </a:prstGeom>
          <a:noFill/>
          <a:ln/>
        </p:spPr>
        <p:txBody>
          <a:bodyPr wrap="square" lIns="0" tIns="0" rIns="0" bIns="0" rtlCol="0" anchor="ctr"/>
          <a:lstStyle/>
          <a:p>
            <a:pPr indent="0" marL="0">
              <a:buNone/>
            </a:pPr>
            <a:r>
              <a:rPr lang="en-US" sz="900" b="1" spc="200" kern="0" dirty="0">
                <a:solidFill>
                  <a:srgbClr val="D97706"/>
                </a:solidFill>
                <a:latin typeface="Calibri" pitchFamily="34" charset="0"/>
                <a:ea typeface="Calibri" pitchFamily="34" charset="-122"/>
                <a:cs typeface="Calibri" pitchFamily="34" charset="-120"/>
              </a:rPr>
              <a:t>NV03</a:t>
            </a:r>
            <a:endParaRPr lang="en-US" sz="900" dirty="0"/>
          </a:p>
        </p:txBody>
      </p:sp>
      <p:sp>
        <p:nvSpPr>
          <p:cNvPr id="32" name="Text 27"/>
          <p:cNvSpPr/>
          <p:nvPr/>
        </p:nvSpPr>
        <p:spPr>
          <a:xfrm>
            <a:off x="1261872" y="3392424"/>
            <a:ext cx="2011680" cy="320040"/>
          </a:xfrm>
          <a:prstGeom prst="rect">
            <a:avLst/>
          </a:prstGeom>
          <a:noFill/>
          <a:ln/>
        </p:spPr>
        <p:txBody>
          <a:bodyPr wrap="square" lIns="0" tIns="0" rIns="0" bIns="0" rtlCol="0" anchor="ctr"/>
          <a:lstStyle/>
          <a:p>
            <a:pPr indent="0" marL="0">
              <a:buNone/>
            </a:pPr>
            <a:r>
              <a:rPr lang="en-US" sz="1800" b="1" dirty="0">
                <a:solidFill>
                  <a:srgbClr val="0F1F3D"/>
                </a:solidFill>
                <a:latin typeface="Georgia" pitchFamily="34" charset="0"/>
                <a:ea typeface="Georgia" pitchFamily="34" charset="-122"/>
                <a:cs typeface="Georgia" pitchFamily="34" charset="-120"/>
              </a:rPr>
              <a:t>CareFlow</a:t>
            </a:r>
            <a:endParaRPr lang="en-US" sz="1800" dirty="0"/>
          </a:p>
        </p:txBody>
      </p:sp>
      <p:sp>
        <p:nvSpPr>
          <p:cNvPr id="33" name="Shape 28"/>
          <p:cNvSpPr/>
          <p:nvPr/>
        </p:nvSpPr>
        <p:spPr>
          <a:xfrm>
            <a:off x="3310128" y="3273552"/>
            <a:ext cx="1005840" cy="237744"/>
          </a:xfrm>
          <a:prstGeom prst="rect">
            <a:avLst/>
          </a:prstGeom>
          <a:solidFill>
            <a:srgbClr val="D97706"/>
          </a:solidFill>
          <a:ln w="12700">
            <a:solidFill>
              <a:srgbClr val="D97706"/>
            </a:solidFill>
            <a:prstDash val="solid"/>
          </a:ln>
        </p:spPr>
      </p:sp>
      <p:sp>
        <p:nvSpPr>
          <p:cNvPr id="34" name="Text 29"/>
          <p:cNvSpPr/>
          <p:nvPr/>
        </p:nvSpPr>
        <p:spPr>
          <a:xfrm>
            <a:off x="3310128" y="3282696"/>
            <a:ext cx="10058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TAM: £320B</a:t>
            </a:r>
            <a:endParaRPr lang="en-US" sz="900" dirty="0"/>
          </a:p>
        </p:txBody>
      </p:sp>
      <p:sp>
        <p:nvSpPr>
          <p:cNvPr id="35" name="Text 30"/>
          <p:cNvSpPr/>
          <p:nvPr/>
        </p:nvSpPr>
        <p:spPr>
          <a:xfrm>
            <a:off x="1261872" y="3712464"/>
            <a:ext cx="3017520" cy="201168"/>
          </a:xfrm>
          <a:prstGeom prst="rect">
            <a:avLst/>
          </a:prstGeom>
          <a:noFill/>
          <a:ln/>
        </p:spPr>
        <p:txBody>
          <a:bodyPr wrap="square" lIns="0" tIns="0" rIns="0" bIns="0"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Elderly Care OS</a:t>
            </a:r>
            <a:endParaRPr lang="en-US" sz="900" dirty="0"/>
          </a:p>
        </p:txBody>
      </p:sp>
      <p:sp>
        <p:nvSpPr>
          <p:cNvPr id="36" name="Text 31"/>
          <p:cNvSpPr/>
          <p:nvPr/>
        </p:nvSpPr>
        <p:spPr>
          <a:xfrm>
            <a:off x="548640" y="3931920"/>
            <a:ext cx="3749040" cy="219456"/>
          </a:xfrm>
          <a:prstGeom prst="rect">
            <a:avLst/>
          </a:prstGeom>
          <a:noFill/>
          <a:ln/>
        </p:spPr>
        <p:txBody>
          <a:bodyPr wrap="square" lIns="0" tIns="0" rIns="0" bIns="0" rtlCol="0" anchor="ctr"/>
          <a:lstStyle/>
          <a:p>
            <a:pPr indent="0" marL="0">
              <a:buNone/>
            </a:pPr>
            <a:r>
              <a:rPr lang="en-US" sz="950" b="1" dirty="0">
                <a:solidFill>
                  <a:srgbClr val="0F1F3D"/>
                </a:solidFill>
                <a:latin typeface="Calibri" pitchFamily="34" charset="0"/>
                <a:ea typeface="Calibri" pitchFamily="34" charset="-122"/>
                <a:cs typeface="Calibri" pitchFamily="34" charset="-120"/>
              </a:rPr>
              <a:t>The family coordination layer for aging parents.</a:t>
            </a:r>
            <a:endParaRPr lang="en-US" sz="950" dirty="0"/>
          </a:p>
        </p:txBody>
      </p:sp>
      <p:sp>
        <p:nvSpPr>
          <p:cNvPr id="37" name="Text 32"/>
          <p:cNvSpPr/>
          <p:nvPr/>
        </p:nvSpPr>
        <p:spPr>
          <a:xfrm>
            <a:off x="548640" y="4169664"/>
            <a:ext cx="374904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14M UK adults are informal carers for aging relatives. Decisions about care are made by dispersed family members with no shared view, no coordination tool, and no health score. Fastest growing household stress category.</a:t>
            </a:r>
            <a:endParaRPr lang="en-US" sz="850" dirty="0"/>
          </a:p>
        </p:txBody>
      </p:sp>
      <p:sp>
        <p:nvSpPr>
          <p:cNvPr id="38" name="Shape 33"/>
          <p:cNvSpPr/>
          <p:nvPr/>
        </p:nvSpPr>
        <p:spPr>
          <a:xfrm>
            <a:off x="4773168" y="3090672"/>
            <a:ext cx="4114800" cy="175564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9" name="Shape 34"/>
          <p:cNvSpPr/>
          <p:nvPr/>
        </p:nvSpPr>
        <p:spPr>
          <a:xfrm>
            <a:off x="4773168" y="3090672"/>
            <a:ext cx="73152" cy="1755648"/>
          </a:xfrm>
          <a:prstGeom prst="rect">
            <a:avLst/>
          </a:prstGeom>
          <a:solidFill>
            <a:srgbClr val="0D9488"/>
          </a:solidFill>
          <a:ln w="12700">
            <a:solidFill>
              <a:srgbClr val="0D9488"/>
            </a:solidFill>
            <a:prstDash val="solid"/>
          </a:ln>
        </p:spPr>
      </p:sp>
      <p:sp>
        <p:nvSpPr>
          <p:cNvPr id="40" name="Shape 35"/>
          <p:cNvSpPr/>
          <p:nvPr/>
        </p:nvSpPr>
        <p:spPr>
          <a:xfrm>
            <a:off x="4937760" y="3255264"/>
            <a:ext cx="548640" cy="548640"/>
          </a:xfrm>
          <a:prstGeom prst="ellipse">
            <a:avLst/>
          </a:prstGeom>
          <a:solidFill>
            <a:srgbClr val="0D9488"/>
          </a:solidFill>
          <a:ln w="12700">
            <a:solidFill>
              <a:srgbClr val="0D9488"/>
            </a:solidFill>
            <a:prstDash val="solid"/>
          </a:ln>
        </p:spPr>
      </p:sp>
      <p:pic>
        <p:nvPicPr>
          <p:cNvPr id="41" name="Image 3" descr="preencoded.png">    </p:cNvPr>
          <p:cNvPicPr>
            <a:picLocks noChangeAspect="1"/>
          </p:cNvPicPr>
          <p:nvPr/>
        </p:nvPicPr>
        <p:blipFill>
          <a:blip r:embed="rId4"/>
          <a:stretch>
            <a:fillRect/>
          </a:stretch>
        </p:blipFill>
        <p:spPr>
          <a:xfrm>
            <a:off x="5006340" y="3323844"/>
            <a:ext cx="411480" cy="411480"/>
          </a:xfrm>
          <a:prstGeom prst="rect">
            <a:avLst/>
          </a:prstGeom>
        </p:spPr>
      </p:pic>
      <p:sp>
        <p:nvSpPr>
          <p:cNvPr id="42" name="Text 36"/>
          <p:cNvSpPr/>
          <p:nvPr/>
        </p:nvSpPr>
        <p:spPr>
          <a:xfrm>
            <a:off x="5650992" y="3200400"/>
            <a:ext cx="548640" cy="219456"/>
          </a:xfrm>
          <a:prstGeom prst="rect">
            <a:avLst/>
          </a:prstGeom>
          <a:noFill/>
          <a:ln/>
        </p:spPr>
        <p:txBody>
          <a:bodyPr wrap="square" lIns="0" tIns="0" rIns="0" bIns="0" rtlCol="0" anchor="ctr"/>
          <a:lstStyle/>
          <a:p>
            <a:pPr indent="0" marL="0">
              <a:buNone/>
            </a:pPr>
            <a:r>
              <a:rPr lang="en-US" sz="900" b="1" spc="200" kern="0" dirty="0">
                <a:solidFill>
                  <a:srgbClr val="0D9488"/>
                </a:solidFill>
                <a:latin typeface="Calibri" pitchFamily="34" charset="0"/>
                <a:ea typeface="Calibri" pitchFamily="34" charset="-122"/>
                <a:cs typeface="Calibri" pitchFamily="34" charset="-120"/>
              </a:rPr>
              <a:t>NV04</a:t>
            </a:r>
            <a:endParaRPr lang="en-US" sz="900" dirty="0"/>
          </a:p>
        </p:txBody>
      </p:sp>
      <p:sp>
        <p:nvSpPr>
          <p:cNvPr id="43" name="Text 37"/>
          <p:cNvSpPr/>
          <p:nvPr/>
        </p:nvSpPr>
        <p:spPr>
          <a:xfrm>
            <a:off x="5650992" y="3392424"/>
            <a:ext cx="2011680" cy="320040"/>
          </a:xfrm>
          <a:prstGeom prst="rect">
            <a:avLst/>
          </a:prstGeom>
          <a:noFill/>
          <a:ln/>
        </p:spPr>
        <p:txBody>
          <a:bodyPr wrap="square" lIns="0" tIns="0" rIns="0" bIns="0" rtlCol="0" anchor="ctr"/>
          <a:lstStyle/>
          <a:p>
            <a:pPr indent="0" marL="0">
              <a:buNone/>
            </a:pPr>
            <a:r>
              <a:rPr lang="en-US" sz="1800" b="1" dirty="0">
                <a:solidFill>
                  <a:srgbClr val="0F1F3D"/>
                </a:solidFill>
                <a:latin typeface="Georgia" pitchFamily="34" charset="0"/>
                <a:ea typeface="Georgia" pitchFamily="34" charset="-122"/>
                <a:cs typeface="Georgia" pitchFamily="34" charset="-120"/>
              </a:rPr>
              <a:t>PulseScore B2B</a:t>
            </a:r>
            <a:endParaRPr lang="en-US" sz="1800" dirty="0"/>
          </a:p>
        </p:txBody>
      </p:sp>
      <p:sp>
        <p:nvSpPr>
          <p:cNvPr id="44" name="Shape 38"/>
          <p:cNvSpPr/>
          <p:nvPr/>
        </p:nvSpPr>
        <p:spPr>
          <a:xfrm>
            <a:off x="7699248" y="3273552"/>
            <a:ext cx="1005840" cy="237744"/>
          </a:xfrm>
          <a:prstGeom prst="rect">
            <a:avLst/>
          </a:prstGeom>
          <a:solidFill>
            <a:srgbClr val="0D9488"/>
          </a:solidFill>
          <a:ln w="12700">
            <a:solidFill>
              <a:srgbClr val="0D9488"/>
            </a:solidFill>
            <a:prstDash val="solid"/>
          </a:ln>
        </p:spPr>
      </p:sp>
      <p:sp>
        <p:nvSpPr>
          <p:cNvPr id="45" name="Text 39"/>
          <p:cNvSpPr/>
          <p:nvPr/>
        </p:nvSpPr>
        <p:spPr>
          <a:xfrm>
            <a:off x="7699248" y="3282696"/>
            <a:ext cx="10058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TAM: £95B</a:t>
            </a:r>
            <a:endParaRPr lang="en-US" sz="900" dirty="0"/>
          </a:p>
        </p:txBody>
      </p:sp>
      <p:sp>
        <p:nvSpPr>
          <p:cNvPr id="46" name="Text 40"/>
          <p:cNvSpPr/>
          <p:nvPr/>
        </p:nvSpPr>
        <p:spPr>
          <a:xfrm>
            <a:off x="5650992" y="3712464"/>
            <a:ext cx="3017520" cy="201168"/>
          </a:xfrm>
          <a:prstGeom prst="rect">
            <a:avLst/>
          </a:prstGeom>
          <a:noFill/>
          <a:ln/>
        </p:spPr>
        <p:txBody>
          <a:bodyPr wrap="square" lIns="0" tIns="0" rIns="0" bIns="0"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Household Data Platform</a:t>
            </a:r>
            <a:endParaRPr lang="en-US" sz="900" dirty="0"/>
          </a:p>
        </p:txBody>
      </p:sp>
      <p:sp>
        <p:nvSpPr>
          <p:cNvPr id="47" name="Text 41"/>
          <p:cNvSpPr/>
          <p:nvPr/>
        </p:nvSpPr>
        <p:spPr>
          <a:xfrm>
            <a:off x="4937760" y="3931920"/>
            <a:ext cx="3749040" cy="219456"/>
          </a:xfrm>
          <a:prstGeom prst="rect">
            <a:avLst/>
          </a:prstGeom>
          <a:noFill/>
          <a:ln/>
        </p:spPr>
        <p:txBody>
          <a:bodyPr wrap="square" lIns="0" tIns="0" rIns="0" bIns="0" rtlCol="0" anchor="ctr"/>
          <a:lstStyle/>
          <a:p>
            <a:pPr indent="0" marL="0">
              <a:buNone/>
            </a:pPr>
            <a:r>
              <a:rPr lang="en-US" sz="950" b="1" dirty="0">
                <a:solidFill>
                  <a:srgbClr val="0F1F3D"/>
                </a:solidFill>
                <a:latin typeface="Calibri" pitchFamily="34" charset="0"/>
                <a:ea typeface="Calibri" pitchFamily="34" charset="-122"/>
                <a:cs typeface="Calibri" pitchFamily="34" charset="-120"/>
              </a:rPr>
              <a:t>License the score engine to any industry that needs household intelligence.</a:t>
            </a:r>
            <a:endParaRPr lang="en-US" sz="950" dirty="0"/>
          </a:p>
        </p:txBody>
      </p:sp>
      <p:sp>
        <p:nvSpPr>
          <p:cNvPr id="48" name="Text 42"/>
          <p:cNvSpPr/>
          <p:nvPr/>
        </p:nvSpPr>
        <p:spPr>
          <a:xfrm>
            <a:off x="4937760" y="4169664"/>
            <a:ext cx="374904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Insurance, mortgage, FMCG, employer benefits — all need household-level behavioural signals that credit bureaus cannot provide. The score engine becomes infrastructure, not just a feature.</a:t>
            </a:r>
            <a:endParaRPr lang="en-US" sz="850" dirty="0"/>
          </a:p>
        </p:txBody>
      </p:sp>
      <p:sp>
        <p:nvSpPr>
          <p:cNvPr id="49" name="Text 43"/>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NV01 · WELLFLOW — FAMILY HEALTH OS</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WellFlow: The Household Health Score</a:t>
            </a:r>
            <a:endParaRPr lang="en-US" sz="3000" dirty="0"/>
          </a:p>
        </p:txBody>
      </p:sp>
      <p:sp>
        <p:nvSpPr>
          <p:cNvPr id="4" name="Text 2"/>
          <p:cNvSpPr/>
          <p:nvPr/>
        </p:nvSpPr>
        <p:spPr>
          <a:xfrm>
            <a:off x="457200" y="1078992"/>
            <a:ext cx="7315200" cy="365760"/>
          </a:xfrm>
          <a:prstGeom prst="rect">
            <a:avLst/>
          </a:prstGeom>
          <a:noFill/>
          <a:ln/>
        </p:spPr>
        <p:txBody>
          <a:bodyPr wrap="square" rtlCol="0" anchor="ctr"/>
          <a:lstStyle/>
          <a:p>
            <a:pPr algn="l" indent="0" marL="0">
              <a:buNone/>
            </a:pPr>
            <a:r>
              <a:rPr lang="en-US" sz="1300" dirty="0">
                <a:solidFill>
                  <a:srgbClr val="475569"/>
                </a:solidFill>
                <a:latin typeface="Calibri" pitchFamily="34" charset="0"/>
                <a:ea typeface="Calibri" pitchFamily="34" charset="-122"/>
                <a:cs typeface="Calibri" pitchFamily="34" charset="-120"/>
              </a:rPr>
              <a:t>Same architecture. Different data. £280B TAM. NHS is the employer channel.</a:t>
            </a:r>
            <a:endParaRPr lang="en-US" sz="1300" dirty="0"/>
          </a:p>
        </p:txBody>
      </p:sp>
      <p:sp>
        <p:nvSpPr>
          <p:cNvPr id="5" name="Shape 3"/>
          <p:cNvSpPr/>
          <p:nvPr/>
        </p:nvSpPr>
        <p:spPr>
          <a:xfrm>
            <a:off x="457200" y="1325880"/>
            <a:ext cx="8229600" cy="0"/>
          </a:xfrm>
          <a:prstGeom prst="line">
            <a:avLst/>
          </a:prstGeom>
          <a:noFill/>
          <a:ln w="15240">
            <a:solidFill>
              <a:srgbClr val="E11D48">
                <a:alpha val="80000"/>
              </a:srgbClr>
            </a:solidFill>
            <a:prstDash val="solid"/>
          </a:ln>
        </p:spPr>
      </p:sp>
      <p:sp>
        <p:nvSpPr>
          <p:cNvPr id="6" name="Text 4"/>
          <p:cNvSpPr/>
          <p:nvPr/>
        </p:nvSpPr>
        <p:spPr>
          <a:xfrm>
            <a:off x="411480" y="1417320"/>
            <a:ext cx="4114800" cy="256032"/>
          </a:xfrm>
          <a:prstGeom prst="rect">
            <a:avLst/>
          </a:prstGeom>
          <a:noFill/>
          <a:ln/>
        </p:spPr>
        <p:txBody>
          <a:bodyPr wrap="square" rtlCol="0" anchor="ctr"/>
          <a:lstStyle/>
          <a:p>
            <a:pPr indent="0" marL="0">
              <a:buNone/>
            </a:pPr>
            <a:r>
              <a:rPr lang="en-US" sz="1200" b="1" dirty="0">
                <a:solidFill>
                  <a:srgbClr val="0F1F3D"/>
                </a:solidFill>
                <a:latin typeface="Calibri" pitchFamily="34" charset="0"/>
                <a:ea typeface="Calibri" pitchFamily="34" charset="-122"/>
                <a:cs typeface="Calibri" pitchFamily="34" charset="-120"/>
              </a:rPr>
              <a:t>The Problem</a:t>
            </a:r>
            <a:endParaRPr lang="en-US" sz="1200" dirty="0"/>
          </a:p>
        </p:txBody>
      </p:sp>
      <p:sp>
        <p:nvSpPr>
          <p:cNvPr id="7" name="Shape 5"/>
          <p:cNvSpPr/>
          <p:nvPr/>
        </p:nvSpPr>
        <p:spPr>
          <a:xfrm>
            <a:off x="411480" y="1719072"/>
            <a:ext cx="54864" cy="256032"/>
          </a:xfrm>
          <a:prstGeom prst="rect">
            <a:avLst/>
          </a:prstGeom>
          <a:solidFill>
            <a:srgbClr val="E11D48"/>
          </a:solidFill>
          <a:ln w="12700">
            <a:solidFill>
              <a:srgbClr val="E11D48"/>
            </a:solidFill>
            <a:prstDash val="solid"/>
          </a:ln>
        </p:spPr>
      </p:sp>
      <p:sp>
        <p:nvSpPr>
          <p:cNvPr id="8" name="Text 6"/>
          <p:cNvSpPr/>
          <p:nvPr/>
        </p:nvSpPr>
        <p:spPr>
          <a:xfrm>
            <a:off x="548640" y="1719072"/>
            <a:ext cx="3840480" cy="32004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NHS spends £98B/year on preventable chronic disease</a:t>
            </a:r>
            <a:endParaRPr lang="en-US" sz="950" dirty="0"/>
          </a:p>
        </p:txBody>
      </p:sp>
      <p:sp>
        <p:nvSpPr>
          <p:cNvPr id="9" name="Shape 7"/>
          <p:cNvSpPr/>
          <p:nvPr/>
        </p:nvSpPr>
        <p:spPr>
          <a:xfrm>
            <a:off x="411480" y="2103120"/>
            <a:ext cx="54864" cy="256032"/>
          </a:xfrm>
          <a:prstGeom prst="rect">
            <a:avLst/>
          </a:prstGeom>
          <a:solidFill>
            <a:srgbClr val="E11D48"/>
          </a:solidFill>
          <a:ln w="12700">
            <a:solidFill>
              <a:srgbClr val="E11D48"/>
            </a:solidFill>
            <a:prstDash val="solid"/>
          </a:ln>
        </p:spPr>
      </p:sp>
      <p:sp>
        <p:nvSpPr>
          <p:cNvPr id="10" name="Text 8"/>
          <p:cNvSpPr/>
          <p:nvPr/>
        </p:nvSpPr>
        <p:spPr>
          <a:xfrm>
            <a:off x="548640" y="2103120"/>
            <a:ext cx="3840480" cy="32004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No product coordinates household health behaviour — diet, exercise, sleep — in one view</a:t>
            </a:r>
            <a:endParaRPr lang="en-US" sz="950" dirty="0"/>
          </a:p>
        </p:txBody>
      </p:sp>
      <p:sp>
        <p:nvSpPr>
          <p:cNvPr id="11" name="Shape 9"/>
          <p:cNvSpPr/>
          <p:nvPr/>
        </p:nvSpPr>
        <p:spPr>
          <a:xfrm>
            <a:off x="411480" y="2487168"/>
            <a:ext cx="54864" cy="256032"/>
          </a:xfrm>
          <a:prstGeom prst="rect">
            <a:avLst/>
          </a:prstGeom>
          <a:solidFill>
            <a:srgbClr val="E11D48"/>
          </a:solidFill>
          <a:ln w="12700">
            <a:solidFill>
              <a:srgbClr val="E11D48"/>
            </a:solidFill>
            <a:prstDash val="solid"/>
          </a:ln>
        </p:spPr>
      </p:sp>
      <p:sp>
        <p:nvSpPr>
          <p:cNvPr id="12" name="Text 10"/>
          <p:cNvSpPr/>
          <p:nvPr/>
        </p:nvSpPr>
        <p:spPr>
          <a:xfrm>
            <a:off x="548640" y="2487168"/>
            <a:ext cx="3840480" cy="32004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GP appointments are reactive: health crises managed, not prevented</a:t>
            </a:r>
            <a:endParaRPr lang="en-US" sz="950" dirty="0"/>
          </a:p>
        </p:txBody>
      </p:sp>
      <p:sp>
        <p:nvSpPr>
          <p:cNvPr id="13" name="Shape 11"/>
          <p:cNvSpPr/>
          <p:nvPr/>
        </p:nvSpPr>
        <p:spPr>
          <a:xfrm>
            <a:off x="411480" y="2871216"/>
            <a:ext cx="54864" cy="256032"/>
          </a:xfrm>
          <a:prstGeom prst="rect">
            <a:avLst/>
          </a:prstGeom>
          <a:solidFill>
            <a:srgbClr val="E11D48"/>
          </a:solidFill>
          <a:ln w="12700">
            <a:solidFill>
              <a:srgbClr val="E11D48"/>
            </a:solidFill>
            <a:prstDash val="solid"/>
          </a:ln>
        </p:spPr>
      </p:sp>
      <p:sp>
        <p:nvSpPr>
          <p:cNvPr id="14" name="Text 12"/>
          <p:cNvSpPr/>
          <p:nvPr/>
        </p:nvSpPr>
        <p:spPr>
          <a:xfrm>
            <a:off x="548640" y="2871216"/>
            <a:ext cx="3840480" cy="32004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Children's health habits are set by age 12. No tool addresses the household unit.</a:t>
            </a:r>
            <a:endParaRPr lang="en-US" sz="950" dirty="0"/>
          </a:p>
        </p:txBody>
      </p:sp>
      <p:sp>
        <p:nvSpPr>
          <p:cNvPr id="15" name="Text 13"/>
          <p:cNvSpPr/>
          <p:nvPr/>
        </p:nvSpPr>
        <p:spPr>
          <a:xfrm>
            <a:off x="411480" y="3337560"/>
            <a:ext cx="4114800" cy="256032"/>
          </a:xfrm>
          <a:prstGeom prst="rect">
            <a:avLst/>
          </a:prstGeom>
          <a:noFill/>
          <a:ln/>
        </p:spPr>
        <p:txBody>
          <a:bodyPr wrap="square"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Transferable Assets from FinFlow</a:t>
            </a:r>
            <a:endParaRPr lang="en-US" sz="1200" dirty="0"/>
          </a:p>
        </p:txBody>
      </p:sp>
      <p:pic>
        <p:nvPicPr>
          <p:cNvPr id="16" name="Image 0" descr="preencoded.png">    </p:cNvPr>
          <p:cNvPicPr>
            <a:picLocks noChangeAspect="1"/>
          </p:cNvPicPr>
          <p:nvPr/>
        </p:nvPicPr>
        <p:blipFill>
          <a:blip r:embed="rId1"/>
          <a:stretch>
            <a:fillRect/>
          </a:stretch>
        </p:blipFill>
        <p:spPr>
          <a:xfrm>
            <a:off x="411480" y="3639312"/>
            <a:ext cx="182880" cy="182880"/>
          </a:xfrm>
          <a:prstGeom prst="rect">
            <a:avLst/>
          </a:prstGeom>
        </p:spPr>
      </p:pic>
      <p:sp>
        <p:nvSpPr>
          <p:cNvPr id="17" name="Text 14"/>
          <p:cNvSpPr/>
          <p:nvPr/>
        </p:nvSpPr>
        <p:spPr>
          <a:xfrm>
            <a:off x="658368" y="3630168"/>
            <a:ext cx="374904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Pulse Score → WellScore™ (diet + exercise + sleep + appointments)</a:t>
            </a:r>
            <a:endParaRPr lang="en-US" sz="900" dirty="0"/>
          </a:p>
        </p:txBody>
      </p:sp>
      <p:pic>
        <p:nvPicPr>
          <p:cNvPr id="18" name="Image 1" descr="preencoded.png">    </p:cNvPr>
          <p:cNvPicPr>
            <a:picLocks noChangeAspect="1"/>
          </p:cNvPicPr>
          <p:nvPr/>
        </p:nvPicPr>
        <p:blipFill>
          <a:blip r:embed="rId2"/>
          <a:stretch>
            <a:fillRect/>
          </a:stretch>
        </p:blipFill>
        <p:spPr>
          <a:xfrm>
            <a:off x="411480" y="3950208"/>
            <a:ext cx="182880" cy="182880"/>
          </a:xfrm>
          <a:prstGeom prst="rect">
            <a:avLst/>
          </a:prstGeom>
        </p:spPr>
      </p:pic>
      <p:sp>
        <p:nvSpPr>
          <p:cNvPr id="19" name="Text 15"/>
          <p:cNvSpPr/>
          <p:nvPr/>
        </p:nvSpPr>
        <p:spPr>
          <a:xfrm>
            <a:off x="658368" y="3941064"/>
            <a:ext cx="374904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Accountability circles → Health circles (8 families, monthly GP-guided session)</a:t>
            </a:r>
            <a:endParaRPr lang="en-US" sz="900" dirty="0"/>
          </a:p>
        </p:txBody>
      </p:sp>
      <p:pic>
        <p:nvPicPr>
          <p:cNvPr id="20" name="Image 2" descr="preencoded.png">    </p:cNvPr>
          <p:cNvPicPr>
            <a:picLocks noChangeAspect="1"/>
          </p:cNvPicPr>
          <p:nvPr/>
        </p:nvPicPr>
        <p:blipFill>
          <a:blip r:embed="rId3"/>
          <a:stretch>
            <a:fillRect/>
          </a:stretch>
        </p:blipFill>
        <p:spPr>
          <a:xfrm>
            <a:off x="411480" y="4261104"/>
            <a:ext cx="182880" cy="182880"/>
          </a:xfrm>
          <a:prstGeom prst="rect">
            <a:avLst/>
          </a:prstGeom>
        </p:spPr>
      </p:pic>
      <p:sp>
        <p:nvSpPr>
          <p:cNvPr id="21" name="Text 16"/>
          <p:cNvSpPr/>
          <p:nvPr/>
        </p:nvSpPr>
        <p:spPr>
          <a:xfrm>
            <a:off x="658368" y="4251960"/>
            <a:ext cx="374904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Employer channel → NHS GP surgeries + corporate wellness programs</a:t>
            </a:r>
            <a:endParaRPr lang="en-US" sz="900" dirty="0"/>
          </a:p>
        </p:txBody>
      </p:sp>
      <p:pic>
        <p:nvPicPr>
          <p:cNvPr id="22" name="Image 3" descr="preencoded.png">    </p:cNvPr>
          <p:cNvPicPr>
            <a:picLocks noChangeAspect="1"/>
          </p:cNvPicPr>
          <p:nvPr/>
        </p:nvPicPr>
        <p:blipFill>
          <a:blip r:embed="rId4"/>
          <a:stretch>
            <a:fillRect/>
          </a:stretch>
        </p:blipFill>
        <p:spPr>
          <a:xfrm>
            <a:off x="411480" y="4572000"/>
            <a:ext cx="182880" cy="182880"/>
          </a:xfrm>
          <a:prstGeom prst="rect">
            <a:avLst/>
          </a:prstGeom>
        </p:spPr>
      </p:pic>
      <p:sp>
        <p:nvSpPr>
          <p:cNvPr id="23" name="Text 17"/>
          <p:cNvSpPr/>
          <p:nvPr/>
        </p:nvSpPr>
        <p:spPr>
          <a:xfrm>
            <a:off x="658368" y="4562856"/>
            <a:ext cx="3749040" cy="2743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School channel → School nurse + PE department parent comms</a:t>
            </a:r>
            <a:endParaRPr lang="en-US" sz="900" dirty="0"/>
          </a:p>
        </p:txBody>
      </p:sp>
      <p:sp>
        <p:nvSpPr>
          <p:cNvPr id="24" name="Shape 18"/>
          <p:cNvSpPr/>
          <p:nvPr/>
        </p:nvSpPr>
        <p:spPr>
          <a:xfrm>
            <a:off x="4754880" y="1417320"/>
            <a:ext cx="3840480" cy="3474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5" name="Shape 19"/>
          <p:cNvSpPr/>
          <p:nvPr/>
        </p:nvSpPr>
        <p:spPr>
          <a:xfrm>
            <a:off x="4754880" y="1417320"/>
            <a:ext cx="3840480" cy="73152"/>
          </a:xfrm>
          <a:prstGeom prst="rect">
            <a:avLst/>
          </a:prstGeom>
          <a:solidFill>
            <a:srgbClr val="E11D48"/>
          </a:solidFill>
          <a:ln w="12700">
            <a:solidFill>
              <a:srgbClr val="E11D48"/>
            </a:solidFill>
            <a:prstDash val="solid"/>
          </a:ln>
        </p:spPr>
      </p:sp>
      <p:sp>
        <p:nvSpPr>
          <p:cNvPr id="26" name="Text 20"/>
          <p:cNvSpPr/>
          <p:nvPr/>
        </p:nvSpPr>
        <p:spPr>
          <a:xfrm>
            <a:off x="4892040" y="1536192"/>
            <a:ext cx="3566160" cy="256032"/>
          </a:xfrm>
          <a:prstGeom prst="rect">
            <a:avLst/>
          </a:prstGeom>
          <a:noFill/>
          <a:ln/>
        </p:spPr>
        <p:txBody>
          <a:bodyPr wrap="square" rtlCol="0" anchor="ctr"/>
          <a:lstStyle/>
          <a:p>
            <a:pPr indent="0" marL="0">
              <a:buNone/>
            </a:pPr>
            <a:r>
              <a:rPr lang="en-US" sz="1200" b="1" dirty="0">
                <a:solidFill>
                  <a:srgbClr val="0F1F3D"/>
                </a:solidFill>
                <a:latin typeface="Calibri" pitchFamily="34" charset="0"/>
                <a:ea typeface="Calibri" pitchFamily="34" charset="-122"/>
                <a:cs typeface="Calibri" pitchFamily="34" charset="-120"/>
              </a:rPr>
              <a:t>Revenue Model</a:t>
            </a:r>
            <a:endParaRPr lang="en-US" sz="1200" dirty="0"/>
          </a:p>
        </p:txBody>
      </p:sp>
      <p:sp>
        <p:nvSpPr>
          <p:cNvPr id="27" name="Shape 21"/>
          <p:cNvSpPr/>
          <p:nvPr/>
        </p:nvSpPr>
        <p:spPr>
          <a:xfrm>
            <a:off x="4754880" y="1938528"/>
            <a:ext cx="3840480" cy="594360"/>
          </a:xfrm>
          <a:prstGeom prst="rect">
            <a:avLst/>
          </a:prstGeom>
          <a:solidFill>
            <a:srgbClr val="F8FAFC"/>
          </a:solidFill>
          <a:ln w="5080">
            <a:solidFill>
              <a:srgbClr val="E2E8F0"/>
            </a:solidFill>
            <a:prstDash val="solid"/>
          </a:ln>
        </p:spPr>
      </p:sp>
      <p:sp>
        <p:nvSpPr>
          <p:cNvPr id="28" name="Text 22"/>
          <p:cNvSpPr/>
          <p:nvPr/>
        </p:nvSpPr>
        <p:spPr>
          <a:xfrm>
            <a:off x="4892040" y="1993392"/>
            <a:ext cx="2286000" cy="228600"/>
          </a:xfrm>
          <a:prstGeom prst="rect">
            <a:avLst/>
          </a:prstGeom>
          <a:noFill/>
          <a:ln/>
        </p:spPr>
        <p:txBody>
          <a:bodyPr wrap="square" lIns="0" tIns="0" rIns="0" bIns="0" rtlCol="0" anchor="ctr"/>
          <a:lstStyle/>
          <a:p>
            <a:pPr indent="0" marL="0">
              <a:buNone/>
            </a:pPr>
            <a:r>
              <a:rPr lang="en-US" sz="1000" b="1" dirty="0">
                <a:solidFill>
                  <a:srgbClr val="E11D48"/>
                </a:solidFill>
                <a:latin typeface="Calibri" pitchFamily="34" charset="0"/>
                <a:ea typeface="Calibri" pitchFamily="34" charset="-122"/>
                <a:cs typeface="Calibri" pitchFamily="34" charset="-120"/>
              </a:rPr>
              <a:t>B2C Subscription</a:t>
            </a:r>
            <a:endParaRPr lang="en-US" sz="1000" dirty="0"/>
          </a:p>
        </p:txBody>
      </p:sp>
      <p:sp>
        <p:nvSpPr>
          <p:cNvPr id="29" name="Text 23"/>
          <p:cNvSpPr/>
          <p:nvPr/>
        </p:nvSpPr>
        <p:spPr>
          <a:xfrm>
            <a:off x="7132320" y="1993392"/>
            <a:ext cx="1371600" cy="228600"/>
          </a:xfrm>
          <a:prstGeom prst="rect">
            <a:avLst/>
          </a:prstGeom>
          <a:noFill/>
          <a:ln/>
        </p:spPr>
        <p:txBody>
          <a:bodyPr wrap="square" lIns="0" tIns="0" rIns="0" bIns="0" rtlCol="0" anchor="ctr"/>
          <a:lstStyle/>
          <a:p>
            <a:pPr algn="r" indent="0" marL="0">
              <a:buNone/>
            </a:pPr>
            <a:r>
              <a:rPr lang="en-US" sz="1000" b="1" dirty="0">
                <a:solidFill>
                  <a:srgbClr val="0F1F3D"/>
                </a:solidFill>
                <a:latin typeface="Georgia" pitchFamily="34" charset="0"/>
                <a:ea typeface="Georgia" pitchFamily="34" charset="-122"/>
                <a:cs typeface="Georgia" pitchFamily="34" charset="-120"/>
              </a:rPr>
              <a:t>£18/mo</a:t>
            </a:r>
            <a:endParaRPr lang="en-US" sz="1000" dirty="0"/>
          </a:p>
        </p:txBody>
      </p:sp>
      <p:sp>
        <p:nvSpPr>
          <p:cNvPr id="30" name="Text 24"/>
          <p:cNvSpPr/>
          <p:nvPr/>
        </p:nvSpPr>
        <p:spPr>
          <a:xfrm>
            <a:off x="4892040" y="2221992"/>
            <a:ext cx="35661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Household WellScore + behaviour tracking</a:t>
            </a:r>
            <a:endParaRPr lang="en-US" sz="850" dirty="0"/>
          </a:p>
        </p:txBody>
      </p:sp>
      <p:sp>
        <p:nvSpPr>
          <p:cNvPr id="31" name="Shape 25"/>
          <p:cNvSpPr/>
          <p:nvPr/>
        </p:nvSpPr>
        <p:spPr>
          <a:xfrm>
            <a:off x="4754880" y="2596896"/>
            <a:ext cx="3840480" cy="594360"/>
          </a:xfrm>
          <a:prstGeom prst="rect">
            <a:avLst/>
          </a:prstGeom>
          <a:solidFill>
            <a:srgbClr val="FFFFFF"/>
          </a:solidFill>
          <a:ln w="5080">
            <a:solidFill>
              <a:srgbClr val="E2E8F0"/>
            </a:solidFill>
            <a:prstDash val="solid"/>
          </a:ln>
        </p:spPr>
      </p:sp>
      <p:sp>
        <p:nvSpPr>
          <p:cNvPr id="32" name="Text 26"/>
          <p:cNvSpPr/>
          <p:nvPr/>
        </p:nvSpPr>
        <p:spPr>
          <a:xfrm>
            <a:off x="4892040" y="2651760"/>
            <a:ext cx="2286000" cy="228600"/>
          </a:xfrm>
          <a:prstGeom prst="rect">
            <a:avLst/>
          </a:prstGeom>
          <a:noFill/>
          <a:ln/>
        </p:spPr>
        <p:txBody>
          <a:bodyPr wrap="square" lIns="0" tIns="0" rIns="0" bIns="0" rtlCol="0" anchor="ctr"/>
          <a:lstStyle/>
          <a:p>
            <a:pPr indent="0" marL="0">
              <a:buNone/>
            </a:pPr>
            <a:r>
              <a:rPr lang="en-US" sz="1000" b="1" dirty="0">
                <a:solidFill>
                  <a:srgbClr val="E11D48"/>
                </a:solidFill>
                <a:latin typeface="Calibri" pitchFamily="34" charset="0"/>
                <a:ea typeface="Calibri" pitchFamily="34" charset="-122"/>
                <a:cs typeface="Calibri" pitchFamily="34" charset="-120"/>
              </a:rPr>
              <a:t>NHS Primary Care</a:t>
            </a:r>
            <a:endParaRPr lang="en-US" sz="1000" dirty="0"/>
          </a:p>
        </p:txBody>
      </p:sp>
      <p:sp>
        <p:nvSpPr>
          <p:cNvPr id="33" name="Text 27"/>
          <p:cNvSpPr/>
          <p:nvPr/>
        </p:nvSpPr>
        <p:spPr>
          <a:xfrm>
            <a:off x="7132320" y="2651760"/>
            <a:ext cx="1371600" cy="228600"/>
          </a:xfrm>
          <a:prstGeom prst="rect">
            <a:avLst/>
          </a:prstGeom>
          <a:noFill/>
          <a:ln/>
        </p:spPr>
        <p:txBody>
          <a:bodyPr wrap="square" lIns="0" tIns="0" rIns="0" bIns="0" rtlCol="0" anchor="ctr"/>
          <a:lstStyle/>
          <a:p>
            <a:pPr algn="r" indent="0" marL="0">
              <a:buNone/>
            </a:pPr>
            <a:r>
              <a:rPr lang="en-US" sz="1000" b="1" dirty="0">
                <a:solidFill>
                  <a:srgbClr val="0F1F3D"/>
                </a:solidFill>
                <a:latin typeface="Georgia" pitchFamily="34" charset="0"/>
                <a:ea typeface="Georgia" pitchFamily="34" charset="-122"/>
                <a:cs typeface="Georgia" pitchFamily="34" charset="-120"/>
              </a:rPr>
              <a:t>£4K/surgery/yr</a:t>
            </a:r>
            <a:endParaRPr lang="en-US" sz="1000" dirty="0"/>
          </a:p>
        </p:txBody>
      </p:sp>
      <p:sp>
        <p:nvSpPr>
          <p:cNvPr id="34" name="Text 28"/>
          <p:cNvSpPr/>
          <p:nvPr/>
        </p:nvSpPr>
        <p:spPr>
          <a:xfrm>
            <a:off x="4892040" y="2880360"/>
            <a:ext cx="35661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WellScore for patient population management</a:t>
            </a:r>
            <a:endParaRPr lang="en-US" sz="850" dirty="0"/>
          </a:p>
        </p:txBody>
      </p:sp>
      <p:sp>
        <p:nvSpPr>
          <p:cNvPr id="35" name="Shape 29"/>
          <p:cNvSpPr/>
          <p:nvPr/>
        </p:nvSpPr>
        <p:spPr>
          <a:xfrm>
            <a:off x="4754880" y="3255264"/>
            <a:ext cx="3840480" cy="594360"/>
          </a:xfrm>
          <a:prstGeom prst="rect">
            <a:avLst/>
          </a:prstGeom>
          <a:solidFill>
            <a:srgbClr val="F8FAFC"/>
          </a:solidFill>
          <a:ln w="5080">
            <a:solidFill>
              <a:srgbClr val="E2E8F0"/>
            </a:solidFill>
            <a:prstDash val="solid"/>
          </a:ln>
        </p:spPr>
      </p:sp>
      <p:sp>
        <p:nvSpPr>
          <p:cNvPr id="36" name="Text 30"/>
          <p:cNvSpPr/>
          <p:nvPr/>
        </p:nvSpPr>
        <p:spPr>
          <a:xfrm>
            <a:off x="4892040" y="3310128"/>
            <a:ext cx="2286000" cy="228600"/>
          </a:xfrm>
          <a:prstGeom prst="rect">
            <a:avLst/>
          </a:prstGeom>
          <a:noFill/>
          <a:ln/>
        </p:spPr>
        <p:txBody>
          <a:bodyPr wrap="square" lIns="0" tIns="0" rIns="0" bIns="0" rtlCol="0" anchor="ctr"/>
          <a:lstStyle/>
          <a:p>
            <a:pPr indent="0" marL="0">
              <a:buNone/>
            </a:pPr>
            <a:r>
              <a:rPr lang="en-US" sz="1000" b="1" dirty="0">
                <a:solidFill>
                  <a:srgbClr val="E11D48"/>
                </a:solidFill>
                <a:latin typeface="Calibri" pitchFamily="34" charset="0"/>
                <a:ea typeface="Calibri" pitchFamily="34" charset="-122"/>
                <a:cs typeface="Calibri" pitchFamily="34" charset="-120"/>
              </a:rPr>
              <a:t>Corporate Wellness</a:t>
            </a:r>
            <a:endParaRPr lang="en-US" sz="1000" dirty="0"/>
          </a:p>
        </p:txBody>
      </p:sp>
      <p:sp>
        <p:nvSpPr>
          <p:cNvPr id="37" name="Text 31"/>
          <p:cNvSpPr/>
          <p:nvPr/>
        </p:nvSpPr>
        <p:spPr>
          <a:xfrm>
            <a:off x="7132320" y="3310128"/>
            <a:ext cx="1371600" cy="228600"/>
          </a:xfrm>
          <a:prstGeom prst="rect">
            <a:avLst/>
          </a:prstGeom>
          <a:noFill/>
          <a:ln/>
        </p:spPr>
        <p:txBody>
          <a:bodyPr wrap="square" lIns="0" tIns="0" rIns="0" bIns="0" rtlCol="0" anchor="ctr"/>
          <a:lstStyle/>
          <a:p>
            <a:pPr algn="r" indent="0" marL="0">
              <a:buNone/>
            </a:pPr>
            <a:r>
              <a:rPr lang="en-US" sz="1000" b="1" dirty="0">
                <a:solidFill>
                  <a:srgbClr val="0F1F3D"/>
                </a:solidFill>
                <a:latin typeface="Georgia" pitchFamily="34" charset="0"/>
                <a:ea typeface="Georgia" pitchFamily="34" charset="-122"/>
                <a:cs typeface="Georgia" pitchFamily="34" charset="-120"/>
              </a:rPr>
              <a:t>£3K/employer/yr</a:t>
            </a:r>
            <a:endParaRPr lang="en-US" sz="1000" dirty="0"/>
          </a:p>
        </p:txBody>
      </p:sp>
      <p:sp>
        <p:nvSpPr>
          <p:cNvPr id="38" name="Text 32"/>
          <p:cNvSpPr/>
          <p:nvPr/>
        </p:nvSpPr>
        <p:spPr>
          <a:xfrm>
            <a:off x="4892040" y="3538728"/>
            <a:ext cx="35661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Staff health score + circle program</a:t>
            </a:r>
            <a:endParaRPr lang="en-US" sz="850" dirty="0"/>
          </a:p>
        </p:txBody>
      </p:sp>
      <p:sp>
        <p:nvSpPr>
          <p:cNvPr id="39" name="Shape 33"/>
          <p:cNvSpPr/>
          <p:nvPr/>
        </p:nvSpPr>
        <p:spPr>
          <a:xfrm>
            <a:off x="4754880" y="3913632"/>
            <a:ext cx="3840480" cy="594360"/>
          </a:xfrm>
          <a:prstGeom prst="rect">
            <a:avLst/>
          </a:prstGeom>
          <a:solidFill>
            <a:srgbClr val="FFFFFF"/>
          </a:solidFill>
          <a:ln w="5080">
            <a:solidFill>
              <a:srgbClr val="E2E8F0"/>
            </a:solidFill>
            <a:prstDash val="solid"/>
          </a:ln>
        </p:spPr>
      </p:sp>
      <p:sp>
        <p:nvSpPr>
          <p:cNvPr id="40" name="Text 34"/>
          <p:cNvSpPr/>
          <p:nvPr/>
        </p:nvSpPr>
        <p:spPr>
          <a:xfrm>
            <a:off x="4892040" y="3968496"/>
            <a:ext cx="2286000" cy="228600"/>
          </a:xfrm>
          <a:prstGeom prst="rect">
            <a:avLst/>
          </a:prstGeom>
          <a:noFill/>
          <a:ln/>
        </p:spPr>
        <p:txBody>
          <a:bodyPr wrap="square" lIns="0" tIns="0" rIns="0" bIns="0" rtlCol="0" anchor="ctr"/>
          <a:lstStyle/>
          <a:p>
            <a:pPr indent="0" marL="0">
              <a:buNone/>
            </a:pPr>
            <a:r>
              <a:rPr lang="en-US" sz="1000" b="1" dirty="0">
                <a:solidFill>
                  <a:srgbClr val="E11D48"/>
                </a:solidFill>
                <a:latin typeface="Calibri" pitchFamily="34" charset="0"/>
                <a:ea typeface="Calibri" pitchFamily="34" charset="-122"/>
                <a:cs typeface="Calibri" pitchFamily="34" charset="-120"/>
              </a:rPr>
              <a:t>Health Score Licensing</a:t>
            </a:r>
            <a:endParaRPr lang="en-US" sz="1000" dirty="0"/>
          </a:p>
        </p:txBody>
      </p:sp>
      <p:sp>
        <p:nvSpPr>
          <p:cNvPr id="41" name="Text 35"/>
          <p:cNvSpPr/>
          <p:nvPr/>
        </p:nvSpPr>
        <p:spPr>
          <a:xfrm>
            <a:off x="7132320" y="3968496"/>
            <a:ext cx="1371600" cy="228600"/>
          </a:xfrm>
          <a:prstGeom prst="rect">
            <a:avLst/>
          </a:prstGeom>
          <a:noFill/>
          <a:ln/>
        </p:spPr>
        <p:txBody>
          <a:bodyPr wrap="square" lIns="0" tIns="0" rIns="0" bIns="0" rtlCol="0" anchor="ctr"/>
          <a:lstStyle/>
          <a:p>
            <a:pPr algn="r" indent="0" marL="0">
              <a:buNone/>
            </a:pPr>
            <a:r>
              <a:rPr lang="en-US" sz="1000" b="1" dirty="0">
                <a:solidFill>
                  <a:srgbClr val="0F1F3D"/>
                </a:solidFill>
                <a:latin typeface="Georgia" pitchFamily="34" charset="0"/>
                <a:ea typeface="Georgia" pitchFamily="34" charset="-122"/>
                <a:cs typeface="Georgia" pitchFamily="34" charset="-120"/>
              </a:rPr>
              <a:t>£0.35/query</a:t>
            </a:r>
            <a:endParaRPr lang="en-US" sz="1000" dirty="0"/>
          </a:p>
        </p:txBody>
      </p:sp>
      <p:sp>
        <p:nvSpPr>
          <p:cNvPr id="42" name="Text 36"/>
          <p:cNvSpPr/>
          <p:nvPr/>
        </p:nvSpPr>
        <p:spPr>
          <a:xfrm>
            <a:off x="4892040" y="4197096"/>
            <a:ext cx="35661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Insurance underwriting signal (life, health)</a:t>
            </a:r>
            <a:endParaRPr lang="en-US" sz="850" dirty="0"/>
          </a:p>
        </p:txBody>
      </p:sp>
      <p:sp>
        <p:nvSpPr>
          <p:cNvPr id="43" name="Shape 37"/>
          <p:cNvSpPr/>
          <p:nvPr/>
        </p:nvSpPr>
        <p:spPr>
          <a:xfrm>
            <a:off x="4754880" y="4590288"/>
            <a:ext cx="3840480" cy="301752"/>
          </a:xfrm>
          <a:prstGeom prst="rect">
            <a:avLst/>
          </a:prstGeom>
          <a:solidFill>
            <a:srgbClr val="E11D48"/>
          </a:solidFill>
          <a:ln w="12700">
            <a:solidFill>
              <a:srgbClr val="E11D48"/>
            </a:solidFill>
            <a:prstDash val="solid"/>
          </a:ln>
        </p:spPr>
      </p:sp>
      <p:sp>
        <p:nvSpPr>
          <p:cNvPr id="44" name="Text 38"/>
          <p:cNvSpPr/>
          <p:nvPr/>
        </p:nvSpPr>
        <p:spPr>
          <a:xfrm>
            <a:off x="4892040" y="4636008"/>
            <a:ext cx="3566160" cy="20116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Year 5 ARR target: £38M  ·  Year 3 EBITDA positive  ·  NHS channel = 0 marketing spend</a:t>
            </a:r>
            <a:endParaRPr lang="en-US" sz="850" dirty="0"/>
          </a:p>
        </p:txBody>
      </p:sp>
      <p:sp>
        <p:nvSpPr>
          <p:cNvPr id="45" name="Text 39"/>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NV02 + NV03 · LEARNFLOW &amp; CAREFLOW</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Two More Household Crises. Same Playbook.</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384048" y="1170432"/>
            <a:ext cx="4069080" cy="384048"/>
          </a:xfrm>
          <a:prstGeom prst="rect">
            <a:avLst/>
          </a:prstGeom>
          <a:solidFill>
            <a:srgbClr val="7C3AED"/>
          </a:solidFill>
          <a:ln w="12700">
            <a:solidFill>
              <a:srgbClr val="7C3AED"/>
            </a:solidFill>
            <a:prstDash val="solid"/>
          </a:ln>
        </p:spPr>
      </p:sp>
      <p:sp>
        <p:nvSpPr>
          <p:cNvPr id="6" name="Shape 4"/>
          <p:cNvSpPr/>
          <p:nvPr/>
        </p:nvSpPr>
        <p:spPr>
          <a:xfrm>
            <a:off x="475488" y="1225296"/>
            <a:ext cx="329184" cy="329184"/>
          </a:xfrm>
          <a:prstGeom prst="ellipse">
            <a:avLst/>
          </a:prstGeom>
          <a:solidFill>
            <a:srgbClr val="7C3AED"/>
          </a:solidFill>
          <a:ln w="12700">
            <a:solidFill>
              <a:srgbClr val="7C3AED"/>
            </a:solidFill>
            <a:prstDash val="solid"/>
          </a:ln>
        </p:spPr>
      </p:sp>
      <p:pic>
        <p:nvPicPr>
          <p:cNvPr id="7" name="Image 0" descr="preencoded.png">    </p:cNvPr>
          <p:cNvPicPr>
            <a:picLocks noChangeAspect="1"/>
          </p:cNvPicPr>
          <p:nvPr/>
        </p:nvPicPr>
        <p:blipFill>
          <a:blip r:embed="rId1"/>
          <a:stretch>
            <a:fillRect/>
          </a:stretch>
        </p:blipFill>
        <p:spPr>
          <a:xfrm>
            <a:off x="516636" y="1266444"/>
            <a:ext cx="246888" cy="246888"/>
          </a:xfrm>
          <a:prstGeom prst="rect">
            <a:avLst/>
          </a:prstGeom>
        </p:spPr>
      </p:pic>
      <p:sp>
        <p:nvSpPr>
          <p:cNvPr id="8" name="Text 5"/>
          <p:cNvSpPr/>
          <p:nvPr/>
        </p:nvSpPr>
        <p:spPr>
          <a:xfrm>
            <a:off x="914400" y="1243584"/>
            <a:ext cx="3291840" cy="23774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NV02  ·  LearnFlow</a:t>
            </a:r>
            <a:endParaRPr lang="en-US" sz="1100" dirty="0"/>
          </a:p>
        </p:txBody>
      </p:sp>
      <p:sp>
        <p:nvSpPr>
          <p:cNvPr id="9" name="Shape 6"/>
          <p:cNvSpPr/>
          <p:nvPr/>
        </p:nvSpPr>
        <p:spPr>
          <a:xfrm>
            <a:off x="384048" y="1609344"/>
            <a:ext cx="4069080" cy="731520"/>
          </a:xfrm>
          <a:prstGeom prst="rect">
            <a:avLst/>
          </a:prstGeom>
          <a:solidFill>
            <a:srgbClr val="FFFFFF"/>
          </a:solidFill>
          <a:ln w="5080">
            <a:solidFill>
              <a:srgbClr val="E2E8F0"/>
            </a:solidFill>
            <a:prstDash val="solid"/>
          </a:ln>
        </p:spPr>
      </p:sp>
      <p:sp>
        <p:nvSpPr>
          <p:cNvPr id="10" name="Text 7"/>
          <p:cNvSpPr/>
          <p:nvPr/>
        </p:nvSpPr>
        <p:spPr>
          <a:xfrm>
            <a:off x="502920" y="1664208"/>
            <a:ext cx="3840480" cy="201168"/>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The Problem</a:t>
            </a:r>
            <a:endParaRPr lang="en-US" sz="950" dirty="0"/>
          </a:p>
        </p:txBody>
      </p:sp>
      <p:sp>
        <p:nvSpPr>
          <p:cNvPr id="11" name="Text 8"/>
          <p:cNvSpPr/>
          <p:nvPr/>
        </p:nvSpPr>
        <p:spPr>
          <a:xfrm>
            <a:off x="502920" y="1865376"/>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82% of UK parents feel unable to support their child's education at home. Schools send home worksheets. Parents get WhatsApp panic messages at 9pm. No product coordinates the teacher → parent → child feedback loop.</a:t>
            </a:r>
            <a:endParaRPr lang="en-US" sz="850" dirty="0"/>
          </a:p>
        </p:txBody>
      </p:sp>
      <p:sp>
        <p:nvSpPr>
          <p:cNvPr id="12" name="Shape 9"/>
          <p:cNvSpPr/>
          <p:nvPr/>
        </p:nvSpPr>
        <p:spPr>
          <a:xfrm>
            <a:off x="384048" y="2414016"/>
            <a:ext cx="4069080" cy="731520"/>
          </a:xfrm>
          <a:prstGeom prst="rect">
            <a:avLst/>
          </a:prstGeom>
          <a:solidFill>
            <a:srgbClr val="F8FAFC"/>
          </a:solidFill>
          <a:ln w="5080">
            <a:solidFill>
              <a:srgbClr val="E2E8F0"/>
            </a:solidFill>
            <a:prstDash val="solid"/>
          </a:ln>
        </p:spPr>
      </p:sp>
      <p:sp>
        <p:nvSpPr>
          <p:cNvPr id="13" name="Text 10"/>
          <p:cNvSpPr/>
          <p:nvPr/>
        </p:nvSpPr>
        <p:spPr>
          <a:xfrm>
            <a:off x="502920" y="2468880"/>
            <a:ext cx="3840480" cy="201168"/>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The Product</a:t>
            </a:r>
            <a:endParaRPr lang="en-US" sz="950" dirty="0"/>
          </a:p>
        </p:txBody>
      </p:sp>
      <p:sp>
        <p:nvSpPr>
          <p:cNvPr id="14" name="Text 11"/>
          <p:cNvSpPr/>
          <p:nvPr/>
        </p:nvSpPr>
        <p:spPr>
          <a:xfrm>
            <a:off x="502920" y="2670048"/>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LearnScore™: composite of attendance, homework completion, reading minutes, and teacher-reported engagement. Weekly family learning review. 8-family study circles for parents with children in the same year group.</a:t>
            </a:r>
            <a:endParaRPr lang="en-US" sz="850" dirty="0"/>
          </a:p>
        </p:txBody>
      </p:sp>
      <p:sp>
        <p:nvSpPr>
          <p:cNvPr id="15" name="Shape 12"/>
          <p:cNvSpPr/>
          <p:nvPr/>
        </p:nvSpPr>
        <p:spPr>
          <a:xfrm>
            <a:off x="384048" y="3218688"/>
            <a:ext cx="4069080" cy="731520"/>
          </a:xfrm>
          <a:prstGeom prst="rect">
            <a:avLst/>
          </a:prstGeom>
          <a:solidFill>
            <a:srgbClr val="FFFFFF"/>
          </a:solidFill>
          <a:ln w="5080">
            <a:solidFill>
              <a:srgbClr val="E2E8F0"/>
            </a:solidFill>
            <a:prstDash val="solid"/>
          </a:ln>
        </p:spPr>
      </p:sp>
      <p:sp>
        <p:nvSpPr>
          <p:cNvPr id="16" name="Text 13"/>
          <p:cNvSpPr/>
          <p:nvPr/>
        </p:nvSpPr>
        <p:spPr>
          <a:xfrm>
            <a:off x="502920" y="3273552"/>
            <a:ext cx="3840480" cy="201168"/>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The Channel</a:t>
            </a:r>
            <a:endParaRPr lang="en-US" sz="950" dirty="0"/>
          </a:p>
        </p:txBody>
      </p:sp>
      <p:sp>
        <p:nvSpPr>
          <p:cNvPr id="17" name="Text 14"/>
          <p:cNvSpPr/>
          <p:nvPr/>
        </p:nvSpPr>
        <p:spPr>
          <a:xfrm>
            <a:off x="502920" y="3474720"/>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School channel already built by FinFlow. Every FinFlow school partnership is a LearnFlow pipeline. Teachers become the 'employer' equivalent — they adopt the tool, parents follow.</a:t>
            </a:r>
            <a:endParaRPr lang="en-US" sz="850" dirty="0"/>
          </a:p>
        </p:txBody>
      </p:sp>
      <p:sp>
        <p:nvSpPr>
          <p:cNvPr id="18" name="Shape 15"/>
          <p:cNvSpPr/>
          <p:nvPr/>
        </p:nvSpPr>
        <p:spPr>
          <a:xfrm>
            <a:off x="384048" y="4023360"/>
            <a:ext cx="4069080" cy="731520"/>
          </a:xfrm>
          <a:prstGeom prst="rect">
            <a:avLst/>
          </a:prstGeom>
          <a:solidFill>
            <a:srgbClr val="F8FAFC"/>
          </a:solidFill>
          <a:ln w="5080">
            <a:solidFill>
              <a:srgbClr val="E2E8F0"/>
            </a:solidFill>
            <a:prstDash val="solid"/>
          </a:ln>
        </p:spPr>
      </p:sp>
      <p:sp>
        <p:nvSpPr>
          <p:cNvPr id="19" name="Text 16"/>
          <p:cNvSpPr/>
          <p:nvPr/>
        </p:nvSpPr>
        <p:spPr>
          <a:xfrm>
            <a:off x="502920" y="4078224"/>
            <a:ext cx="3840480" cy="201168"/>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Revenue</a:t>
            </a:r>
            <a:endParaRPr lang="en-US" sz="950" dirty="0"/>
          </a:p>
        </p:txBody>
      </p:sp>
      <p:sp>
        <p:nvSpPr>
          <p:cNvPr id="20" name="Text 17"/>
          <p:cNvSpPr/>
          <p:nvPr/>
        </p:nvSpPr>
        <p:spPr>
          <a:xfrm>
            <a:off x="502920" y="4279392"/>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£12/mo families. £3K/yr school license. £0.25/query LearnScore to tutoring platforms and university admissions AI systems.</a:t>
            </a:r>
            <a:endParaRPr lang="en-US" sz="850" dirty="0"/>
          </a:p>
        </p:txBody>
      </p:sp>
      <p:sp>
        <p:nvSpPr>
          <p:cNvPr id="21" name="Shape 18"/>
          <p:cNvSpPr/>
          <p:nvPr/>
        </p:nvSpPr>
        <p:spPr>
          <a:xfrm>
            <a:off x="4681728" y="1170432"/>
            <a:ext cx="4069080" cy="384048"/>
          </a:xfrm>
          <a:prstGeom prst="rect">
            <a:avLst/>
          </a:prstGeom>
          <a:solidFill>
            <a:srgbClr val="D97706"/>
          </a:solidFill>
          <a:ln w="12700">
            <a:solidFill>
              <a:srgbClr val="D97706"/>
            </a:solidFill>
            <a:prstDash val="solid"/>
          </a:ln>
        </p:spPr>
      </p:sp>
      <p:sp>
        <p:nvSpPr>
          <p:cNvPr id="22" name="Shape 19"/>
          <p:cNvSpPr/>
          <p:nvPr/>
        </p:nvSpPr>
        <p:spPr>
          <a:xfrm>
            <a:off x="4773168" y="1225296"/>
            <a:ext cx="329184" cy="329184"/>
          </a:xfrm>
          <a:prstGeom prst="ellipse">
            <a:avLst/>
          </a:prstGeom>
          <a:solidFill>
            <a:srgbClr val="D97706"/>
          </a:solidFill>
          <a:ln w="12700">
            <a:solidFill>
              <a:srgbClr val="D97706"/>
            </a:solidFill>
            <a:prstDash val="solid"/>
          </a:ln>
        </p:spPr>
      </p:sp>
      <p:pic>
        <p:nvPicPr>
          <p:cNvPr id="23" name="Image 1" descr="preencoded.png">    </p:cNvPr>
          <p:cNvPicPr>
            <a:picLocks noChangeAspect="1"/>
          </p:cNvPicPr>
          <p:nvPr/>
        </p:nvPicPr>
        <p:blipFill>
          <a:blip r:embed="rId2"/>
          <a:stretch>
            <a:fillRect/>
          </a:stretch>
        </p:blipFill>
        <p:spPr>
          <a:xfrm>
            <a:off x="4814316" y="1266444"/>
            <a:ext cx="246888" cy="246888"/>
          </a:xfrm>
          <a:prstGeom prst="rect">
            <a:avLst/>
          </a:prstGeom>
        </p:spPr>
      </p:pic>
      <p:sp>
        <p:nvSpPr>
          <p:cNvPr id="24" name="Text 20"/>
          <p:cNvSpPr/>
          <p:nvPr/>
        </p:nvSpPr>
        <p:spPr>
          <a:xfrm>
            <a:off x="5212080" y="1243584"/>
            <a:ext cx="3291840" cy="237744"/>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NV03  ·  CareFlow</a:t>
            </a:r>
            <a:endParaRPr lang="en-US" sz="1100" dirty="0"/>
          </a:p>
        </p:txBody>
      </p:sp>
      <p:sp>
        <p:nvSpPr>
          <p:cNvPr id="25" name="Shape 21"/>
          <p:cNvSpPr/>
          <p:nvPr/>
        </p:nvSpPr>
        <p:spPr>
          <a:xfrm>
            <a:off x="4681728" y="1609344"/>
            <a:ext cx="4069080" cy="731520"/>
          </a:xfrm>
          <a:prstGeom prst="rect">
            <a:avLst/>
          </a:prstGeom>
          <a:solidFill>
            <a:srgbClr val="FFFFFF"/>
          </a:solidFill>
          <a:ln w="5080">
            <a:solidFill>
              <a:srgbClr val="E2E8F0"/>
            </a:solidFill>
            <a:prstDash val="solid"/>
          </a:ln>
        </p:spPr>
      </p:sp>
      <p:sp>
        <p:nvSpPr>
          <p:cNvPr id="26" name="Text 22"/>
          <p:cNvSpPr/>
          <p:nvPr/>
        </p:nvSpPr>
        <p:spPr>
          <a:xfrm>
            <a:off x="4800600" y="1664208"/>
            <a:ext cx="3840480" cy="201168"/>
          </a:xfrm>
          <a:prstGeom prst="rect">
            <a:avLst/>
          </a:prstGeom>
          <a:noFill/>
          <a:ln/>
        </p:spPr>
        <p:txBody>
          <a:bodyPr wrap="square" lIns="0" tIns="0" rIns="0" bIns="0" rtlCol="0" anchor="ctr"/>
          <a:lstStyle/>
          <a:p>
            <a:pPr indent="0" marL="0">
              <a:buNone/>
            </a:pPr>
            <a:r>
              <a:rPr lang="en-US" sz="950" b="1" dirty="0">
                <a:solidFill>
                  <a:srgbClr val="D97706"/>
                </a:solidFill>
                <a:latin typeface="Calibri" pitchFamily="34" charset="0"/>
                <a:ea typeface="Calibri" pitchFamily="34" charset="-122"/>
                <a:cs typeface="Calibri" pitchFamily="34" charset="-120"/>
              </a:rPr>
              <a:t>The Problem</a:t>
            </a:r>
            <a:endParaRPr lang="en-US" sz="950" dirty="0"/>
          </a:p>
        </p:txBody>
      </p:sp>
      <p:sp>
        <p:nvSpPr>
          <p:cNvPr id="27" name="Text 23"/>
          <p:cNvSpPr/>
          <p:nvPr/>
        </p:nvSpPr>
        <p:spPr>
          <a:xfrm>
            <a:off x="4800600" y="1865376"/>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14M UK adults are informal carers for aging relatives. Decisions are made by dispersed family members — adult children in different cities — with no shared view, no care coordination tool, and no early warning system for decline.</a:t>
            </a:r>
            <a:endParaRPr lang="en-US" sz="850" dirty="0"/>
          </a:p>
        </p:txBody>
      </p:sp>
      <p:sp>
        <p:nvSpPr>
          <p:cNvPr id="28" name="Shape 24"/>
          <p:cNvSpPr/>
          <p:nvPr/>
        </p:nvSpPr>
        <p:spPr>
          <a:xfrm>
            <a:off x="4681728" y="2414016"/>
            <a:ext cx="4069080" cy="731520"/>
          </a:xfrm>
          <a:prstGeom prst="rect">
            <a:avLst/>
          </a:prstGeom>
          <a:solidFill>
            <a:srgbClr val="F8FAFC"/>
          </a:solidFill>
          <a:ln w="5080">
            <a:solidFill>
              <a:srgbClr val="E2E8F0"/>
            </a:solidFill>
            <a:prstDash val="solid"/>
          </a:ln>
        </p:spPr>
      </p:sp>
      <p:sp>
        <p:nvSpPr>
          <p:cNvPr id="29" name="Text 25"/>
          <p:cNvSpPr/>
          <p:nvPr/>
        </p:nvSpPr>
        <p:spPr>
          <a:xfrm>
            <a:off x="4800600" y="2468880"/>
            <a:ext cx="3840480" cy="201168"/>
          </a:xfrm>
          <a:prstGeom prst="rect">
            <a:avLst/>
          </a:prstGeom>
          <a:noFill/>
          <a:ln/>
        </p:spPr>
        <p:txBody>
          <a:bodyPr wrap="square" lIns="0" tIns="0" rIns="0" bIns="0" rtlCol="0" anchor="ctr"/>
          <a:lstStyle/>
          <a:p>
            <a:pPr indent="0" marL="0">
              <a:buNone/>
            </a:pPr>
            <a:r>
              <a:rPr lang="en-US" sz="950" b="1" dirty="0">
                <a:solidFill>
                  <a:srgbClr val="D97706"/>
                </a:solidFill>
                <a:latin typeface="Calibri" pitchFamily="34" charset="0"/>
                <a:ea typeface="Calibri" pitchFamily="34" charset="-122"/>
                <a:cs typeface="Calibri" pitchFamily="34" charset="-120"/>
              </a:rPr>
              <a:t>The Product</a:t>
            </a:r>
            <a:endParaRPr lang="en-US" sz="950" dirty="0"/>
          </a:p>
        </p:txBody>
      </p:sp>
      <p:sp>
        <p:nvSpPr>
          <p:cNvPr id="30" name="Text 26"/>
          <p:cNvSpPr/>
          <p:nvPr/>
        </p:nvSpPr>
        <p:spPr>
          <a:xfrm>
            <a:off x="4800600" y="2670048"/>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CareScore™: composite of medication adherence, GP appointment completion, activity levels (via wearable), and family check-in frequency. Shared family dashboard. Care circle of 8 families in similar care situations.</a:t>
            </a:r>
            <a:endParaRPr lang="en-US" sz="850" dirty="0"/>
          </a:p>
        </p:txBody>
      </p:sp>
      <p:sp>
        <p:nvSpPr>
          <p:cNvPr id="31" name="Shape 27"/>
          <p:cNvSpPr/>
          <p:nvPr/>
        </p:nvSpPr>
        <p:spPr>
          <a:xfrm>
            <a:off x="4681728" y="3218688"/>
            <a:ext cx="4069080" cy="731520"/>
          </a:xfrm>
          <a:prstGeom prst="rect">
            <a:avLst/>
          </a:prstGeom>
          <a:solidFill>
            <a:srgbClr val="FFFFFF"/>
          </a:solidFill>
          <a:ln w="5080">
            <a:solidFill>
              <a:srgbClr val="E2E8F0"/>
            </a:solidFill>
            <a:prstDash val="solid"/>
          </a:ln>
        </p:spPr>
      </p:sp>
      <p:sp>
        <p:nvSpPr>
          <p:cNvPr id="32" name="Text 28"/>
          <p:cNvSpPr/>
          <p:nvPr/>
        </p:nvSpPr>
        <p:spPr>
          <a:xfrm>
            <a:off x="4800600" y="3273552"/>
            <a:ext cx="3840480" cy="201168"/>
          </a:xfrm>
          <a:prstGeom prst="rect">
            <a:avLst/>
          </a:prstGeom>
          <a:noFill/>
          <a:ln/>
        </p:spPr>
        <p:txBody>
          <a:bodyPr wrap="square" lIns="0" tIns="0" rIns="0" bIns="0" rtlCol="0" anchor="ctr"/>
          <a:lstStyle/>
          <a:p>
            <a:pPr indent="0" marL="0">
              <a:buNone/>
            </a:pPr>
            <a:r>
              <a:rPr lang="en-US" sz="950" b="1" dirty="0">
                <a:solidFill>
                  <a:srgbClr val="0D9488"/>
                </a:solidFill>
                <a:latin typeface="Calibri" pitchFamily="34" charset="0"/>
                <a:ea typeface="Calibri" pitchFamily="34" charset="-122"/>
                <a:cs typeface="Calibri" pitchFamily="34" charset="-120"/>
              </a:rPr>
              <a:t>The Channel</a:t>
            </a:r>
            <a:endParaRPr lang="en-US" sz="950" dirty="0"/>
          </a:p>
        </p:txBody>
      </p:sp>
      <p:sp>
        <p:nvSpPr>
          <p:cNvPr id="33" name="Text 29"/>
          <p:cNvSpPr/>
          <p:nvPr/>
        </p:nvSpPr>
        <p:spPr>
          <a:xfrm>
            <a:off x="4800600" y="3474720"/>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GP surgeries (already in WellFlow network). NHS social prescribing teams. Age UK. Carers UK — all actively seeking digital coordination tools. Corporate — 1 in 8 employees is a carer, costing employers £3.3B/yr in lost productivity.</a:t>
            </a:r>
            <a:endParaRPr lang="en-US" sz="850" dirty="0"/>
          </a:p>
        </p:txBody>
      </p:sp>
      <p:sp>
        <p:nvSpPr>
          <p:cNvPr id="34" name="Shape 30"/>
          <p:cNvSpPr/>
          <p:nvPr/>
        </p:nvSpPr>
        <p:spPr>
          <a:xfrm>
            <a:off x="4681728" y="4023360"/>
            <a:ext cx="4069080" cy="731520"/>
          </a:xfrm>
          <a:prstGeom prst="rect">
            <a:avLst/>
          </a:prstGeom>
          <a:solidFill>
            <a:srgbClr val="F8FAFC"/>
          </a:solidFill>
          <a:ln w="5080">
            <a:solidFill>
              <a:srgbClr val="E2E8F0"/>
            </a:solidFill>
            <a:prstDash val="solid"/>
          </a:ln>
        </p:spPr>
      </p:sp>
      <p:sp>
        <p:nvSpPr>
          <p:cNvPr id="35" name="Text 31"/>
          <p:cNvSpPr/>
          <p:nvPr/>
        </p:nvSpPr>
        <p:spPr>
          <a:xfrm>
            <a:off x="4800600" y="4078224"/>
            <a:ext cx="3840480" cy="201168"/>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Revenue</a:t>
            </a:r>
            <a:endParaRPr lang="en-US" sz="950" dirty="0"/>
          </a:p>
        </p:txBody>
      </p:sp>
      <p:sp>
        <p:nvSpPr>
          <p:cNvPr id="36" name="Text 32"/>
          <p:cNvSpPr/>
          <p:nvPr/>
        </p:nvSpPr>
        <p:spPr>
          <a:xfrm>
            <a:off x="4800600" y="4279392"/>
            <a:ext cx="384048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£22/mo families. £5K/yr NHS surgery license. £1.2/query CareScore to care home placement platforms, insurance underwriters, and local authority care planning systems.</a:t>
            </a:r>
            <a:endParaRPr lang="en-US" sz="850" dirty="0"/>
          </a:p>
        </p:txBody>
      </p:sp>
      <p:sp>
        <p:nvSpPr>
          <p:cNvPr id="37" name="Text 33"/>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5603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NV04 · PULSESCORE B2B PLATFORM</a:t>
            </a:r>
            <a:endParaRPr lang="en-US" sz="900" dirty="0"/>
          </a:p>
        </p:txBody>
      </p:sp>
      <p:sp>
        <p:nvSpPr>
          <p:cNvPr id="3" name="Text 1"/>
          <p:cNvSpPr/>
          <p:nvPr/>
        </p:nvSpPr>
        <p:spPr>
          <a:xfrm>
            <a:off x="457200" y="566928"/>
            <a:ext cx="8229600" cy="59436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PulseScore™</a:t>
            </a:r>
            <a:endParaRPr lang="en-US" sz="3800" dirty="0"/>
          </a:p>
        </p:txBody>
      </p:sp>
      <p:sp>
        <p:nvSpPr>
          <p:cNvPr id="4" name="Text 2"/>
          <p:cNvSpPr/>
          <p:nvPr/>
        </p:nvSpPr>
        <p:spPr>
          <a:xfrm>
            <a:off x="457200" y="1207008"/>
            <a:ext cx="8229600" cy="32004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The household intelligence layer that every institution needs but none can build.</a:t>
            </a:r>
            <a:endParaRPr lang="en-US" sz="1400" dirty="0"/>
          </a:p>
        </p:txBody>
      </p:sp>
      <p:sp>
        <p:nvSpPr>
          <p:cNvPr id="5" name="Shape 3"/>
          <p:cNvSpPr/>
          <p:nvPr/>
        </p:nvSpPr>
        <p:spPr>
          <a:xfrm>
            <a:off x="457200" y="1627632"/>
            <a:ext cx="8229600" cy="0"/>
          </a:xfrm>
          <a:prstGeom prst="line">
            <a:avLst/>
          </a:prstGeom>
          <a:noFill/>
          <a:ln w="15240">
            <a:solidFill>
              <a:srgbClr val="0D9488"/>
            </a:solidFill>
            <a:prstDash val="solid"/>
          </a:ln>
        </p:spPr>
      </p:sp>
      <p:sp>
        <p:nvSpPr>
          <p:cNvPr id="6" name="Text 4"/>
          <p:cNvSpPr/>
          <p:nvPr/>
        </p:nvSpPr>
        <p:spPr>
          <a:xfrm>
            <a:off x="457200" y="1737360"/>
            <a:ext cx="822960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What it is:</a:t>
            </a:r>
            <a:endParaRPr lang="en-US" sz="1100" dirty="0"/>
          </a:p>
        </p:txBody>
      </p:sp>
      <p:sp>
        <p:nvSpPr>
          <p:cNvPr id="7" name="Text 5"/>
          <p:cNvSpPr/>
          <p:nvPr/>
        </p:nvSpPr>
        <p:spPr>
          <a:xfrm>
            <a:off x="457200" y="2011680"/>
            <a:ext cx="822960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 real-time API that returns a composite household health score — financial, physical, educational, or care — built from consented behavioural data. Not a credit score. Not a survey. A living signal updated daily.</a:t>
            </a:r>
            <a:endParaRPr lang="en-US" sz="1100" dirty="0"/>
          </a:p>
        </p:txBody>
      </p:sp>
      <p:sp>
        <p:nvSpPr>
          <p:cNvPr id="8" name="Shape 6"/>
          <p:cNvSpPr/>
          <p:nvPr/>
        </p:nvSpPr>
        <p:spPr>
          <a:xfrm>
            <a:off x="384048" y="2578608"/>
            <a:ext cx="2011680" cy="2212848"/>
          </a:xfrm>
          <a:prstGeom prst="rect">
            <a:avLst/>
          </a:prstGeom>
          <a:solidFill>
            <a:srgbClr val="1A3358"/>
          </a:solidFill>
          <a:ln w="6350">
            <a:solidFill>
              <a:srgbClr val="263555"/>
            </a:solidFill>
            <a:prstDash val="solid"/>
          </a:ln>
        </p:spPr>
      </p:sp>
      <p:sp>
        <p:nvSpPr>
          <p:cNvPr id="9" name="Shape 7"/>
          <p:cNvSpPr/>
          <p:nvPr/>
        </p:nvSpPr>
        <p:spPr>
          <a:xfrm>
            <a:off x="512064" y="2651760"/>
            <a:ext cx="493776" cy="493776"/>
          </a:xfrm>
          <a:prstGeom prst="ellipse">
            <a:avLst/>
          </a:prstGeom>
          <a:solidFill>
            <a:srgbClr val="0D9488"/>
          </a:solidFill>
          <a:ln w="12700">
            <a:solidFill>
              <a:srgbClr val="0D9488"/>
            </a:solidFill>
            <a:prstDash val="solid"/>
          </a:ln>
        </p:spPr>
      </p:sp>
      <p:pic>
        <p:nvPicPr>
          <p:cNvPr id="10" name="Image 0" descr="preencoded.png">    </p:cNvPr>
          <p:cNvPicPr>
            <a:picLocks noChangeAspect="1"/>
          </p:cNvPicPr>
          <p:nvPr/>
        </p:nvPicPr>
        <p:blipFill>
          <a:blip r:embed="rId1"/>
          <a:stretch>
            <a:fillRect/>
          </a:stretch>
        </p:blipFill>
        <p:spPr>
          <a:xfrm>
            <a:off x="573786" y="2713482"/>
            <a:ext cx="370332" cy="370332"/>
          </a:xfrm>
          <a:prstGeom prst="rect">
            <a:avLst/>
          </a:prstGeom>
        </p:spPr>
      </p:pic>
      <p:sp>
        <p:nvSpPr>
          <p:cNvPr id="11" name="Text 8"/>
          <p:cNvSpPr/>
          <p:nvPr/>
        </p:nvSpPr>
        <p:spPr>
          <a:xfrm>
            <a:off x="493776" y="3200400"/>
            <a:ext cx="182880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Banks &amp; Lenders</a:t>
            </a:r>
            <a:endParaRPr lang="en-US" sz="1000" dirty="0"/>
          </a:p>
        </p:txBody>
      </p:sp>
      <p:sp>
        <p:nvSpPr>
          <p:cNvPr id="12" name="Text 9"/>
          <p:cNvSpPr/>
          <p:nvPr/>
        </p:nvSpPr>
        <p:spPr>
          <a:xfrm>
            <a:off x="493776" y="3474720"/>
            <a:ext cx="1828800" cy="7772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Household mortgage readiness. Family loan default risk. 22% improvement in underwriting accuracy.</a:t>
            </a:r>
            <a:endParaRPr lang="en-US" sz="850" dirty="0"/>
          </a:p>
        </p:txBody>
      </p:sp>
      <p:sp>
        <p:nvSpPr>
          <p:cNvPr id="13" name="Shape 10"/>
          <p:cNvSpPr/>
          <p:nvPr/>
        </p:nvSpPr>
        <p:spPr>
          <a:xfrm>
            <a:off x="493776" y="4462272"/>
            <a:ext cx="1783080" cy="256032"/>
          </a:xfrm>
          <a:prstGeom prst="rect">
            <a:avLst/>
          </a:prstGeom>
          <a:solidFill>
            <a:srgbClr val="0D9488"/>
          </a:solidFill>
          <a:ln w="12700">
            <a:solidFill>
              <a:srgbClr val="0D9488"/>
            </a:solidFill>
            <a:prstDash val="solid"/>
          </a:ln>
        </p:spPr>
      </p:sp>
      <p:sp>
        <p:nvSpPr>
          <p:cNvPr id="14" name="Text 11"/>
          <p:cNvSpPr/>
          <p:nvPr/>
        </p:nvSpPr>
        <p:spPr>
          <a:xfrm>
            <a:off x="493776" y="4471416"/>
            <a:ext cx="1783080"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£0.35/query</a:t>
            </a:r>
            <a:endParaRPr lang="en-US" sz="950" dirty="0"/>
          </a:p>
        </p:txBody>
      </p:sp>
      <p:sp>
        <p:nvSpPr>
          <p:cNvPr id="15" name="Shape 12"/>
          <p:cNvSpPr/>
          <p:nvPr/>
        </p:nvSpPr>
        <p:spPr>
          <a:xfrm>
            <a:off x="2560320" y="2578608"/>
            <a:ext cx="2011680" cy="2212848"/>
          </a:xfrm>
          <a:prstGeom prst="rect">
            <a:avLst/>
          </a:prstGeom>
          <a:solidFill>
            <a:srgbClr val="1A3358"/>
          </a:solidFill>
          <a:ln w="6350">
            <a:solidFill>
              <a:srgbClr val="263555"/>
            </a:solidFill>
            <a:prstDash val="solid"/>
          </a:ln>
        </p:spPr>
      </p:sp>
      <p:sp>
        <p:nvSpPr>
          <p:cNvPr id="16" name="Shape 13"/>
          <p:cNvSpPr/>
          <p:nvPr/>
        </p:nvSpPr>
        <p:spPr>
          <a:xfrm>
            <a:off x="2688336" y="2651760"/>
            <a:ext cx="493776" cy="493776"/>
          </a:xfrm>
          <a:prstGeom prst="ellipse">
            <a:avLst/>
          </a:prstGeom>
          <a:solidFill>
            <a:srgbClr val="0D9488"/>
          </a:solidFill>
          <a:ln w="12700">
            <a:solidFill>
              <a:srgbClr val="0D9488"/>
            </a:solidFill>
            <a:prstDash val="solid"/>
          </a:ln>
        </p:spPr>
      </p:sp>
      <p:pic>
        <p:nvPicPr>
          <p:cNvPr id="17" name="Image 1" descr="preencoded.png">    </p:cNvPr>
          <p:cNvPicPr>
            <a:picLocks noChangeAspect="1"/>
          </p:cNvPicPr>
          <p:nvPr/>
        </p:nvPicPr>
        <p:blipFill>
          <a:blip r:embed="rId2"/>
          <a:stretch>
            <a:fillRect/>
          </a:stretch>
        </p:blipFill>
        <p:spPr>
          <a:xfrm>
            <a:off x="2750058" y="2713482"/>
            <a:ext cx="370332" cy="370332"/>
          </a:xfrm>
          <a:prstGeom prst="rect">
            <a:avLst/>
          </a:prstGeom>
        </p:spPr>
      </p:pic>
      <p:sp>
        <p:nvSpPr>
          <p:cNvPr id="18" name="Text 14"/>
          <p:cNvSpPr/>
          <p:nvPr/>
        </p:nvSpPr>
        <p:spPr>
          <a:xfrm>
            <a:off x="2670048" y="3200400"/>
            <a:ext cx="182880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Insurance</a:t>
            </a:r>
            <a:endParaRPr lang="en-US" sz="1000" dirty="0"/>
          </a:p>
        </p:txBody>
      </p:sp>
      <p:sp>
        <p:nvSpPr>
          <p:cNvPr id="19" name="Text 15"/>
          <p:cNvSpPr/>
          <p:nvPr/>
        </p:nvSpPr>
        <p:spPr>
          <a:xfrm>
            <a:off x="2670048" y="3474720"/>
            <a:ext cx="1828800" cy="7772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Life, health, care, and home insurance pricing. Household-level risk that no actuarial table captures.</a:t>
            </a:r>
            <a:endParaRPr lang="en-US" sz="850" dirty="0"/>
          </a:p>
        </p:txBody>
      </p:sp>
      <p:sp>
        <p:nvSpPr>
          <p:cNvPr id="20" name="Shape 16"/>
          <p:cNvSpPr/>
          <p:nvPr/>
        </p:nvSpPr>
        <p:spPr>
          <a:xfrm>
            <a:off x="2670048" y="4462272"/>
            <a:ext cx="1783080" cy="256032"/>
          </a:xfrm>
          <a:prstGeom prst="rect">
            <a:avLst/>
          </a:prstGeom>
          <a:solidFill>
            <a:srgbClr val="0D9488"/>
          </a:solidFill>
          <a:ln w="12700">
            <a:solidFill>
              <a:srgbClr val="0D9488"/>
            </a:solidFill>
            <a:prstDash val="solid"/>
          </a:ln>
        </p:spPr>
      </p:sp>
      <p:sp>
        <p:nvSpPr>
          <p:cNvPr id="21" name="Text 17"/>
          <p:cNvSpPr/>
          <p:nvPr/>
        </p:nvSpPr>
        <p:spPr>
          <a:xfrm>
            <a:off x="2670048" y="4471416"/>
            <a:ext cx="1783080"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£0.55/query</a:t>
            </a:r>
            <a:endParaRPr lang="en-US" sz="950" dirty="0"/>
          </a:p>
        </p:txBody>
      </p:sp>
      <p:sp>
        <p:nvSpPr>
          <p:cNvPr id="22" name="Shape 18"/>
          <p:cNvSpPr/>
          <p:nvPr/>
        </p:nvSpPr>
        <p:spPr>
          <a:xfrm>
            <a:off x="4736592" y="2578608"/>
            <a:ext cx="2011680" cy="2212848"/>
          </a:xfrm>
          <a:prstGeom prst="rect">
            <a:avLst/>
          </a:prstGeom>
          <a:solidFill>
            <a:srgbClr val="1A3358"/>
          </a:solidFill>
          <a:ln w="6350">
            <a:solidFill>
              <a:srgbClr val="263555"/>
            </a:solidFill>
            <a:prstDash val="solid"/>
          </a:ln>
        </p:spPr>
      </p:sp>
      <p:sp>
        <p:nvSpPr>
          <p:cNvPr id="23" name="Shape 19"/>
          <p:cNvSpPr/>
          <p:nvPr/>
        </p:nvSpPr>
        <p:spPr>
          <a:xfrm>
            <a:off x="4864608" y="2651760"/>
            <a:ext cx="493776" cy="493776"/>
          </a:xfrm>
          <a:prstGeom prst="ellipse">
            <a:avLst/>
          </a:prstGeom>
          <a:solidFill>
            <a:srgbClr val="0D9488"/>
          </a:solidFill>
          <a:ln w="12700">
            <a:solidFill>
              <a:srgbClr val="0D9488"/>
            </a:solidFill>
            <a:prstDash val="solid"/>
          </a:ln>
        </p:spPr>
      </p:sp>
      <p:pic>
        <p:nvPicPr>
          <p:cNvPr id="24" name="Image 2" descr="preencoded.png">    </p:cNvPr>
          <p:cNvPicPr>
            <a:picLocks noChangeAspect="1"/>
          </p:cNvPicPr>
          <p:nvPr/>
        </p:nvPicPr>
        <p:blipFill>
          <a:blip r:embed="rId3"/>
          <a:stretch>
            <a:fillRect/>
          </a:stretch>
        </p:blipFill>
        <p:spPr>
          <a:xfrm>
            <a:off x="4926330" y="2713482"/>
            <a:ext cx="370332" cy="370332"/>
          </a:xfrm>
          <a:prstGeom prst="rect">
            <a:avLst/>
          </a:prstGeom>
        </p:spPr>
      </p:pic>
      <p:sp>
        <p:nvSpPr>
          <p:cNvPr id="25" name="Text 20"/>
          <p:cNvSpPr/>
          <p:nvPr/>
        </p:nvSpPr>
        <p:spPr>
          <a:xfrm>
            <a:off x="4846320" y="3200400"/>
            <a:ext cx="182880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Employers (HR)</a:t>
            </a:r>
            <a:endParaRPr lang="en-US" sz="1000" dirty="0"/>
          </a:p>
        </p:txBody>
      </p:sp>
      <p:sp>
        <p:nvSpPr>
          <p:cNvPr id="26" name="Text 21"/>
          <p:cNvSpPr/>
          <p:nvPr/>
        </p:nvSpPr>
        <p:spPr>
          <a:xfrm>
            <a:off x="4846320" y="3474720"/>
            <a:ext cx="1828800" cy="7772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Staff financial + wellbeing health score. Aggregate team health. ROI on wellness spend. Evidence for CFO.</a:t>
            </a:r>
            <a:endParaRPr lang="en-US" sz="850" dirty="0"/>
          </a:p>
        </p:txBody>
      </p:sp>
      <p:sp>
        <p:nvSpPr>
          <p:cNvPr id="27" name="Shape 22"/>
          <p:cNvSpPr/>
          <p:nvPr/>
        </p:nvSpPr>
        <p:spPr>
          <a:xfrm>
            <a:off x="4846320" y="4462272"/>
            <a:ext cx="1783080" cy="256032"/>
          </a:xfrm>
          <a:prstGeom prst="rect">
            <a:avLst/>
          </a:prstGeom>
          <a:solidFill>
            <a:srgbClr val="0D9488"/>
          </a:solidFill>
          <a:ln w="12700">
            <a:solidFill>
              <a:srgbClr val="0D9488"/>
            </a:solidFill>
            <a:prstDash val="solid"/>
          </a:ln>
        </p:spPr>
      </p:sp>
      <p:sp>
        <p:nvSpPr>
          <p:cNvPr id="28" name="Text 23"/>
          <p:cNvSpPr/>
          <p:nvPr/>
        </p:nvSpPr>
        <p:spPr>
          <a:xfrm>
            <a:off x="4846320" y="4471416"/>
            <a:ext cx="1783080"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£4K/yr</a:t>
            </a:r>
            <a:endParaRPr lang="en-US" sz="950" dirty="0"/>
          </a:p>
        </p:txBody>
      </p:sp>
      <p:sp>
        <p:nvSpPr>
          <p:cNvPr id="29" name="Shape 24"/>
          <p:cNvSpPr/>
          <p:nvPr/>
        </p:nvSpPr>
        <p:spPr>
          <a:xfrm>
            <a:off x="6912864" y="2578608"/>
            <a:ext cx="2011680" cy="2212848"/>
          </a:xfrm>
          <a:prstGeom prst="rect">
            <a:avLst/>
          </a:prstGeom>
          <a:solidFill>
            <a:srgbClr val="1A3358"/>
          </a:solidFill>
          <a:ln w="6350">
            <a:solidFill>
              <a:srgbClr val="263555"/>
            </a:solidFill>
            <a:prstDash val="solid"/>
          </a:ln>
        </p:spPr>
      </p:sp>
      <p:sp>
        <p:nvSpPr>
          <p:cNvPr id="30" name="Shape 25"/>
          <p:cNvSpPr/>
          <p:nvPr/>
        </p:nvSpPr>
        <p:spPr>
          <a:xfrm>
            <a:off x="7040880" y="2651760"/>
            <a:ext cx="493776" cy="493776"/>
          </a:xfrm>
          <a:prstGeom prst="ellipse">
            <a:avLst/>
          </a:prstGeom>
          <a:solidFill>
            <a:srgbClr val="0D9488"/>
          </a:solidFill>
          <a:ln w="12700">
            <a:solidFill>
              <a:srgbClr val="0D9488"/>
            </a:solidFill>
            <a:prstDash val="solid"/>
          </a:ln>
        </p:spPr>
      </p:sp>
      <p:pic>
        <p:nvPicPr>
          <p:cNvPr id="31" name="Image 3" descr="preencoded.png">    </p:cNvPr>
          <p:cNvPicPr>
            <a:picLocks noChangeAspect="1"/>
          </p:cNvPicPr>
          <p:nvPr/>
        </p:nvPicPr>
        <p:blipFill>
          <a:blip r:embed="rId4"/>
          <a:stretch>
            <a:fillRect/>
          </a:stretch>
        </p:blipFill>
        <p:spPr>
          <a:xfrm>
            <a:off x="7102602" y="2713482"/>
            <a:ext cx="370332" cy="370332"/>
          </a:xfrm>
          <a:prstGeom prst="rect">
            <a:avLst/>
          </a:prstGeom>
        </p:spPr>
      </p:pic>
      <p:sp>
        <p:nvSpPr>
          <p:cNvPr id="32" name="Text 26"/>
          <p:cNvSpPr/>
          <p:nvPr/>
        </p:nvSpPr>
        <p:spPr>
          <a:xfrm>
            <a:off x="7022592" y="3200400"/>
            <a:ext cx="182880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Local Authorities</a:t>
            </a:r>
            <a:endParaRPr lang="en-US" sz="1000" dirty="0"/>
          </a:p>
        </p:txBody>
      </p:sp>
      <p:sp>
        <p:nvSpPr>
          <p:cNvPr id="33" name="Text 27"/>
          <p:cNvSpPr/>
          <p:nvPr/>
        </p:nvSpPr>
        <p:spPr>
          <a:xfrm>
            <a:off x="7022592" y="3474720"/>
            <a:ext cx="1828800" cy="7772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CareScore and WellScore for social care prioritisation. Earlier intervention. Reduced emergency placements.</a:t>
            </a:r>
            <a:endParaRPr lang="en-US" sz="850" dirty="0"/>
          </a:p>
        </p:txBody>
      </p:sp>
      <p:sp>
        <p:nvSpPr>
          <p:cNvPr id="34" name="Shape 28"/>
          <p:cNvSpPr/>
          <p:nvPr/>
        </p:nvSpPr>
        <p:spPr>
          <a:xfrm>
            <a:off x="7022592" y="4462272"/>
            <a:ext cx="1783080" cy="256032"/>
          </a:xfrm>
          <a:prstGeom prst="rect">
            <a:avLst/>
          </a:prstGeom>
          <a:solidFill>
            <a:srgbClr val="0D9488"/>
          </a:solidFill>
          <a:ln w="12700">
            <a:solidFill>
              <a:srgbClr val="0D9488"/>
            </a:solidFill>
            <a:prstDash val="solid"/>
          </a:ln>
        </p:spPr>
      </p:sp>
      <p:sp>
        <p:nvSpPr>
          <p:cNvPr id="35" name="Text 29"/>
          <p:cNvSpPr/>
          <p:nvPr/>
        </p:nvSpPr>
        <p:spPr>
          <a:xfrm>
            <a:off x="7022592" y="4471416"/>
            <a:ext cx="1783080"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£8K/yr</a:t>
            </a:r>
            <a:endParaRPr lang="en-US" sz="950" dirty="0"/>
          </a:p>
        </p:txBody>
      </p:sp>
      <p:sp>
        <p:nvSpPr>
          <p:cNvPr id="36" name="Text 30"/>
          <p:cNvSpPr/>
          <p:nvPr/>
        </p:nvSpPr>
        <p:spPr>
          <a:xfrm>
            <a:off x="457200" y="4873752"/>
            <a:ext cx="8229600" cy="201168"/>
          </a:xfrm>
          <a:prstGeom prst="rect">
            <a:avLst/>
          </a:prstGeom>
          <a:noFill/>
          <a:ln/>
        </p:spPr>
        <p:txBody>
          <a:bodyPr wrap="square" rtlCol="0" anchor="ctr"/>
          <a:lstStyle/>
          <a:p>
            <a:pPr indent="0" marL="0">
              <a:buNone/>
            </a:pPr>
            <a:r>
              <a:rPr lang="en-US" sz="900" dirty="0">
                <a:solidFill>
                  <a:srgbClr val="14B8A6"/>
                </a:solidFill>
                <a:latin typeface="Calibri" pitchFamily="34" charset="0"/>
                <a:ea typeface="Calibri" pitchFamily="34" charset="-122"/>
                <a:cs typeface="Calibri" pitchFamily="34" charset="-120"/>
              </a:rPr>
              <a:t>Year 5 target: 12M queries/yr across 4 score domains  =  £4.2M pure-margin ARR  ·  Zero customer acquisition cost</a:t>
            </a:r>
            <a:endParaRPr lang="en-US" sz="900" dirty="0"/>
          </a:p>
        </p:txBody>
      </p:sp>
      <p:sp>
        <p:nvSpPr>
          <p:cNvPr id="37" name="Text 31"/>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64592"/>
            <a:ext cx="8229600" cy="228600"/>
          </a:xfrm>
          <a:prstGeom prst="rect">
            <a:avLst/>
          </a:prstGeom>
          <a:noFill/>
          <a:ln/>
        </p:spPr>
        <p:txBody>
          <a:bodyPr wrap="square" rtlCol="0" anchor="ctr"/>
          <a:lstStyle/>
          <a:p>
            <a:pPr algn="l" indent="0" marL="0">
              <a:buNone/>
            </a:pPr>
            <a:r>
              <a:rPr lang="en-US" sz="900" b="1" spc="500" kern="0" dirty="0">
                <a:solidFill>
                  <a:srgbClr val="F59E0B"/>
                </a:solidFill>
                <a:latin typeface="Calibri" pitchFamily="34" charset="0"/>
                <a:ea typeface="Calibri" pitchFamily="34" charset="-122"/>
                <a:cs typeface="Calibri" pitchFamily="34" charset="-120"/>
              </a:rPr>
              <a:t>PORTFOLIO VIEW</a:t>
            </a:r>
            <a:endParaRPr lang="en-US" sz="900" dirty="0"/>
          </a:p>
        </p:txBody>
      </p:sp>
      <p:sp>
        <p:nvSpPr>
          <p:cNvPr id="3" name="Text 1"/>
          <p:cNvSpPr/>
          <p:nvPr/>
        </p:nvSpPr>
        <p:spPr>
          <a:xfrm>
            <a:off x="457200" y="384048"/>
            <a:ext cx="8229600" cy="640080"/>
          </a:xfrm>
          <a:prstGeom prst="rect">
            <a:avLst/>
          </a:prstGeom>
          <a:noFill/>
          <a:ln/>
        </p:spPr>
        <p:txBody>
          <a:bodyPr wrap="square" rtlCol="0" anchor="ctr"/>
          <a:lstStyle/>
          <a:p>
            <a:pPr algn="l" indent="0" marL="0">
              <a:buNone/>
            </a:pPr>
            <a:r>
              <a:rPr lang="en-US" sz="3000" b="1" dirty="0">
                <a:solidFill>
                  <a:srgbClr val="0F1F3D"/>
                </a:solidFill>
                <a:latin typeface="Georgia" pitchFamily="34" charset="0"/>
                <a:ea typeface="Georgia" pitchFamily="34" charset="-122"/>
                <a:cs typeface="Georgia" pitchFamily="34" charset="-120"/>
              </a:rPr>
              <a:t>One Infrastructure. Four Businesses. Compounding Moat.</a:t>
            </a:r>
            <a:endParaRPr lang="en-US" sz="3000" dirty="0"/>
          </a:p>
        </p:txBody>
      </p:sp>
      <p:sp>
        <p:nvSpPr>
          <p:cNvPr id="4" name="Shape 2"/>
          <p:cNvSpPr/>
          <p:nvPr/>
        </p:nvSpPr>
        <p:spPr>
          <a:xfrm>
            <a:off x="457200" y="1051560"/>
            <a:ext cx="8229600" cy="0"/>
          </a:xfrm>
          <a:prstGeom prst="line">
            <a:avLst/>
          </a:prstGeom>
          <a:noFill/>
          <a:ln w="15240">
            <a:solidFill>
              <a:srgbClr val="0D9488">
                <a:alpha val="80000"/>
              </a:srgbClr>
            </a:solidFill>
            <a:prstDash val="solid"/>
          </a:ln>
        </p:spPr>
      </p:sp>
      <p:sp>
        <p:nvSpPr>
          <p:cNvPr id="5" name="Shape 3"/>
          <p:cNvSpPr/>
          <p:nvPr/>
        </p:nvSpPr>
        <p:spPr>
          <a:xfrm>
            <a:off x="3474720" y="1645920"/>
            <a:ext cx="2194560" cy="1828800"/>
          </a:xfrm>
          <a:prstGeom prst="ellipse">
            <a:avLst/>
          </a:prstGeom>
          <a:solidFill>
            <a:srgbClr val="0F1F3D"/>
          </a:solidFill>
          <a:ln w="25400">
            <a:solidFill>
              <a:srgbClr val="0D9488"/>
            </a:solidFill>
            <a:prstDash val="solid"/>
          </a:ln>
        </p:spPr>
      </p:sp>
      <p:sp>
        <p:nvSpPr>
          <p:cNvPr id="6" name="Text 4"/>
          <p:cNvSpPr/>
          <p:nvPr/>
        </p:nvSpPr>
        <p:spPr>
          <a:xfrm>
            <a:off x="3474720" y="1965960"/>
            <a:ext cx="2194560" cy="82296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PulseScore</a:t>
            </a:r>
            <a:endParaRPr lang="en-US" sz="1300" dirty="0"/>
          </a:p>
          <a:p>
            <a:pPr algn="ctr" indent="0" marL="0">
              <a:buNone/>
            </a:pPr>
            <a:r>
              <a:rPr lang="en-US" sz="1300" b="1" dirty="0">
                <a:solidFill>
                  <a:srgbClr val="FFFFFF"/>
                </a:solidFill>
                <a:latin typeface="Georgia" pitchFamily="34" charset="0"/>
                <a:ea typeface="Georgia" pitchFamily="34" charset="-122"/>
                <a:cs typeface="Georgia" pitchFamily="34" charset="-120"/>
              </a:rPr>
              <a:t>Platform</a:t>
            </a:r>
            <a:endParaRPr lang="en-US" sz="1300" dirty="0"/>
          </a:p>
        </p:txBody>
      </p:sp>
      <p:sp>
        <p:nvSpPr>
          <p:cNvPr id="7" name="Text 5"/>
          <p:cNvSpPr/>
          <p:nvPr/>
        </p:nvSpPr>
        <p:spPr>
          <a:xfrm>
            <a:off x="3474720" y="2788920"/>
            <a:ext cx="2194560" cy="411480"/>
          </a:xfrm>
          <a:prstGeom prst="rect">
            <a:avLst/>
          </a:prstGeom>
          <a:noFill/>
          <a:ln/>
        </p:spPr>
        <p:txBody>
          <a:bodyPr wrap="square" rtlCol="0" anchor="ctr"/>
          <a:lstStyle/>
          <a:p>
            <a:pPr algn="ctr" indent="0" marL="0">
              <a:buNone/>
            </a:pPr>
            <a:r>
              <a:rPr lang="en-US" sz="850" dirty="0">
                <a:solidFill>
                  <a:srgbClr val="14B8A6"/>
                </a:solidFill>
                <a:latin typeface="Calibri" pitchFamily="34" charset="0"/>
                <a:ea typeface="Calibri" pitchFamily="34" charset="-122"/>
                <a:cs typeface="Calibri" pitchFamily="34" charset="-120"/>
              </a:rPr>
              <a:t>Data + Channels</a:t>
            </a:r>
            <a:endParaRPr lang="en-US" sz="850" dirty="0"/>
          </a:p>
          <a:p>
            <a:pPr algn="ctr" indent="0" marL="0">
              <a:buNone/>
            </a:pPr>
            <a:r>
              <a:rPr lang="en-US" sz="850" dirty="0">
                <a:solidFill>
                  <a:srgbClr val="14B8A6"/>
                </a:solidFill>
                <a:latin typeface="Calibri" pitchFamily="34" charset="0"/>
                <a:ea typeface="Calibri" pitchFamily="34" charset="-122"/>
                <a:cs typeface="Calibri" pitchFamily="34" charset="-120"/>
              </a:rPr>
              <a:t>+ Circle OS</a:t>
            </a:r>
            <a:endParaRPr lang="en-US" sz="850" dirty="0"/>
          </a:p>
        </p:txBody>
      </p:sp>
      <p:sp>
        <p:nvSpPr>
          <p:cNvPr id="8" name="Shape 6"/>
          <p:cNvSpPr/>
          <p:nvPr/>
        </p:nvSpPr>
        <p:spPr>
          <a:xfrm>
            <a:off x="320040" y="1371600"/>
            <a:ext cx="2194560" cy="914400"/>
          </a:xfrm>
          <a:prstGeom prst="rect">
            <a:avLst/>
          </a:prstGeom>
          <a:solidFill>
            <a:srgbClr val="0D9488"/>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9" name="Text 7"/>
          <p:cNvSpPr/>
          <p:nvPr/>
        </p:nvSpPr>
        <p:spPr>
          <a:xfrm>
            <a:off x="411480" y="1536192"/>
            <a:ext cx="2011680" cy="5943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FinFlow</a:t>
            </a:r>
            <a:endParaRPr lang="en-US" sz="1200" dirty="0"/>
          </a:p>
          <a:p>
            <a:pPr algn="ctr" indent="0" marL="0">
              <a:buNone/>
            </a:pPr>
            <a:r>
              <a:rPr lang="en-US" sz="1200" b="1" dirty="0">
                <a:solidFill>
                  <a:srgbClr val="FFFFFF"/>
                </a:solidFill>
                <a:latin typeface="Georgia" pitchFamily="34" charset="0"/>
                <a:ea typeface="Georgia" pitchFamily="34" charset="-122"/>
                <a:cs typeface="Georgia" pitchFamily="34" charset="-120"/>
              </a:rPr>
              <a:t>Financial OS</a:t>
            </a:r>
            <a:endParaRPr lang="en-US" sz="1200" dirty="0"/>
          </a:p>
        </p:txBody>
      </p:sp>
      <p:sp>
        <p:nvSpPr>
          <p:cNvPr id="10" name="Shape 8"/>
          <p:cNvSpPr/>
          <p:nvPr/>
        </p:nvSpPr>
        <p:spPr>
          <a:xfrm>
            <a:off x="6675120" y="1371600"/>
            <a:ext cx="2194560" cy="914400"/>
          </a:xfrm>
          <a:prstGeom prst="rect">
            <a:avLst/>
          </a:prstGeom>
          <a:solidFill>
            <a:srgbClr val="E11D48"/>
          </a:solidFill>
          <a:ln w="12700">
            <a:solidFill>
              <a:srgbClr val="E11D48"/>
            </a:solidFill>
            <a:prstDash val="solid"/>
          </a:ln>
          <a:effectLst>
            <a:outerShdw sx="100000" sy="100000" kx="0" ky="0" algn="bl" rotWithShape="0" blurRad="101600" dist="38100" dir="8100000">
              <a:srgbClr val="000000">
                <a:alpha val="10000"/>
              </a:srgbClr>
            </a:outerShdw>
          </a:effectLst>
        </p:spPr>
      </p:sp>
      <p:sp>
        <p:nvSpPr>
          <p:cNvPr id="11" name="Text 9"/>
          <p:cNvSpPr/>
          <p:nvPr/>
        </p:nvSpPr>
        <p:spPr>
          <a:xfrm>
            <a:off x="6766560" y="1536192"/>
            <a:ext cx="2011680" cy="5943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WellFlow</a:t>
            </a:r>
            <a:endParaRPr lang="en-US" sz="1200" dirty="0"/>
          </a:p>
          <a:p>
            <a:pPr algn="ctr" indent="0" marL="0">
              <a:buNone/>
            </a:pPr>
            <a:r>
              <a:rPr lang="en-US" sz="1200" b="1" dirty="0">
                <a:solidFill>
                  <a:srgbClr val="FFFFFF"/>
                </a:solidFill>
                <a:latin typeface="Georgia" pitchFamily="34" charset="0"/>
                <a:ea typeface="Georgia" pitchFamily="34" charset="-122"/>
                <a:cs typeface="Georgia" pitchFamily="34" charset="-120"/>
              </a:rPr>
              <a:t>Health OS</a:t>
            </a:r>
            <a:endParaRPr lang="en-US" sz="1200" dirty="0"/>
          </a:p>
        </p:txBody>
      </p:sp>
      <p:sp>
        <p:nvSpPr>
          <p:cNvPr id="12" name="Shape 10"/>
          <p:cNvSpPr/>
          <p:nvPr/>
        </p:nvSpPr>
        <p:spPr>
          <a:xfrm>
            <a:off x="320040" y="3108960"/>
            <a:ext cx="2194560" cy="9144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13" name="Text 11"/>
          <p:cNvSpPr/>
          <p:nvPr/>
        </p:nvSpPr>
        <p:spPr>
          <a:xfrm>
            <a:off x="411480" y="3273552"/>
            <a:ext cx="2011680" cy="5943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LearnFlow</a:t>
            </a:r>
            <a:endParaRPr lang="en-US" sz="1200" dirty="0"/>
          </a:p>
          <a:p>
            <a:pPr algn="ctr" indent="0" marL="0">
              <a:buNone/>
            </a:pPr>
            <a:r>
              <a:rPr lang="en-US" sz="1200" b="1" dirty="0">
                <a:solidFill>
                  <a:srgbClr val="FFFFFF"/>
                </a:solidFill>
                <a:latin typeface="Georgia" pitchFamily="34" charset="0"/>
                <a:ea typeface="Georgia" pitchFamily="34" charset="-122"/>
                <a:cs typeface="Georgia" pitchFamily="34" charset="-120"/>
              </a:rPr>
              <a:t>Education OS</a:t>
            </a:r>
            <a:endParaRPr lang="en-US" sz="1200" dirty="0"/>
          </a:p>
        </p:txBody>
      </p:sp>
      <p:sp>
        <p:nvSpPr>
          <p:cNvPr id="14" name="Shape 12"/>
          <p:cNvSpPr/>
          <p:nvPr/>
        </p:nvSpPr>
        <p:spPr>
          <a:xfrm>
            <a:off x="6675120" y="3108960"/>
            <a:ext cx="2194560" cy="914400"/>
          </a:xfrm>
          <a:prstGeom prst="rect">
            <a:avLst/>
          </a:prstGeom>
          <a:solidFill>
            <a:srgbClr val="D97706"/>
          </a:solidFill>
          <a:ln w="12700">
            <a:solidFill>
              <a:srgbClr val="D97706"/>
            </a:solidFill>
            <a:prstDash val="solid"/>
          </a:ln>
          <a:effectLst>
            <a:outerShdw sx="100000" sy="100000" kx="0" ky="0" algn="bl" rotWithShape="0" blurRad="101600" dist="38100" dir="8100000">
              <a:srgbClr val="000000">
                <a:alpha val="10000"/>
              </a:srgbClr>
            </a:outerShdw>
          </a:effectLst>
        </p:spPr>
      </p:sp>
      <p:sp>
        <p:nvSpPr>
          <p:cNvPr id="15" name="Text 13"/>
          <p:cNvSpPr/>
          <p:nvPr/>
        </p:nvSpPr>
        <p:spPr>
          <a:xfrm>
            <a:off x="6766560" y="3273552"/>
            <a:ext cx="2011680" cy="59436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CareFlow</a:t>
            </a:r>
            <a:endParaRPr lang="en-US" sz="1200" dirty="0"/>
          </a:p>
          <a:p>
            <a:pPr algn="ctr" indent="0" marL="0">
              <a:buNone/>
            </a:pPr>
            <a:r>
              <a:rPr lang="en-US" sz="1200" b="1" dirty="0">
                <a:solidFill>
                  <a:srgbClr val="FFFFFF"/>
                </a:solidFill>
                <a:latin typeface="Georgia" pitchFamily="34" charset="0"/>
                <a:ea typeface="Georgia" pitchFamily="34" charset="-122"/>
                <a:cs typeface="Georgia" pitchFamily="34" charset="-120"/>
              </a:rPr>
              <a:t>Elderly OS</a:t>
            </a:r>
            <a:endParaRPr lang="en-US" sz="1200" dirty="0"/>
          </a:p>
        </p:txBody>
      </p:sp>
      <p:sp>
        <p:nvSpPr>
          <p:cNvPr id="16" name="Shape 14"/>
          <p:cNvSpPr/>
          <p:nvPr/>
        </p:nvSpPr>
        <p:spPr>
          <a:xfrm>
            <a:off x="2514600" y="1828800"/>
            <a:ext cx="960120" cy="0"/>
          </a:xfrm>
          <a:prstGeom prst="line">
            <a:avLst/>
          </a:prstGeom>
          <a:noFill/>
          <a:ln w="19050">
            <a:solidFill>
              <a:srgbClr val="0D9488"/>
            </a:solidFill>
            <a:prstDash val="dash"/>
          </a:ln>
        </p:spPr>
      </p:sp>
      <p:sp>
        <p:nvSpPr>
          <p:cNvPr id="17" name="Shape 15"/>
          <p:cNvSpPr/>
          <p:nvPr/>
        </p:nvSpPr>
        <p:spPr>
          <a:xfrm>
            <a:off x="5669280" y="1828800"/>
            <a:ext cx="1005840" cy="0"/>
          </a:xfrm>
          <a:prstGeom prst="line">
            <a:avLst/>
          </a:prstGeom>
          <a:noFill/>
          <a:ln w="19050">
            <a:solidFill>
              <a:srgbClr val="0D9488"/>
            </a:solidFill>
            <a:prstDash val="dash"/>
          </a:ln>
        </p:spPr>
      </p:sp>
      <p:sp>
        <p:nvSpPr>
          <p:cNvPr id="18" name="Shape 16"/>
          <p:cNvSpPr/>
          <p:nvPr/>
        </p:nvSpPr>
        <p:spPr>
          <a:xfrm>
            <a:off x="2514600" y="3566160"/>
            <a:ext cx="960120" cy="0"/>
          </a:xfrm>
          <a:prstGeom prst="line">
            <a:avLst/>
          </a:prstGeom>
          <a:noFill/>
          <a:ln w="19050">
            <a:solidFill>
              <a:srgbClr val="0D9488"/>
            </a:solidFill>
            <a:prstDash val="dash"/>
          </a:ln>
        </p:spPr>
      </p:sp>
      <p:sp>
        <p:nvSpPr>
          <p:cNvPr id="19" name="Shape 17"/>
          <p:cNvSpPr/>
          <p:nvPr/>
        </p:nvSpPr>
        <p:spPr>
          <a:xfrm>
            <a:off x="5669280" y="3566160"/>
            <a:ext cx="1005840" cy="0"/>
          </a:xfrm>
          <a:prstGeom prst="line">
            <a:avLst/>
          </a:prstGeom>
          <a:noFill/>
          <a:ln w="19050">
            <a:solidFill>
              <a:srgbClr val="0D9488"/>
            </a:solidFill>
            <a:prstDash val="dash"/>
          </a:ln>
        </p:spPr>
      </p:sp>
      <p:sp>
        <p:nvSpPr>
          <p:cNvPr id="20" name="Shape 18"/>
          <p:cNvSpPr/>
          <p:nvPr/>
        </p:nvSpPr>
        <p:spPr>
          <a:xfrm>
            <a:off x="384048" y="4279392"/>
            <a:ext cx="8375904" cy="658368"/>
          </a:xfrm>
          <a:prstGeom prst="rect">
            <a:avLst/>
          </a:prstGeom>
          <a:solidFill>
            <a:srgbClr val="CCFBF1"/>
          </a:solidFill>
          <a:ln w="6350">
            <a:solidFill>
              <a:srgbClr val="14B8A6"/>
            </a:solidFill>
            <a:prstDash val="solid"/>
          </a:ln>
        </p:spPr>
      </p:sp>
      <p:sp>
        <p:nvSpPr>
          <p:cNvPr id="21" name="Text 19"/>
          <p:cNvSpPr/>
          <p:nvPr/>
        </p:nvSpPr>
        <p:spPr>
          <a:xfrm>
            <a:off x="548640" y="4325112"/>
            <a:ext cx="8229600" cy="201168"/>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Shared infrastructure across all 4 ventures:</a:t>
            </a:r>
            <a:endParaRPr lang="en-US" sz="900" dirty="0"/>
          </a:p>
        </p:txBody>
      </p:sp>
      <p:sp>
        <p:nvSpPr>
          <p:cNvPr id="22" name="Text 20"/>
          <p:cNvSpPr/>
          <p:nvPr/>
        </p:nvSpPr>
        <p:spPr>
          <a:xfrm>
            <a:off x="548640" y="4526280"/>
            <a:ext cx="8229600" cy="320040"/>
          </a:xfrm>
          <a:prstGeom prst="rect">
            <a:avLst/>
          </a:prstGeom>
          <a:noFill/>
          <a:ln/>
        </p:spPr>
        <p:txBody>
          <a:bodyPr wrap="square" rtlCol="0" anchor="ctr"/>
          <a:lstStyle/>
          <a:p>
            <a:pPr indent="0" marL="0">
              <a:buNone/>
            </a:pPr>
            <a:r>
              <a:rPr lang="en-US" sz="900" dirty="0">
                <a:solidFill>
                  <a:srgbClr val="0F1F3D"/>
                </a:solidFill>
                <a:latin typeface="Calibri" pitchFamily="34" charset="0"/>
                <a:ea typeface="Calibri" pitchFamily="34" charset="-122"/>
                <a:cs typeface="Calibri" pitchFamily="34" charset="-120"/>
              </a:rPr>
              <a:t>Composite score engine (Pulse / Well / Learn / Care)   ·   Accountability circle software (Circle.so)   ·   Employer + school channel playbook   ·   Institutional B2B licensing API   ·   Consented household data network</a:t>
            </a:r>
            <a:endParaRPr lang="en-US" sz="900" dirty="0"/>
          </a:p>
        </p:txBody>
      </p:sp>
      <p:sp>
        <p:nvSpPr>
          <p:cNvPr id="23" name="Text 21"/>
          <p:cNvSpPr/>
          <p:nvPr/>
        </p:nvSpPr>
        <p:spPr>
          <a:xfrm>
            <a:off x="8686800" y="4754880"/>
            <a:ext cx="365760" cy="22860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F3D"/>
          </a:solidFill>
          <a:ln w="12700">
            <a:solidFill>
              <a:srgbClr val="0F1F3D"/>
            </a:solidFill>
            <a:prstDash val="solid"/>
          </a:ln>
        </p:spPr>
      </p:sp>
      <p:sp>
        <p:nvSpPr>
          <p:cNvPr id="3" name="Shape 1"/>
          <p:cNvSpPr/>
          <p:nvPr/>
        </p:nvSpPr>
        <p:spPr>
          <a:xfrm>
            <a:off x="0" y="0"/>
            <a:ext cx="109728" cy="5143500"/>
          </a:xfrm>
          <a:prstGeom prst="rect">
            <a:avLst/>
          </a:prstGeom>
          <a:solidFill>
            <a:srgbClr val="0D9488"/>
          </a:solidFill>
          <a:ln w="12700">
            <a:solidFill>
              <a:srgbClr val="0D9488"/>
            </a:solidFill>
            <a:prstDash val="solid"/>
          </a:ln>
        </p:spPr>
      </p:sp>
      <p:sp>
        <p:nvSpPr>
          <p:cNvPr id="4" name="Text 2"/>
          <p:cNvSpPr/>
          <p:nvPr/>
        </p:nvSpPr>
        <p:spPr>
          <a:xfrm>
            <a:off x="457200" y="457200"/>
            <a:ext cx="8229600" cy="1371600"/>
          </a:xfrm>
          <a:prstGeom prst="rect">
            <a:avLst/>
          </a:prstGeom>
          <a:noFill/>
          <a:ln/>
        </p:spPr>
        <p:txBody>
          <a:bodyPr wrap="square"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The Operating</a:t>
            </a:r>
            <a:endParaRPr lang="en-US" sz="4600" dirty="0"/>
          </a:p>
          <a:p>
            <a:pPr indent="0" marL="0">
              <a:buNone/>
            </a:pPr>
            <a:r>
              <a:rPr lang="en-US" sz="4600" b="1" dirty="0">
                <a:solidFill>
                  <a:srgbClr val="FFFFFF"/>
                </a:solidFill>
                <a:latin typeface="Georgia" pitchFamily="34" charset="0"/>
                <a:ea typeface="Georgia" pitchFamily="34" charset="-122"/>
                <a:cs typeface="Georgia" pitchFamily="34" charset="-120"/>
              </a:rPr>
              <a:t>Principle.</a:t>
            </a:r>
            <a:endParaRPr lang="en-US" sz="4600" dirty="0"/>
          </a:p>
        </p:txBody>
      </p:sp>
      <p:sp>
        <p:nvSpPr>
          <p:cNvPr id="5" name="Text 3"/>
          <p:cNvSpPr/>
          <p:nvPr/>
        </p:nvSpPr>
        <p:spPr>
          <a:xfrm>
            <a:off x="457200" y="1993392"/>
            <a:ext cx="384048" cy="411480"/>
          </a:xfrm>
          <a:prstGeom prst="rect">
            <a:avLst/>
          </a:prstGeom>
          <a:noFill/>
          <a:ln/>
        </p:spPr>
        <p:txBody>
          <a:bodyPr wrap="square" lIns="0" tIns="0" rIns="0" bIns="0"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01</a:t>
            </a:r>
            <a:endParaRPr lang="en-US" sz="1600" dirty="0"/>
          </a:p>
        </p:txBody>
      </p:sp>
      <p:sp>
        <p:nvSpPr>
          <p:cNvPr id="6" name="Text 4"/>
          <p:cNvSpPr/>
          <p:nvPr/>
        </p:nvSpPr>
        <p:spPr>
          <a:xfrm>
            <a:off x="914400" y="2011680"/>
            <a:ext cx="7772400" cy="38404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Prototype to kill assumptions, not to prove them. Every failed experiment saves £50K in wrong engineering.</a:t>
            </a:r>
            <a:endParaRPr lang="en-US" sz="1050" dirty="0"/>
          </a:p>
        </p:txBody>
      </p:sp>
      <p:sp>
        <p:nvSpPr>
          <p:cNvPr id="7" name="Text 5"/>
          <p:cNvSpPr/>
          <p:nvPr/>
        </p:nvSpPr>
        <p:spPr>
          <a:xfrm>
            <a:off x="457200" y="2523744"/>
            <a:ext cx="384048" cy="411480"/>
          </a:xfrm>
          <a:prstGeom prst="rect">
            <a:avLst/>
          </a:prstGeom>
          <a:noFill/>
          <a:ln/>
        </p:spPr>
        <p:txBody>
          <a:bodyPr wrap="square" lIns="0" tIns="0" rIns="0" bIns="0"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02</a:t>
            </a:r>
            <a:endParaRPr lang="en-US" sz="1600" dirty="0"/>
          </a:p>
        </p:txBody>
      </p:sp>
      <p:sp>
        <p:nvSpPr>
          <p:cNvPr id="8" name="Text 6"/>
          <p:cNvSpPr/>
          <p:nvPr/>
        </p:nvSpPr>
        <p:spPr>
          <a:xfrm>
            <a:off x="914400" y="2542032"/>
            <a:ext cx="7772400" cy="38404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The MVP is the smallest product that proves a household will pay before they know the full vision.</a:t>
            </a:r>
            <a:endParaRPr lang="en-US" sz="1050" dirty="0"/>
          </a:p>
        </p:txBody>
      </p:sp>
      <p:sp>
        <p:nvSpPr>
          <p:cNvPr id="9" name="Text 7"/>
          <p:cNvSpPr/>
          <p:nvPr/>
        </p:nvSpPr>
        <p:spPr>
          <a:xfrm>
            <a:off x="457200" y="3054096"/>
            <a:ext cx="384048" cy="411480"/>
          </a:xfrm>
          <a:prstGeom prst="rect">
            <a:avLst/>
          </a:prstGeom>
          <a:noFill/>
          <a:ln/>
        </p:spPr>
        <p:txBody>
          <a:bodyPr wrap="square" lIns="0" tIns="0" rIns="0" bIns="0"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03</a:t>
            </a:r>
            <a:endParaRPr lang="en-US" sz="1600" dirty="0"/>
          </a:p>
        </p:txBody>
      </p:sp>
      <p:sp>
        <p:nvSpPr>
          <p:cNvPr id="10" name="Text 8"/>
          <p:cNvSpPr/>
          <p:nvPr/>
        </p:nvSpPr>
        <p:spPr>
          <a:xfrm>
            <a:off x="914400" y="3072384"/>
            <a:ext cx="7772400" cy="38404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City Zero is a laboratory, not a launch. We measure everything. We replicate nothing until D90 &gt;60%.</a:t>
            </a:r>
            <a:endParaRPr lang="en-US" sz="1050" dirty="0"/>
          </a:p>
        </p:txBody>
      </p:sp>
      <p:sp>
        <p:nvSpPr>
          <p:cNvPr id="11" name="Text 9"/>
          <p:cNvSpPr/>
          <p:nvPr/>
        </p:nvSpPr>
        <p:spPr>
          <a:xfrm>
            <a:off x="457200" y="3584448"/>
            <a:ext cx="384048" cy="411480"/>
          </a:xfrm>
          <a:prstGeom prst="rect">
            <a:avLst/>
          </a:prstGeom>
          <a:noFill/>
          <a:ln/>
        </p:spPr>
        <p:txBody>
          <a:bodyPr wrap="square" lIns="0" tIns="0" rIns="0" bIns="0"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04</a:t>
            </a:r>
            <a:endParaRPr lang="en-US" sz="1600" dirty="0"/>
          </a:p>
        </p:txBody>
      </p:sp>
      <p:sp>
        <p:nvSpPr>
          <p:cNvPr id="12" name="Text 10"/>
          <p:cNvSpPr/>
          <p:nvPr/>
        </p:nvSpPr>
        <p:spPr>
          <a:xfrm>
            <a:off x="914400" y="3602736"/>
            <a:ext cx="7772400" cy="38404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Tools serve speed. Every tool in the stack is chosen because it makes a 4-person team move like 12.</a:t>
            </a:r>
            <a:endParaRPr lang="en-US" sz="1050" dirty="0"/>
          </a:p>
        </p:txBody>
      </p:sp>
      <p:sp>
        <p:nvSpPr>
          <p:cNvPr id="13" name="Text 11"/>
          <p:cNvSpPr/>
          <p:nvPr/>
        </p:nvSpPr>
        <p:spPr>
          <a:xfrm>
            <a:off x="457200" y="4114800"/>
            <a:ext cx="384048" cy="411480"/>
          </a:xfrm>
          <a:prstGeom prst="rect">
            <a:avLst/>
          </a:prstGeom>
          <a:noFill/>
          <a:ln/>
        </p:spPr>
        <p:txBody>
          <a:bodyPr wrap="square" lIns="0" tIns="0" rIns="0" bIns="0"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05</a:t>
            </a:r>
            <a:endParaRPr lang="en-US" sz="1600" dirty="0"/>
          </a:p>
        </p:txBody>
      </p:sp>
      <p:sp>
        <p:nvSpPr>
          <p:cNvPr id="14" name="Text 12"/>
          <p:cNvSpPr/>
          <p:nvPr/>
        </p:nvSpPr>
        <p:spPr>
          <a:xfrm>
            <a:off x="914400" y="4133088"/>
            <a:ext cx="7772400" cy="38404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The score engine is the business. The consumer app is the distribution. Never confuse the two.</a:t>
            </a:r>
            <a:endParaRPr lang="en-US" sz="1050" dirty="0"/>
          </a:p>
        </p:txBody>
      </p:sp>
      <p:sp>
        <p:nvSpPr>
          <p:cNvPr id="15" name="Shape 13"/>
          <p:cNvSpPr/>
          <p:nvPr/>
        </p:nvSpPr>
        <p:spPr>
          <a:xfrm>
            <a:off x="457200" y="4736592"/>
            <a:ext cx="8229600" cy="0"/>
          </a:xfrm>
          <a:prstGeom prst="line">
            <a:avLst/>
          </a:prstGeom>
          <a:noFill/>
          <a:ln w="15240">
            <a:solidFill>
              <a:srgbClr val="0D9488"/>
            </a:solidFill>
            <a:prstDash val="solid"/>
          </a:ln>
        </p:spPr>
      </p:sp>
      <p:sp>
        <p:nvSpPr>
          <p:cNvPr id="16" name="Text 14"/>
          <p:cNvSpPr/>
          <p:nvPr/>
        </p:nvSpPr>
        <p:spPr>
          <a:xfrm>
            <a:off x="457200" y="4828032"/>
            <a:ext cx="8229600" cy="201168"/>
          </a:xfrm>
          <a:prstGeom prst="rect">
            <a:avLst/>
          </a:prstGeom>
          <a:noFill/>
          <a:ln/>
        </p:spPr>
        <p:txBody>
          <a:bodyPr wrap="square" rtlCol="0" anchor="ctr"/>
          <a:lstStyle/>
          <a:p>
            <a:pPr algn="ctr" indent="0" marL="0">
              <a:buNone/>
            </a:pPr>
            <a:r>
              <a:rPr lang="en-US" sz="850" dirty="0">
                <a:solidFill>
                  <a:srgbClr val="475569"/>
                </a:solidFill>
                <a:latin typeface="Calibri" pitchFamily="34" charset="0"/>
                <a:ea typeface="Calibri" pitchFamily="34" charset="-122"/>
                <a:cs typeface="Calibri" pitchFamily="34" charset="-120"/>
              </a:rPr>
              <a:t>FinFlow · CEO Product Roadmap v1.0 · Confidential · 2025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FinFlow · CEO Product Roadmap &amp; New Venture</dc:title>
  <dc:subject>PptxGenJS Presentation</dc:subject>
  <dc:creator>PptxGenJS</dc:creator>
  <cp:lastModifiedBy>PptxGenJS</cp:lastModifiedBy>
  <cp:revision>1</cp:revision>
  <dcterms:created xsi:type="dcterms:W3CDTF">2026-03-03T08:00:26Z</dcterms:created>
  <dcterms:modified xsi:type="dcterms:W3CDTF">2026-03-03T08:00:26Z</dcterms:modified>
</cp:coreProperties>
</file>