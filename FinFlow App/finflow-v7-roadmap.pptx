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943600" cy="51435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B9E93"/>
          </a:solidFill>
          <a:ln w="12700">
            <a:solidFill>
              <a:srgbClr val="0B9E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11480"/>
            <a:ext cx="54864" cy="822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114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FinFlow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C4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Finance OS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v7 Roadmap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Sequencing · Honest Trade-offs · 14-Week Sprint Plan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5303520" cy="0"/>
          </a:xfrm>
          <a:prstGeom prst="line">
            <a:avLst/>
          </a:prstGeom>
          <a:noFill/>
          <a:ln w="19050">
            <a:solidFill>
              <a:srgbClr val="0B9E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971800"/>
            <a:ext cx="5303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v6 React stack to a production-ready v7.
</a:t>
            </a:r>
            <a:pPr indent="0" marL="0">
              <a:buNone/>
            </a:pPr>
            <a:r>
              <a:rPr lang="en-US" sz="11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features ship in v7. Two ship in v7.5. Two require a real backend and ship in v8 with cloud foundation. This deck is the operating sequence — not the wish list.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26480" y="4572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CF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INSIDE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126480" y="8686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Codebase Reality Check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126480" y="119786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Sequencing · 3 Tiers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126480" y="152704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Smart Onboarding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126480" y="185623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EMI Re-amortisation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126480" y="218541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Recurring + Reminders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25146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AI Planner (rules-based)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26480" y="284378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AI Chatbot (v7.5)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26480" y="317296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Admin Backend (v8)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126480" y="350215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Analytics &amp; NorthStar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126480" y="383133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14-Week Sprint Plan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126480" y="41605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What's NOT in v7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126480" y="448970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CEO Decision Points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484632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 PRD · 2025 ·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D4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§01 · CODEBASE REALITY CHECK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product actually is.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v6 is a feature-rich personal finance manager. The strategic plan said 'household OS with employer channel.' The two are not the same.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8229600" cy="0"/>
          </a:xfrm>
          <a:prstGeom prst="line">
            <a:avLst/>
          </a:prstGeom>
          <a:noFill/>
          <a:ln w="12700">
            <a:solidFill>
              <a:srgbClr val="0B9E93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BUILT (v6.0)</a:t>
            </a:r>
            <a:endParaRPr lang="en-US" sz="9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011680"/>
            <a:ext cx="164592" cy="1645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19933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9-page personal finance manager</a:t>
            </a:r>
            <a:endParaRPr lang="en-US" sz="10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4288"/>
            <a:ext cx="164592" cy="1645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7240" y="22860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Multi-profile workspace</a:t>
            </a:r>
            <a:endParaRPr lang="en-US" sz="10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596896"/>
            <a:ext cx="164592" cy="16459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77240" y="25786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Debts + Net Worth + Multi-currency</a:t>
            </a:r>
            <a:endParaRPr lang="en-US" sz="10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889504"/>
            <a:ext cx="164592" cy="16459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77240" y="28712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calculator (basic)</a:t>
            </a:r>
            <a:endParaRPr lang="en-US" sz="10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182112"/>
            <a:ext cx="164592" cy="16459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77240" y="316382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Pulse Score (5 components)</a:t>
            </a:r>
            <a:endParaRPr lang="en-US" sz="10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474720"/>
            <a:ext cx="164592" cy="16459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777240" y="34564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TS + Tailwind + Recharts</a:t>
            </a:r>
            <a:endParaRPr lang="en-US" sz="105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3767328"/>
            <a:ext cx="164592" cy="164592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777240" y="37490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DataAdapter abstraction (cloud-ready)</a:t>
            </a:r>
            <a:endParaRPr lang="en-US" sz="105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" y="4059936"/>
            <a:ext cx="164592" cy="164592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777240" y="40416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storage only · single-device</a:t>
            </a:r>
            <a:endParaRPr lang="en-US" sz="1050" dirty="0"/>
          </a:p>
        </p:txBody>
      </p:sp>
      <p:sp>
        <p:nvSpPr>
          <p:cNvPr id="23" name="Text 13"/>
          <p:cNvSpPr/>
          <p:nvPr/>
        </p:nvSpPr>
        <p:spPr>
          <a:xfrm>
            <a:off x="4663440" y="16916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NOT BUILT</a:t>
            </a:r>
            <a:endParaRPr lang="en-US" sz="950" dirty="0"/>
          </a:p>
        </p:txBody>
      </p:sp>
      <p:sp>
        <p:nvSpPr>
          <p:cNvPr id="24" name="Shape 14"/>
          <p:cNvSpPr/>
          <p:nvPr/>
        </p:nvSpPr>
        <p:spPr>
          <a:xfrm>
            <a:off x="4663440" y="2075688"/>
            <a:ext cx="164592" cy="36576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25" name="Text 15"/>
          <p:cNvSpPr/>
          <p:nvPr/>
        </p:nvSpPr>
        <p:spPr>
          <a:xfrm>
            <a:off x="4956048" y="19933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Banking integration (the thesis)</a:t>
            </a:r>
            <a:endParaRPr lang="en-US" sz="1050" dirty="0"/>
          </a:p>
        </p:txBody>
      </p:sp>
      <p:sp>
        <p:nvSpPr>
          <p:cNvPr id="26" name="Shape 16"/>
          <p:cNvSpPr/>
          <p:nvPr/>
        </p:nvSpPr>
        <p:spPr>
          <a:xfrm>
            <a:off x="4663440" y="2368296"/>
            <a:ext cx="164592" cy="36576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27" name="Text 17"/>
          <p:cNvSpPr/>
          <p:nvPr/>
        </p:nvSpPr>
        <p:spPr>
          <a:xfrm>
            <a:off x="4956048" y="22860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channel / B2B portal</a:t>
            </a:r>
            <a:endParaRPr lang="en-US" sz="1050" dirty="0"/>
          </a:p>
        </p:txBody>
      </p:sp>
      <p:sp>
        <p:nvSpPr>
          <p:cNvPr id="28" name="Shape 18"/>
          <p:cNvSpPr/>
          <p:nvPr/>
        </p:nvSpPr>
        <p:spPr>
          <a:xfrm>
            <a:off x="4663440" y="2660904"/>
            <a:ext cx="164592" cy="36576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29" name="Text 19"/>
          <p:cNvSpPr/>
          <p:nvPr/>
        </p:nvSpPr>
        <p:spPr>
          <a:xfrm>
            <a:off x="4956048" y="25786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backend / multi-tenancy / auth</a:t>
            </a:r>
            <a:endParaRPr lang="en-US" sz="1050" dirty="0"/>
          </a:p>
        </p:txBody>
      </p:sp>
      <p:sp>
        <p:nvSpPr>
          <p:cNvPr id="30" name="Shape 20"/>
          <p:cNvSpPr/>
          <p:nvPr/>
        </p:nvSpPr>
        <p:spPr>
          <a:xfrm>
            <a:off x="4663440" y="2953512"/>
            <a:ext cx="164592" cy="36576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31" name="Text 21"/>
          <p:cNvSpPr/>
          <p:nvPr/>
        </p:nvSpPr>
        <p:spPr>
          <a:xfrm>
            <a:off x="4956048" y="28712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 circles · peer matching</a:t>
            </a:r>
            <a:endParaRPr lang="en-US" sz="1050" dirty="0"/>
          </a:p>
        </p:txBody>
      </p:sp>
      <p:sp>
        <p:nvSpPr>
          <p:cNvPr id="32" name="Shape 22"/>
          <p:cNvSpPr/>
          <p:nvPr/>
        </p:nvSpPr>
        <p:spPr>
          <a:xfrm>
            <a:off x="4663440" y="3246120"/>
            <a:ext cx="164592" cy="36576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33" name="Text 23"/>
          <p:cNvSpPr/>
          <p:nvPr/>
        </p:nvSpPr>
        <p:spPr>
          <a:xfrm>
            <a:off x="4956048" y="316382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Score B2B licensing API</a:t>
            </a:r>
            <a:endParaRPr lang="en-US" sz="1050" dirty="0"/>
          </a:p>
        </p:txBody>
      </p:sp>
      <p:sp>
        <p:nvSpPr>
          <p:cNvPr id="34" name="Shape 24"/>
          <p:cNvSpPr/>
          <p:nvPr/>
        </p:nvSpPr>
        <p:spPr>
          <a:xfrm>
            <a:off x="4663440" y="3538728"/>
            <a:ext cx="164592" cy="36576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4956048" y="34564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Multi-device sync · cloud</a:t>
            </a:r>
            <a:endParaRPr lang="en-US" sz="1050" dirty="0"/>
          </a:p>
        </p:txBody>
      </p:sp>
      <p:sp>
        <p:nvSpPr>
          <p:cNvPr id="36" name="Shape 26"/>
          <p:cNvSpPr/>
          <p:nvPr/>
        </p:nvSpPr>
        <p:spPr>
          <a:xfrm>
            <a:off x="4663440" y="3831336"/>
            <a:ext cx="164592" cy="36576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37" name="Text 27"/>
          <p:cNvSpPr/>
          <p:nvPr/>
        </p:nvSpPr>
        <p:spPr>
          <a:xfrm>
            <a:off x="4956048" y="37490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users · only test data</a:t>
            </a:r>
            <a:endParaRPr lang="en-US" sz="1050" dirty="0"/>
          </a:p>
        </p:txBody>
      </p:sp>
      <p:sp>
        <p:nvSpPr>
          <p:cNvPr id="38" name="Shape 28"/>
          <p:cNvSpPr/>
          <p:nvPr/>
        </p:nvSpPr>
        <p:spPr>
          <a:xfrm>
            <a:off x="4663440" y="4123944"/>
            <a:ext cx="164592" cy="36576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39" name="Text 29"/>
          <p:cNvSpPr/>
          <p:nvPr/>
        </p:nvSpPr>
        <p:spPr>
          <a:xfrm>
            <a:off x="4956048" y="40416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channel · institutional moat</a:t>
            </a:r>
            <a:endParaRPr lang="en-US" sz="1050" dirty="0"/>
          </a:p>
        </p:txBody>
      </p:sp>
      <p:sp>
        <p:nvSpPr>
          <p:cNvPr id="40" name="Shape 30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solidFill>
            <a:srgbClr val="FEF3C7"/>
          </a:solidFill>
          <a:ln w="6350">
            <a:solidFill>
              <a:srgbClr val="D4820A"/>
            </a:solidFill>
            <a:prstDash val="solid"/>
          </a:ln>
        </p:spPr>
      </p:sp>
      <p:sp>
        <p:nvSpPr>
          <p:cNvPr id="41" name="Text 31"/>
          <p:cNvSpPr/>
          <p:nvPr/>
        </p:nvSpPr>
        <p:spPr>
          <a:xfrm>
            <a:off x="594360" y="4544568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strategic question this PRD does not solve:  </a:t>
            </a:r>
            <a:pPr indent="0" marL="0">
              <a:buNone/>
            </a:pPr>
            <a:r>
              <a:rPr lang="en-US" sz="1000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 polishes what we built. It does not move us closer to the household OS thesis. That is v8 (Open Banking) + v9 (multi-tenancy + employer channel). Decide consciously before v7 ships.</a:t>
            </a:r>
            <a:endParaRPr lang="en-US" sz="1000" dirty="0"/>
          </a:p>
        </p:txBody>
      </p:sp>
      <p:sp>
        <p:nvSpPr>
          <p:cNvPr id="42" name="Text 32"/>
          <p:cNvSpPr/>
          <p:nvPr/>
        </p:nvSpPr>
        <p:spPr>
          <a:xfrm>
            <a:off x="8412480" y="480060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D4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§02 · SEQUENCING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tiers. Honest pacing.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proposed features. Three ship in v7. Two in v7.5. Two require cloud and ship in v8.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8229600" cy="0"/>
          </a:xfrm>
          <a:prstGeom prst="line">
            <a:avLst/>
          </a:prstGeom>
          <a:noFill/>
          <a:ln w="12700">
            <a:solidFill>
              <a:srgbClr val="0B9E93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69164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B9E9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691640"/>
            <a:ext cx="2743200" cy="640080"/>
          </a:xfrm>
          <a:prstGeom prst="rect">
            <a:avLst/>
          </a:prstGeom>
          <a:solidFill>
            <a:srgbClr val="0B9E93"/>
          </a:solidFill>
          <a:ln w="12700">
            <a:solidFill>
              <a:srgbClr val="0B9E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5564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· v7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weeks · Q1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4231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 now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21208" y="2788920"/>
            <a:ext cx="292608" cy="292608"/>
          </a:xfrm>
          <a:prstGeom prst="rect">
            <a:avLst/>
          </a:prstGeom>
          <a:solidFill>
            <a:srgbClr val="0B9E93"/>
          </a:solidFill>
          <a:ln w="12700">
            <a:solidFill>
              <a:srgbClr val="0B9E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" y="2825496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277063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Onboarding · Profile Templates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68680" y="299008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frontend. Highest leverage.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21208" y="3447288"/>
            <a:ext cx="292608" cy="292608"/>
          </a:xfrm>
          <a:prstGeom prst="rect">
            <a:avLst/>
          </a:prstGeom>
          <a:solidFill>
            <a:srgbClr val="0B9E93"/>
          </a:solidFill>
          <a:ln w="12700">
            <a:solidFill>
              <a:srgbClr val="0B9E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" y="3483864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342900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Re-amortisation Logic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68680" y="364845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bar fix on existing feature.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21208" y="4105656"/>
            <a:ext cx="292608" cy="292608"/>
          </a:xfrm>
          <a:prstGeom prst="rect">
            <a:avLst/>
          </a:prstGeom>
          <a:solidFill>
            <a:srgbClr val="0B9E93"/>
          </a:solidFill>
          <a:ln w="12700">
            <a:solidFill>
              <a:srgbClr val="0B9E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" y="4142232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408736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+ Notifications + Reminders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68680" y="430682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features collapse to one.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337560" y="169164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820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337560" y="1691640"/>
            <a:ext cx="2743200" cy="640080"/>
          </a:xfrm>
          <a:prstGeom prst="rect">
            <a:avLst/>
          </a:prstGeom>
          <a:solidFill>
            <a:srgbClr val="D4820A"/>
          </a:solidFill>
          <a:ln w="12700">
            <a:solidFill>
              <a:srgbClr val="D482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175564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· v7.5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74720" y="20116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 weeks · Q2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474720" y="24231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 after backend MVP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47288" y="2788920"/>
            <a:ext cx="292608" cy="292608"/>
          </a:xfrm>
          <a:prstGeom prst="rect">
            <a:avLst/>
          </a:prstGeom>
          <a:solidFill>
            <a:srgbClr val="D4820A"/>
          </a:solidFill>
          <a:ln w="12700">
            <a:solidFill>
              <a:srgbClr val="D4820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47288" y="2825496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794760" y="277063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Planner (rules-based)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794760" y="299008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Deterministic. No hallucination risk.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447288" y="3447288"/>
            <a:ext cx="292608" cy="292608"/>
          </a:xfrm>
          <a:prstGeom prst="rect">
            <a:avLst/>
          </a:prstGeom>
          <a:solidFill>
            <a:srgbClr val="D4820A"/>
          </a:solidFill>
          <a:ln w="12700">
            <a:solidFill>
              <a:srgbClr val="D4820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47288" y="3483864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794760" y="342900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(Q&amp;A on data)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794760" y="364845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Supabase Edge Function.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263640" y="169164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354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63640" y="1691640"/>
            <a:ext cx="2743200" cy="640080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175564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· v8 / v9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00800" y="20116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+6+ months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400800" y="24231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Need cloud foundation first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373368" y="2788920"/>
            <a:ext cx="292608" cy="292608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73368" y="2825496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720840" y="277063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Backend (separate app)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720840" y="299008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real users in cloud DB.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373368" y="3447288"/>
            <a:ext cx="292608" cy="292608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73368" y="3483864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720840" y="342900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Analytics + KPIs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720840" y="364845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inside admin app.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4360" y="4617720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v7 scope: 14 weeks · 2 frontend engineers · 1 designer · 0.5 backend (service worker)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412480" y="480060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D4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§03 · V7 FEATURE 1 · SMART ONBOARDING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blank slate to right-fit in 90 seconds.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8229600" cy="0"/>
          </a:xfrm>
          <a:prstGeom prst="line">
            <a:avLst/>
          </a:prstGeom>
          <a:noFill/>
          <a:ln w="12700">
            <a:solidFill>
              <a:srgbClr val="0B9E93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28016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80160"/>
            <a:ext cx="2743200" cy="54864"/>
          </a:xfrm>
          <a:prstGeom prst="rect">
            <a:avLst/>
          </a:prstGeom>
          <a:solidFill>
            <a:srgbClr val="0B9E93"/>
          </a:solidFill>
          <a:ln w="12700">
            <a:solidFill>
              <a:srgbClr val="0B9E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42646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💑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188720" y="14813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Couple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6072" y="1956816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B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Pre-populated: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76072" y="21488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+ Joint goals + Rent budgets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37560" y="128016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280160"/>
            <a:ext cx="27432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02152" y="142646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👨‍👩‍👧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114800" y="14813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with Kids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02152" y="1956816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Pre-populated: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502152" y="21488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+ Mortgage + School fees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63640" y="128016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3640" y="1280160"/>
            <a:ext cx="2743200" cy="54864"/>
          </a:xfrm>
          <a:prstGeom prst="rect">
            <a:avLst/>
          </a:prstGeom>
          <a:solidFill>
            <a:srgbClr val="D4820A"/>
          </a:solidFill>
          <a:ln w="12700">
            <a:solidFill>
              <a:srgbClr val="D482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28232" y="142646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💪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040880" y="14813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/ Single Parent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28232" y="1956816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D4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Pre-populated: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428232" y="21488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fund + Benefits checker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" y="278892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" y="2788920"/>
            <a:ext cx="274320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" y="293522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💼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1188720" y="2990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Self-Employed / SMB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76072" y="3465576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Pre-populated: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76072" y="36576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P/B firewall + GST + Tax goal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337560" y="278892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337560" y="2788920"/>
            <a:ext cx="2743200" cy="54864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02152" y="293522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🌅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4114800" y="2990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Pre-Retiree / Retiree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502152" y="3465576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Pre-populated: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502152" y="36576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Drawdown + Healthcare + Pension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63640" y="278892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63640" y="2788920"/>
            <a:ext cx="27432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28232" y="293522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🎓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7040880" y="2990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/ Early Career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28232" y="3465576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Pre-populated: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428232" y="36576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loan + Course budgets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7200" y="4370832"/>
            <a:ext cx="8229600" cy="566928"/>
          </a:xfrm>
          <a:prstGeom prst="rect">
            <a:avLst/>
          </a:prstGeom>
          <a:solidFill>
            <a:srgbClr val="E0F7F5"/>
          </a:solidFill>
          <a:ln w="6350">
            <a:solidFill>
              <a:srgbClr val="0B9E9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441655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B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4-STEP FLOW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40080" y="4626864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Which describes you?  →  Q2: Household size?  →  Q3: Primary concern?  →  Q4: Currency + language    ·    Target: 90 seconds median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412480" y="480060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D4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§04 · V7 FEATURE 2 · EMI RE-AMORTISATION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 the math. Then give users a real choice.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8229600" cy="0"/>
          </a:xfrm>
          <a:prstGeom prst="line">
            <a:avLst/>
          </a:prstGeom>
          <a:noFill/>
          <a:ln w="12700">
            <a:solidFill>
              <a:srgbClr val="0B9E93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8229600" cy="960120"/>
          </a:xfrm>
          <a:prstGeom prst="rect">
            <a:avLst/>
          </a:prstGeom>
          <a:solidFill>
            <a:srgbClr val="FEF3C7"/>
          </a:solidFill>
          <a:ln w="6350">
            <a:solidFill>
              <a:srgbClr val="D4820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173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37160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TODAY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97280" y="155448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£200K mortgage · 5% APR · 25-year tenure · £1,170 EMI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97280" y="178308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1: £833 interest, £337 principal  ·  Month 120: £625 interest, £545 principal  ·  Month 300: £5 interest, £1,165 principal. Current EMI tracker shows a flat split.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57200" y="2468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B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USER MAKES A PART-PAYMENT, GIVE THEM THIS CHOICE: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11480" y="283464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1480" y="2834640"/>
            <a:ext cx="2743200" cy="292608"/>
          </a:xfrm>
          <a:prstGeom prst="rect">
            <a:avLst/>
          </a:prstGeom>
          <a:solidFill>
            <a:srgbClr val="0B9E93"/>
          </a:solidFill>
          <a:ln w="12700">
            <a:solidFill>
              <a:srgbClr val="0B9E9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2871216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· Default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48640" y="320040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Reduce Tenure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48640" y="354787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stays £1,170. Loan ends earlier. Saves the most interest. (Most common in India.)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337560" y="283464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337560" y="2834640"/>
            <a:ext cx="2743200" cy="292608"/>
          </a:xfrm>
          <a:prstGeom prst="rect">
            <a:avLst/>
          </a:prstGeom>
          <a:solidFill>
            <a:srgbClr val="D4820A"/>
          </a:solidFill>
          <a:ln w="12700">
            <a:solidFill>
              <a:srgbClr val="D4820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74720" y="2871216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3474720" y="320040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Reduce EMI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3474720" y="354787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stays 25 years. Monthly EMI drops to £1,032. Better cash flow today.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263640" y="283464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263640" y="2834640"/>
            <a:ext cx="274320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0800" y="2871216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C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400800" y="320040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Apply as Advance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400800" y="354787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unchanged. Next 4 EMIs auto-marked paid. No schedule disruption.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Refactor: src/lib/calculations.ts · Match Bank of England PMT calculator within £0.01 · Validate against 5 real loan statements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8412480" y="480060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D4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§05 · V7 FEATURE 3 · RECURRING + REMINDERS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features that don't ship apart.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without reminders is half a feature. Reminders without recurring has nothing to remind.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8229600" cy="0"/>
          </a:xfrm>
          <a:prstGeom prst="line">
            <a:avLst/>
          </a:prstGeom>
          <a:noFill/>
          <a:ln w="12700">
            <a:solidFill>
              <a:srgbClr val="0B9E93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B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· RECURRING SCHEDULE ENGINE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36576" cy="457200"/>
          </a:xfrm>
          <a:prstGeom prst="rect">
            <a:avLst/>
          </a:prstGeom>
          <a:solidFill>
            <a:srgbClr val="0B9E93"/>
          </a:solidFill>
          <a:ln w="12700">
            <a:solidFill>
              <a:srgbClr val="0B9E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0116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object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22402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| monthly | yearly | custom day-of-month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36576" cy="457200"/>
          </a:xfrm>
          <a:prstGeom prst="rect">
            <a:avLst/>
          </a:prstGeom>
          <a:solidFill>
            <a:srgbClr val="0B9E93"/>
          </a:solidFill>
          <a:ln w="12700">
            <a:solidFill>
              <a:srgbClr val="0B9E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5603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27889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pending transaction at scheduled time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36576" cy="457200"/>
          </a:xfrm>
          <a:prstGeom prst="rect">
            <a:avLst/>
          </a:prstGeom>
          <a:solidFill>
            <a:srgbClr val="0B9E93"/>
          </a:solidFill>
          <a:ln w="12700">
            <a:solidFill>
              <a:srgbClr val="0B9E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1089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flow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4360" y="33375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confirms or auto-confirms (toggle)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36576" cy="457200"/>
          </a:xfrm>
          <a:prstGeom prst="rect">
            <a:avLst/>
          </a:prstGeom>
          <a:solidFill>
            <a:srgbClr val="0B9E93"/>
          </a:solidFill>
          <a:ln w="12700">
            <a:solidFill>
              <a:srgbClr val="0B9E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6576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'Recurring' page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4360" y="38862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schedules · next due · status · running total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54880" y="16916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· NOTIFICATIONS SYSTEM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2011680"/>
            <a:ext cx="36576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01168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bill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221284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 before · default ON · per-bill toggle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54880" y="2468880"/>
            <a:ext cx="36576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46888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payment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267004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after · default ON · critical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54880" y="2926080"/>
            <a:ext cx="36576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92608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threshold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2040" y="312724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/ 100% category · default OFF · opt-in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54880" y="3383280"/>
            <a:ext cx="36576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338328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milestone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92040" y="358444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/ 50% / 75% / 100% · default ON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54880" y="3840480"/>
            <a:ext cx="36576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384048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reminder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92040" y="404164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User-defined date + message · manual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EDE9F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461772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DELIVERY: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371600" y="4617720"/>
            <a:ext cx="7178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center  ·  Web Push API  ·  PWA notifications      ·      NOT in v7: SMS, email, native push (those need backend + native app)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412480" y="480060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D4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§06 · V7.5 · AI PLANNER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Rules-based first. LLM second.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8229600" cy="0"/>
          </a:xfrm>
          <a:prstGeom prst="line">
            <a:avLst/>
          </a:prstGeom>
          <a:noFill/>
          <a:ln w="12700">
            <a:solidFill>
              <a:srgbClr val="0B9E93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8229600" cy="777240"/>
          </a:xfrm>
          <a:prstGeom prst="rect">
            <a:avLst/>
          </a:prstGeom>
          <a:solidFill>
            <a:srgbClr val="FEE2E2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7160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v7.5 IS RULES-BASED — NOT LLM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591056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LLM-driven financial advice = regulatory landmine. We're not FCA-authorised. Suggesting investment moves to users via an LLM exposes us to advice liability and hallucination risk on someone's actual money. v7.5 ships a deterministic rules engine. The LLM upgrade is v8 with proper disclaimers and guardrails.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221284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B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FIVE-DOMAIN ANALYSIS · DETERMINISTIC · ZERO HALLUCINATION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487168"/>
            <a:ext cx="822960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487168"/>
            <a:ext cx="54864" cy="365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53288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83080" y="25328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score · diversification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46320" y="25328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"Single source of income. 6-month emergency fund recommended."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2898648"/>
            <a:ext cx="8229600" cy="36576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898648"/>
            <a:ext cx="54864" cy="365760"/>
          </a:xfrm>
          <a:prstGeom prst="rect">
            <a:avLst/>
          </a:prstGeom>
          <a:solidFill>
            <a:srgbClr val="D4820A"/>
          </a:solidFill>
          <a:ln w="12700">
            <a:solidFill>
              <a:srgbClr val="D482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9443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83080" y="294436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income · top categories · trends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46320" y="294436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spend 78% of income — 8% above healthy threshold."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310128"/>
            <a:ext cx="822960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310128"/>
            <a:ext cx="54864" cy="365760"/>
          </a:xfrm>
          <a:prstGeom prst="rect">
            <a:avLst/>
          </a:prstGeom>
          <a:solidFill>
            <a:srgbClr val="0B9E93"/>
          </a:solidFill>
          <a:ln w="12700">
            <a:solidFill>
              <a:srgbClr val="0B9E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35584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783080" y="335584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invested · allocation · liquidity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46320" y="33558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invest 4%. Age-band target: 15%. Consider SIPP/Roth."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3721608"/>
            <a:ext cx="8229600" cy="36576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721608"/>
            <a:ext cx="54864" cy="365760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7673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783080" y="37673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DTI ratio · APR-weighted avg · payoff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46320" y="37673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"DTI 38%. Healthy: 36%. Avalanche credit card before 401k."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" y="4133088"/>
            <a:ext cx="822960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133088"/>
            <a:ext cx="54864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417880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783080" y="41788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ISA/SIPP gaps · region-specific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46320" y="41788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"You've used £3,200 of £20,000 ISA allowance."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Engine: src/lib/plannerRules.ts · ~30 rules covering 90% of household scenarios · Each rule = priority + severity + trigger function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412480" y="480060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D4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§07 · V7.5 · AI CHATBOT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needs a backend.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8229600" cy="0"/>
          </a:xfrm>
          <a:prstGeom prst="line">
            <a:avLst/>
          </a:prstGeom>
          <a:noFill/>
          <a:ln w="12700">
            <a:solidFill>
              <a:srgbClr val="0B9E93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B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WHY IT SHIPS WITH v7.5 · NOT v7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645920"/>
            <a:ext cx="192024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F25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645920"/>
            <a:ext cx="1920240" cy="292608"/>
          </a:xfrm>
          <a:prstGeom prst="rect">
            <a:avLst/>
          </a:prstGeom>
          <a:solidFill>
            <a:srgbClr val="0F2547"/>
          </a:solidFill>
          <a:ln w="12700">
            <a:solidFill>
              <a:srgbClr val="0F25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916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169164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01168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question typed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31720" y="2194560"/>
            <a:ext cx="274320" cy="0"/>
          </a:xfrm>
          <a:prstGeom prst="line">
            <a:avLst/>
          </a:prstGeom>
          <a:noFill/>
          <a:ln w="19050">
            <a:solidFill>
              <a:srgbClr val="0B9E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06040" y="1645920"/>
            <a:ext cx="192024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9E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06040" y="1645920"/>
            <a:ext cx="1920240" cy="292608"/>
          </a:xfrm>
          <a:prstGeom prst="rect">
            <a:avLst/>
          </a:prstGeom>
          <a:solidFill>
            <a:srgbClr val="0B9E93"/>
          </a:solidFill>
          <a:ln w="12700">
            <a:solidFill>
              <a:srgbClr val="0B9E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97480" y="16916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17520" y="169164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Function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0" y="201168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check · summarise data · privacy filter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26280" y="2194560"/>
            <a:ext cx="274320" cy="0"/>
          </a:xfrm>
          <a:prstGeom prst="line">
            <a:avLst/>
          </a:prstGeom>
          <a:noFill/>
          <a:ln w="19050">
            <a:solidFill>
              <a:srgbClr val="0B9E9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1645920"/>
            <a:ext cx="192024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D4820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0600" y="1645920"/>
            <a:ext cx="1920240" cy="292608"/>
          </a:xfrm>
          <a:prstGeom prst="rect">
            <a:avLst/>
          </a:prstGeom>
          <a:solidFill>
            <a:srgbClr val="D4820A"/>
          </a:solidFill>
          <a:ln w="12700">
            <a:solidFill>
              <a:srgbClr val="D482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16916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212080" y="169164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201168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summary + question · returns answer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720840" y="2194560"/>
            <a:ext cx="274320" cy="0"/>
          </a:xfrm>
          <a:prstGeom prst="line">
            <a:avLst/>
          </a:prstGeom>
          <a:noFill/>
          <a:ln w="19050">
            <a:solidFill>
              <a:srgbClr val="0B9E9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95160" y="1645920"/>
            <a:ext cx="192024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95160" y="1645920"/>
            <a:ext cx="192024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86600" y="16916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06640" y="169164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UI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132320" y="201168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Streamed response in chat panel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301752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CAN DO</a:t>
            </a:r>
            <a:endParaRPr lang="en-US" sz="900" dirty="0"/>
          </a:p>
        </p:txBody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91840"/>
            <a:ext cx="146304" cy="146304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758952" y="32735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did I spend on groceries last month?</a:t>
            </a:r>
            <a:endParaRPr lang="en-US" sz="950" dirty="0"/>
          </a:p>
        </p:txBody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584448"/>
            <a:ext cx="146304" cy="146304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758952" y="35661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I on track for my emergency fund goal?</a:t>
            </a:r>
            <a:endParaRPr lang="en-US" sz="950" dirty="0"/>
          </a:p>
        </p:txBody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877056"/>
            <a:ext cx="146304" cy="146304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758952" y="38587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my Pulse Score drop this month?</a:t>
            </a:r>
            <a:endParaRPr lang="en-US" sz="950" dirty="0"/>
          </a:p>
        </p:txBody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169664"/>
            <a:ext cx="146304" cy="146304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758952" y="415137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me a summary of December.</a:t>
            </a:r>
            <a:endParaRPr lang="en-US" sz="950" dirty="0"/>
          </a:p>
        </p:txBody>
      </p:sp>
      <p:sp>
        <p:nvSpPr>
          <p:cNvPr id="38" name="Text 32"/>
          <p:cNvSpPr/>
          <p:nvPr/>
        </p:nvSpPr>
        <p:spPr>
          <a:xfrm>
            <a:off x="4754880" y="301752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CANNOT DO</a:t>
            </a:r>
            <a:endParaRPr lang="en-US" sz="900" dirty="0"/>
          </a:p>
        </p:txBody>
      </p:sp>
      <p:sp>
        <p:nvSpPr>
          <p:cNvPr id="39" name="Shape 33"/>
          <p:cNvSpPr/>
          <p:nvPr/>
        </p:nvSpPr>
        <p:spPr>
          <a:xfrm>
            <a:off x="4800600" y="3346704"/>
            <a:ext cx="164592" cy="36576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5029200" y="32735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specific stocks or investment products</a:t>
            </a:r>
            <a:endParaRPr lang="en-US" sz="950" dirty="0"/>
          </a:p>
        </p:txBody>
      </p:sp>
      <p:sp>
        <p:nvSpPr>
          <p:cNvPr id="41" name="Shape 35"/>
          <p:cNvSpPr/>
          <p:nvPr/>
        </p:nvSpPr>
        <p:spPr>
          <a:xfrm>
            <a:off x="4800600" y="3639312"/>
            <a:ext cx="164592" cy="36576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5029200" y="35661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taxes or transfer money</a:t>
            </a:r>
            <a:endParaRPr lang="en-US" sz="950" dirty="0"/>
          </a:p>
        </p:txBody>
      </p:sp>
      <p:sp>
        <p:nvSpPr>
          <p:cNvPr id="43" name="Shape 37"/>
          <p:cNvSpPr/>
          <p:nvPr/>
        </p:nvSpPr>
        <p:spPr>
          <a:xfrm>
            <a:off x="4800600" y="3931920"/>
            <a:ext cx="164592" cy="36576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5029200" y="38587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individual transaction descriptions (privacy)</a:t>
            </a:r>
            <a:endParaRPr lang="en-US" sz="950" dirty="0"/>
          </a:p>
        </p:txBody>
      </p:sp>
      <p:sp>
        <p:nvSpPr>
          <p:cNvPr id="45" name="Shape 39"/>
          <p:cNvSpPr/>
          <p:nvPr/>
        </p:nvSpPr>
        <p:spPr>
          <a:xfrm>
            <a:off x="4800600" y="4224528"/>
            <a:ext cx="164592" cy="36576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5029200" y="415137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outside the user's own data scope</a:t>
            </a:r>
            <a:endParaRPr lang="en-US" sz="950" dirty="0"/>
          </a:p>
        </p:txBody>
      </p:sp>
      <p:sp>
        <p:nvSpPr>
          <p:cNvPr id="47" name="Text 41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Engine: Supabase Edge Function · Claude Haiku 4.5 · Privacy: aggregates only — never raw transactions or merchant names</a:t>
            </a:r>
            <a:endParaRPr lang="en-US" sz="900" dirty="0"/>
          </a:p>
        </p:txBody>
      </p:sp>
      <p:sp>
        <p:nvSpPr>
          <p:cNvPr id="48" name="Text 42"/>
          <p:cNvSpPr/>
          <p:nvPr/>
        </p:nvSpPr>
        <p:spPr>
          <a:xfrm>
            <a:off x="8412480" y="480060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D4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§08 · V8 · ADMIN BACKEND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is v8, not v7.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8229600" cy="0"/>
          </a:xfrm>
          <a:prstGeom prst="line">
            <a:avLst/>
          </a:prstGeom>
          <a:noFill/>
          <a:ln w="12700">
            <a:solidFill>
              <a:srgbClr val="0B9E93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8229600" cy="777240"/>
          </a:xfrm>
          <a:prstGeom prst="rect">
            <a:avLst/>
          </a:prstGeom>
          <a:solidFill>
            <a:srgbClr val="FEE2E2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7160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THIS NOW = WASTE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591056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backend has nothing to administer until users exist in a real database. v6 = localStorage. There are no centralised users. The admin app would query nothing. v8 ships Supabase auth + multi-tenancy. THEN admin makes sense. Building against fake data wastes 6 weeks of frontend capacity.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B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ROLE TIERS · WHEN IT SHIPS IN v8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2542032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2542032"/>
            <a:ext cx="2743200" cy="292608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57860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90779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325526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 + CTO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48640" y="34564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mgmt · Content · Billing · Audit · Settings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337560" y="2542032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37560" y="2542032"/>
            <a:ext cx="2743200" cy="292608"/>
          </a:xfrm>
          <a:prstGeom prst="rect">
            <a:avLst/>
          </a:prstGeom>
          <a:solidFill>
            <a:srgbClr val="D4820A"/>
          </a:solidFill>
          <a:ln w="12700">
            <a:solidFill>
              <a:srgbClr val="D482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257860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Admin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74720" y="290779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Users only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74720" y="325526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 lead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474720" y="34564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Create/edit/delete users · Reset passwords · Refunds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263640" y="2542032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63640" y="2542032"/>
            <a:ext cx="2743200" cy="292608"/>
          </a:xfrm>
          <a:prstGeom prst="rect">
            <a:avLst/>
          </a:prstGeom>
          <a:solidFill>
            <a:srgbClr val="0B9E93"/>
          </a:solidFill>
          <a:ln w="12700">
            <a:solidFill>
              <a:srgbClr val="0B9E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257860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Admin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0" y="290779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Articles only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0" y="325526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/ Editor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400800" y="34564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CRUD · Publish workflow · Tagging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SEPARATE app: different bundle (consumers don't ship admin code) · different auth (admin SSO) · different deploy cadence · different security posture (VPN/IP allowlist)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412480" y="480060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§09 · V8 · PRODUCT ANALYTICS &amp; NORTHSTAR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measure when there is something to measure.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0"/>
          </a:xfrm>
          <a:prstGeom prst="line">
            <a:avLst/>
          </a:prstGeom>
          <a:noFill/>
          <a:ln w="12700">
            <a:solidFill>
              <a:srgbClr val="0B9E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solidFill>
            <a:srgbClr val="0A4540"/>
          </a:solidFill>
          <a:ln w="12700">
            <a:solidFill>
              <a:srgbClr val="13C4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71600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NORTHSTAR METRIC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572768"/>
            <a:ext cx="7955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Active Households per Week (AHpW)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1874520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active household has 2+ members logged in or recording transactions in past 7 days. Single-user accounts count as 0.5. Captures the thesis: FinFlow only works if the household, not the individual, adopts it.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PER MODULE · MEASURED IN v8 ADMIN APP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2606040"/>
            <a:ext cx="2011680" cy="777240"/>
          </a:xfrm>
          <a:prstGeom prst="rect">
            <a:avLst/>
          </a:prstGeom>
          <a:solidFill>
            <a:srgbClr val="13192A"/>
          </a:solidFill>
          <a:ln w="6350">
            <a:solidFill>
              <a:srgbClr val="2A35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267004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21208" y="285292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first transaction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21208" y="31089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C4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90s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606040" y="2606040"/>
            <a:ext cx="2011680" cy="777240"/>
          </a:xfrm>
          <a:prstGeom prst="rect">
            <a:avLst/>
          </a:prstGeom>
          <a:solidFill>
            <a:srgbClr val="13192A"/>
          </a:solidFill>
          <a:ln w="6350">
            <a:solidFill>
              <a:srgbClr val="2A35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15768" y="267004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715768" y="285292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D7 retention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15768" y="31089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C4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60%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00600" y="2606040"/>
            <a:ext cx="2011680" cy="777240"/>
          </a:xfrm>
          <a:prstGeom prst="rect">
            <a:avLst/>
          </a:prstGeom>
          <a:solidFill>
            <a:srgbClr val="13192A"/>
          </a:solidFill>
          <a:ln w="6350">
            <a:solidFill>
              <a:srgbClr val="2A35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0328" y="267004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910328" y="285292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with 2+ active members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10328" y="31089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C4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40%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995160" y="2606040"/>
            <a:ext cx="2011680" cy="777240"/>
          </a:xfrm>
          <a:prstGeom prst="rect">
            <a:avLst/>
          </a:prstGeom>
          <a:solidFill>
            <a:srgbClr val="13192A"/>
          </a:solidFill>
          <a:ln w="6350">
            <a:solidFill>
              <a:srgbClr val="2A35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04888" y="267004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104888" y="285292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D90 retention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04888" y="31089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C4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50%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11480" y="3520440"/>
            <a:ext cx="2011680" cy="777240"/>
          </a:xfrm>
          <a:prstGeom prst="rect">
            <a:avLst/>
          </a:prstGeom>
          <a:solidFill>
            <a:srgbClr val="13192A"/>
          </a:solidFill>
          <a:ln w="6350">
            <a:solidFill>
              <a:srgbClr val="2A35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" y="358444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SCORE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1208" y="376732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improving in 30 days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21208" y="40233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C4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70%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606040" y="3520440"/>
            <a:ext cx="2011680" cy="777240"/>
          </a:xfrm>
          <a:prstGeom prst="rect">
            <a:avLst/>
          </a:prstGeom>
          <a:solidFill>
            <a:srgbClr val="13192A"/>
          </a:solidFill>
          <a:ln w="6350">
            <a:solidFill>
              <a:srgbClr val="2A35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15768" y="358444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715768" y="376732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triggering payment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715768" y="40233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C4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80%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800600" y="3520440"/>
            <a:ext cx="2011680" cy="777240"/>
          </a:xfrm>
          <a:prstGeom prst="rect">
            <a:avLst/>
          </a:prstGeom>
          <a:solidFill>
            <a:srgbClr val="13192A"/>
          </a:solidFill>
          <a:ln w="6350">
            <a:solidFill>
              <a:srgbClr val="2A35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10328" y="358444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PLANNER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910328" y="376732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recs followed in 14d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10328" y="40233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C4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25%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995160" y="3520440"/>
            <a:ext cx="2011680" cy="777240"/>
          </a:xfrm>
          <a:prstGeom prst="rect">
            <a:avLst/>
          </a:prstGeom>
          <a:solidFill>
            <a:srgbClr val="13192A"/>
          </a:solidFill>
          <a:ln w="6350">
            <a:solidFill>
              <a:srgbClr val="2A35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04888" y="358444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104888" y="376732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→ paid in 30 days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104888" y="40233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C4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8%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PostHog · Stripe · Intercom · Sentry · in-app NPS at D30/D90/D365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412480" y="480060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D4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§10 · V7 SPRINT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 weeks. 7 sprints. Honest pacing.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8229600" cy="0"/>
          </a:xfrm>
          <a:prstGeom prst="line">
            <a:avLst/>
          </a:prstGeom>
          <a:noFill/>
          <a:ln w="12700">
            <a:solidFill>
              <a:srgbClr val="0B9E93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325880"/>
            <a:ext cx="2011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325880"/>
            <a:ext cx="2011680" cy="365760"/>
          </a:xfrm>
          <a:prstGeom prst="rect">
            <a:avLst/>
          </a:prstGeom>
          <a:solidFill>
            <a:srgbClr val="0B9E93"/>
          </a:solidFill>
          <a:ln w="12700">
            <a:solidFill>
              <a:srgbClr val="0B9E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371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4173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1–2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21208" y="17830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· Engine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1208" y="21031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definitions · Profile.template field · Migration for existing v6 users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606040" y="1325880"/>
            <a:ext cx="2011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1325880"/>
            <a:ext cx="2011680" cy="365760"/>
          </a:xfrm>
          <a:prstGeom prst="rect">
            <a:avLst/>
          </a:prstGeom>
          <a:solidFill>
            <a:srgbClr val="0B9E93"/>
          </a:solidFill>
          <a:ln w="12700">
            <a:solidFill>
              <a:srgbClr val="0B9E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15768" y="1371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46120" y="14173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3–4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15768" y="17830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· Polish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15768" y="21031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polish · Pre-population logic · Settings hook · Help section update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800600" y="1325880"/>
            <a:ext cx="2011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1325880"/>
            <a:ext cx="2011680" cy="365760"/>
          </a:xfrm>
          <a:prstGeom prst="rect">
            <a:avLst/>
          </a:prstGeom>
          <a:solidFill>
            <a:srgbClr val="D4820A"/>
          </a:solidFill>
          <a:ln w="12700">
            <a:solidFill>
              <a:srgbClr val="D482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0328" y="1371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40680" y="14173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5–6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10328" y="17830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· Refactor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10328" y="21031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calculateAmortizationSchedule · Audit math against BoE PMT · 5 real-loan validation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995160" y="1325880"/>
            <a:ext cx="2011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995160" y="1325880"/>
            <a:ext cx="2011680" cy="365760"/>
          </a:xfrm>
          <a:prstGeom prst="rect">
            <a:avLst/>
          </a:prstGeom>
          <a:solidFill>
            <a:srgbClr val="D4820A"/>
          </a:solidFill>
          <a:ln w="12700">
            <a:solidFill>
              <a:srgbClr val="D482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04888" y="1371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635240" y="14173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7–8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104888" y="17830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· Part-Payment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04888" y="21031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Three-option modal · Re-amortisation engine · Interest history chart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11480" y="3017520"/>
            <a:ext cx="2011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11480" y="3017520"/>
            <a:ext cx="201168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1208" y="3063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51560" y="3108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9–10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21208" y="34747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· Engine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1208" y="37947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object · Background generator · Pending confirmation flow · Recurring page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606040" y="3017520"/>
            <a:ext cx="2011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606040" y="3017520"/>
            <a:ext cx="201168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15768" y="3063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3246120" y="3108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11–12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715768" y="34747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715768" y="37947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component · Settings panel · Web Push · Service worker · 6 notification types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00600" y="3017520"/>
            <a:ext cx="2011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00600" y="3017520"/>
            <a:ext cx="2011680" cy="365760"/>
          </a:xfrm>
          <a:prstGeom prst="rect">
            <a:avLst/>
          </a:prstGeom>
          <a:solidFill>
            <a:srgbClr val="0F2547"/>
          </a:solidFill>
          <a:ln w="12700">
            <a:solidFill>
              <a:srgbClr val="0F254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10328" y="3063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S7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440680" y="3108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13–14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910328" y="34747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910328" y="37947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· Regression on v6 · Beta release to 50 users · p0 bug fixes · v7 tag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Resourcing: 2 frontend engineers · 1 designer · 0.5 backend (service worker only) · QA continuous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412480" y="480060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§11 · CEO DECISION POINTS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 need you to decide.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0"/>
          </a:xfrm>
          <a:prstGeom prst="line">
            <a:avLst/>
          </a:prstGeom>
          <a:noFill/>
          <a:ln w="12700">
            <a:solidFill>
              <a:srgbClr val="0B9E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25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1325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v7 ship in 14 weeks with these 3 features only?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61848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RECOMMENDED. Discipline is what makes v7 ship. Adding feature 4 makes v7 a 22-week project that ships nothing well.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1965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v8 thesis the household OS — or the feature-rich consumer app?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225856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Banking + employer channel were the original thesis. They are not in this roadmap. Reconsider before v7 ends.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606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2606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we accept that AI Planner is rules-based until v8?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89864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RECOMMENDED. LLM advice without FCA authorisation is real legal risk. Rules-based is enough.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3246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32461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admin app worth waiting for v8 backend, or do we hack a localStorage admin?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353872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WAIT. Admin app on localStorage is a 6-week distraction with zero strategic value.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38862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38862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our position on 'we built a finance app' vs 'we are building the household OS we sold'?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417880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QUESTION. The codebase has drifted from the strategic plan. Decide before v7 ships, not after.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4617720"/>
            <a:ext cx="8229600" cy="0"/>
          </a:xfrm>
          <a:prstGeom prst="line">
            <a:avLst/>
          </a:prstGeom>
          <a:noFill/>
          <a:ln w="12700">
            <a:solidFill>
              <a:srgbClr val="0B9E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736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FinFlow · v7 Roadmap · CEO-sequenced · Confidential · 2025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FinFlow v7 · CEO Roadmap</dc:title>
  <dc:subject>PptxGenJS Presentation</dc:subject>
  <dc:creator>PptxGenJS</dc:creator>
  <cp:lastModifiedBy>PptxGenJS</cp:lastModifiedBy>
  <cp:revision>1</cp:revision>
  <dcterms:created xsi:type="dcterms:W3CDTF">2026-04-29T13:41:19Z</dcterms:created>
  <dcterms:modified xsi:type="dcterms:W3CDTF">2026-04-29T13:41:19Z</dcterms:modified>
</cp:coreProperties>
</file>